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311" r:id="rId39"/>
    <p:sldId id="312" r:id="rId40"/>
    <p:sldId id="313" r:id="rId41"/>
    <p:sldId id="291" r:id="rId42"/>
    <p:sldId id="292" r:id="rId43"/>
    <p:sldId id="293" r:id="rId44"/>
    <p:sldId id="294" r:id="rId45"/>
    <p:sldId id="296" r:id="rId46"/>
    <p:sldId id="297" r:id="rId47"/>
    <p:sldId id="298" r:id="rId48"/>
    <p:sldId id="299" r:id="rId49"/>
    <p:sldId id="300" r:id="rId50"/>
    <p:sldId id="301" r:id="rId51"/>
    <p:sldId id="302" r:id="rId52"/>
    <p:sldId id="303" r:id="rId53"/>
    <p:sldId id="304" r:id="rId54"/>
    <p:sldId id="315" r:id="rId55"/>
    <p:sldId id="316" r:id="rId56"/>
    <p:sldId id="317" r:id="rId57"/>
    <p:sldId id="318" r:id="rId58"/>
    <p:sldId id="319" r:id="rId59"/>
    <p:sldId id="320" r:id="rId60"/>
    <p:sldId id="305" r:id="rId61"/>
    <p:sldId id="306" r:id="rId62"/>
    <p:sldId id="307" r:id="rId63"/>
    <p:sldId id="308" r:id="rId64"/>
    <p:sldId id="309" r:id="rId65"/>
    <p:sldId id="310" r:id="rId6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66" userDrawn="1">
          <p15:clr>
            <a:srgbClr val="A4A3A4"/>
          </p15:clr>
        </p15:guide>
        <p15:guide id="2" pos="281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ejaswini Tharala"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DE1654A-0BA3-479A-900E-4C6F7BCA4BD3}" styleName="Table_0">
    <a:wholeTbl>
      <a:tcTxStyle>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DFD"/>
          </a:solidFill>
        </a:fill>
      </a:tcStyle>
    </a:wholeTbl>
    <a:band1H>
      <a:tcStyle>
        <a:tcBdr/>
        <a:fill>
          <a:solidFill>
            <a:srgbClr val="CDD8FB"/>
          </a:solidFill>
        </a:fill>
      </a:tcStyle>
    </a:band1H>
    <a:band2H>
      <a:tcStyle>
        <a:tcBdr/>
      </a:tcStyle>
    </a:band2H>
    <a:band1V>
      <a:tcStyle>
        <a:tcBdr/>
        <a:fill>
          <a:solidFill>
            <a:srgbClr val="CDD8FB"/>
          </a:solidFill>
        </a:fill>
      </a:tcStyle>
    </a:band1V>
    <a:band2V>
      <a:tcStyle>
        <a:tcBdr/>
      </a:tcStyle>
    </a:band2V>
    <a:lastCol>
      <a:tcTxStyle b="on">
        <a:font>
          <a:latin typeface="Arial"/>
          <a:ea typeface="Arial"/>
          <a:cs typeface="Arial"/>
        </a:font>
        <a:schemeClr val="lt1"/>
      </a:tcTxStyle>
      <a:tcStyle>
        <a:tcBdr/>
        <a:fill>
          <a:solidFill>
            <a:schemeClr val="accent1"/>
          </a:solidFill>
        </a:fill>
      </a:tcStyle>
    </a:lastCol>
    <a:firstCol>
      <a:tcTxStyle b="on">
        <a:font>
          <a:latin typeface="Arial"/>
          <a:ea typeface="Arial"/>
          <a:cs typeface="Arial"/>
        </a:font>
        <a:schemeClr val="lt1"/>
      </a:tcTxStyle>
      <a:tcStyle>
        <a:tcBdr/>
        <a:fill>
          <a:solidFill>
            <a:schemeClr val="accent1"/>
          </a:solidFill>
        </a:fill>
      </a:tcStyle>
    </a:firstCol>
    <a:lastRow>
      <a:tcTxStyle b="on">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19" d="100"/>
          <a:sy n="119" d="100"/>
        </p:scale>
        <p:origin x="418" y="101"/>
      </p:cViewPr>
      <p:guideLst>
        <p:guide orient="horz" pos="1666"/>
        <p:guide pos="281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0" Type="http://schemas.openxmlformats.org/officeDocument/2006/relationships/commentAuthors" Target="commentAuthors.xml"/><Relationship Id="rId7" Type="http://schemas.openxmlformats.org/officeDocument/2006/relationships/slide" Target="slides/slide4.xml"/><Relationship Id="rId69" Type="http://schemas.openxmlformats.org/officeDocument/2006/relationships/tableStyles" Target="tableStyles.xml"/><Relationship Id="rId68" Type="http://schemas.openxmlformats.org/officeDocument/2006/relationships/viewProps" Target="viewProps.xml"/><Relationship Id="rId67" Type="http://schemas.openxmlformats.org/officeDocument/2006/relationships/presProps" Target="presProps.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5-08-06T02:37:06.308" idx="1">
    <p:pos x="5546" y="502"/>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
        <p:cNvGrpSpPr/>
        <p:nvPr/>
      </p:nvGrpSpPr>
      <p:grpSpPr>
        <a:xfrm>
          <a:off x="0" y="0"/>
          <a:ext cx="0" cy="0"/>
          <a:chOff x="0" y="0"/>
          <a:chExt cx="0" cy="0"/>
        </a:xfrm>
      </p:grpSpPr>
      <p:sp>
        <p:nvSpPr>
          <p:cNvPr id="27" name="Google Shape;2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8" name="Google Shape;28;p1: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9" name="Google Shape;39;p2: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3"/>
        <p:cNvGrpSpPr/>
        <p:nvPr/>
      </p:nvGrpSpPr>
      <p:grpSpPr>
        <a:xfrm>
          <a:off x="0" y="0"/>
          <a:ext cx="0" cy="0"/>
          <a:chOff x="0" y="0"/>
          <a:chExt cx="0" cy="0"/>
        </a:xfrm>
      </p:grpSpPr>
      <p:sp>
        <p:nvSpPr>
          <p:cNvPr id="44" name="Google Shape;4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5" name="Google Shape;45;p3: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9"/>
        <p:cNvGrpSpPr/>
        <p:nvPr/>
      </p:nvGrpSpPr>
      <p:grpSpPr>
        <a:xfrm>
          <a:off x="0" y="0"/>
          <a:ext cx="0" cy="0"/>
          <a:chOff x="0" y="0"/>
          <a:chExt cx="0" cy="0"/>
        </a:xfrm>
      </p:grpSpPr>
      <p:sp>
        <p:nvSpPr>
          <p:cNvPr id="50" name="Google Shape;5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1" name="Google Shape;5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5"/>
        <p:cNvGrpSpPr/>
        <p:nvPr/>
      </p:nvGrpSpPr>
      <p:grpSpPr>
        <a:xfrm>
          <a:off x="0" y="0"/>
          <a:ext cx="0" cy="0"/>
          <a:chOff x="0" y="0"/>
          <a:chExt cx="0" cy="0"/>
        </a:xfrm>
      </p:grpSpPr>
      <p:sp>
        <p:nvSpPr>
          <p:cNvPr id="56" name="Google Shape;5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7" name="Google Shape;5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1"/>
        <p:cNvGrpSpPr/>
        <p:nvPr/>
      </p:nvGrpSpPr>
      <p:grpSpPr>
        <a:xfrm>
          <a:off x="0" y="0"/>
          <a:ext cx="0" cy="0"/>
          <a:chOff x="0" y="0"/>
          <a:chExt cx="0" cy="0"/>
        </a:xfrm>
      </p:grpSpPr>
      <p:sp>
        <p:nvSpPr>
          <p:cNvPr id="62" name="Google Shape;6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3" name="Google Shape;6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7"/>
        <p:cNvGrpSpPr/>
        <p:nvPr/>
      </p:nvGrpSpPr>
      <p:grpSpPr>
        <a:xfrm>
          <a:off x="0" y="0"/>
          <a:ext cx="0" cy="0"/>
          <a:chOff x="0" y="0"/>
          <a:chExt cx="0" cy="0"/>
        </a:xfrm>
      </p:grpSpPr>
      <p:sp>
        <p:nvSpPr>
          <p:cNvPr id="68" name="Google Shape;6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9" name="Google Shape;6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3"/>
        <p:cNvGrpSpPr/>
        <p:nvPr/>
      </p:nvGrpSpPr>
      <p:grpSpPr>
        <a:xfrm>
          <a:off x="0" y="0"/>
          <a:ext cx="0" cy="0"/>
          <a:chOff x="0" y="0"/>
          <a:chExt cx="0" cy="0"/>
        </a:xfrm>
      </p:grpSpPr>
      <p:sp>
        <p:nvSpPr>
          <p:cNvPr id="74" name="Google Shape;7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75" name="Google Shape;7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9"/>
        <p:cNvGrpSpPr/>
        <p:nvPr/>
      </p:nvGrpSpPr>
      <p:grpSpPr>
        <a:xfrm>
          <a:off x="0" y="0"/>
          <a:ext cx="0" cy="0"/>
          <a:chOff x="0" y="0"/>
          <a:chExt cx="0" cy="0"/>
        </a:xfrm>
      </p:grpSpPr>
      <p:sp>
        <p:nvSpPr>
          <p:cNvPr id="80" name="Google Shape;8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1" name="Google Shape;8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5"/>
        <p:cNvGrpSpPr/>
        <p:nvPr/>
      </p:nvGrpSpPr>
      <p:grpSpPr>
        <a:xfrm>
          <a:off x="0" y="0"/>
          <a:ext cx="0" cy="0"/>
          <a:chOff x="0" y="0"/>
          <a:chExt cx="0" cy="0"/>
        </a:xfrm>
      </p:grpSpPr>
      <p:sp>
        <p:nvSpPr>
          <p:cNvPr id="86" name="Google Shape;86;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7" name="Google Shape;8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1"/>
        <p:cNvGrpSpPr/>
        <p:nvPr/>
      </p:nvGrpSpPr>
      <p:grpSpPr>
        <a:xfrm>
          <a:off x="0" y="0"/>
          <a:ext cx="0" cy="0"/>
          <a:chOff x="0" y="0"/>
          <a:chExt cx="0" cy="0"/>
        </a:xfrm>
      </p:grpSpPr>
      <p:sp>
        <p:nvSpPr>
          <p:cNvPr id="92" name="Google Shape;9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3" name="Google Shape;9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7"/>
        <p:cNvGrpSpPr/>
        <p:nvPr/>
      </p:nvGrpSpPr>
      <p:grpSpPr>
        <a:xfrm>
          <a:off x="0" y="0"/>
          <a:ext cx="0" cy="0"/>
          <a:chOff x="0" y="0"/>
          <a:chExt cx="0" cy="0"/>
        </a:xfrm>
      </p:grpSpPr>
      <p:sp>
        <p:nvSpPr>
          <p:cNvPr id="98" name="Google Shape;98;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9" name="Google Shape;9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3"/>
        <p:cNvGrpSpPr/>
        <p:nvPr/>
      </p:nvGrpSpPr>
      <p:grpSpPr>
        <a:xfrm>
          <a:off x="0" y="0"/>
          <a:ext cx="0" cy="0"/>
          <a:chOff x="0" y="0"/>
          <a:chExt cx="0" cy="0"/>
        </a:xfrm>
      </p:grpSpPr>
      <p:sp>
        <p:nvSpPr>
          <p:cNvPr id="104" name="Google Shape;104;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5" name="Google Shape;105;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9"/>
        <p:cNvGrpSpPr/>
        <p:nvPr/>
      </p:nvGrpSpPr>
      <p:grpSpPr>
        <a:xfrm>
          <a:off x="0" y="0"/>
          <a:ext cx="0" cy="0"/>
          <a:chOff x="0" y="0"/>
          <a:chExt cx="0" cy="0"/>
        </a:xfrm>
      </p:grpSpPr>
      <p:sp>
        <p:nvSpPr>
          <p:cNvPr id="110" name="Google Shape;110;g3babf8767d3_0_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1" name="Google Shape;111;g3babf8767d3_0_2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5"/>
        <p:cNvGrpSpPr/>
        <p:nvPr/>
      </p:nvGrpSpPr>
      <p:grpSpPr>
        <a:xfrm>
          <a:off x="0" y="0"/>
          <a:ext cx="0" cy="0"/>
          <a:chOff x="0" y="0"/>
          <a:chExt cx="0" cy="0"/>
        </a:xfrm>
      </p:grpSpPr>
      <p:sp>
        <p:nvSpPr>
          <p:cNvPr id="116" name="Google Shape;116;g3bac3532e69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7" name="Google Shape;117;g3bac3532e69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1"/>
        <p:cNvGrpSpPr/>
        <p:nvPr/>
      </p:nvGrpSpPr>
      <p:grpSpPr>
        <a:xfrm>
          <a:off x="0" y="0"/>
          <a:ext cx="0" cy="0"/>
          <a:chOff x="0" y="0"/>
          <a:chExt cx="0" cy="0"/>
        </a:xfrm>
      </p:grpSpPr>
      <p:sp>
        <p:nvSpPr>
          <p:cNvPr id="122" name="Google Shape;122;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3" name="Google Shape;123;p15: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8"/>
        <p:cNvGrpSpPr/>
        <p:nvPr/>
      </p:nvGrpSpPr>
      <p:grpSpPr>
        <a:xfrm>
          <a:off x="0" y="0"/>
          <a:ext cx="0" cy="0"/>
          <a:chOff x="0" y="0"/>
          <a:chExt cx="0" cy="0"/>
        </a:xfrm>
      </p:grpSpPr>
      <p:sp>
        <p:nvSpPr>
          <p:cNvPr id="129" name="Google Shape;129;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0" name="Google Shape;130;p16: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5"/>
        <p:cNvGrpSpPr/>
        <p:nvPr/>
      </p:nvGrpSpPr>
      <p:grpSpPr>
        <a:xfrm>
          <a:off x="0" y="0"/>
          <a:ext cx="0" cy="0"/>
          <a:chOff x="0" y="0"/>
          <a:chExt cx="0" cy="0"/>
        </a:xfrm>
      </p:grpSpPr>
      <p:sp>
        <p:nvSpPr>
          <p:cNvPr id="136" name="Google Shape;136;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7" name="Google Shape;137;p17: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2"/>
        <p:cNvGrpSpPr/>
        <p:nvPr/>
      </p:nvGrpSpPr>
      <p:grpSpPr>
        <a:xfrm>
          <a:off x="0" y="0"/>
          <a:ext cx="0" cy="0"/>
          <a:chOff x="0" y="0"/>
          <a:chExt cx="0" cy="0"/>
        </a:xfrm>
      </p:grpSpPr>
      <p:sp>
        <p:nvSpPr>
          <p:cNvPr id="143" name="Google Shape;143;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4" name="Google Shape;144;p18: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9"/>
        <p:cNvGrpSpPr/>
        <p:nvPr/>
      </p:nvGrpSpPr>
      <p:grpSpPr>
        <a:xfrm>
          <a:off x="0" y="0"/>
          <a:ext cx="0" cy="0"/>
          <a:chOff x="0" y="0"/>
          <a:chExt cx="0" cy="0"/>
        </a:xfrm>
      </p:grpSpPr>
      <p:sp>
        <p:nvSpPr>
          <p:cNvPr id="150" name="Google Shape;150;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1" name="Google Shape;151;p19: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6"/>
        <p:cNvGrpSpPr/>
        <p:nvPr/>
      </p:nvGrpSpPr>
      <p:grpSpPr>
        <a:xfrm>
          <a:off x="0" y="0"/>
          <a:ext cx="0" cy="0"/>
          <a:chOff x="0" y="0"/>
          <a:chExt cx="0" cy="0"/>
        </a:xfrm>
      </p:grpSpPr>
      <p:sp>
        <p:nvSpPr>
          <p:cNvPr id="157" name="Google Shape;157;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8" name="Google Shape;158;p20: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3"/>
        <p:cNvGrpSpPr/>
        <p:nvPr/>
      </p:nvGrpSpPr>
      <p:grpSpPr>
        <a:xfrm>
          <a:off x="0" y="0"/>
          <a:ext cx="0" cy="0"/>
          <a:chOff x="0" y="0"/>
          <a:chExt cx="0" cy="0"/>
        </a:xfrm>
      </p:grpSpPr>
      <p:sp>
        <p:nvSpPr>
          <p:cNvPr id="164" name="Google Shape;164;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65" name="Google Shape;165;p21: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2" name="Google Shape;172;p22: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7"/>
        <p:cNvGrpSpPr/>
        <p:nvPr/>
      </p:nvGrpSpPr>
      <p:grpSpPr>
        <a:xfrm>
          <a:off x="0" y="0"/>
          <a:ext cx="0" cy="0"/>
          <a:chOff x="0" y="0"/>
          <a:chExt cx="0" cy="0"/>
        </a:xfrm>
      </p:grpSpPr>
      <p:sp>
        <p:nvSpPr>
          <p:cNvPr id="178" name="Google Shape;178;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9" name="Google Shape;179;p23: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4"/>
        <p:cNvGrpSpPr/>
        <p:nvPr/>
      </p:nvGrpSpPr>
      <p:grpSpPr>
        <a:xfrm>
          <a:off x="0" y="0"/>
          <a:ext cx="0" cy="0"/>
          <a:chOff x="0" y="0"/>
          <a:chExt cx="0" cy="0"/>
        </a:xfrm>
      </p:grpSpPr>
      <p:sp>
        <p:nvSpPr>
          <p:cNvPr id="185" name="Google Shape;185;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6" name="Google Shape;186;p24: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1"/>
        <p:cNvGrpSpPr/>
        <p:nvPr/>
      </p:nvGrpSpPr>
      <p:grpSpPr>
        <a:xfrm>
          <a:off x="0" y="0"/>
          <a:ext cx="0" cy="0"/>
          <a:chOff x="0" y="0"/>
          <a:chExt cx="0" cy="0"/>
        </a:xfrm>
      </p:grpSpPr>
      <p:sp>
        <p:nvSpPr>
          <p:cNvPr id="192" name="Google Shape;192;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3" name="Google Shape;193;p25: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8"/>
        <p:cNvGrpSpPr/>
        <p:nvPr/>
      </p:nvGrpSpPr>
      <p:grpSpPr>
        <a:xfrm>
          <a:off x="0" y="0"/>
          <a:ext cx="0" cy="0"/>
          <a:chOff x="0" y="0"/>
          <a:chExt cx="0" cy="0"/>
        </a:xfrm>
      </p:grpSpPr>
      <p:sp>
        <p:nvSpPr>
          <p:cNvPr id="199" name="Google Shape;199;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0" name="Google Shape;200;p26: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5"/>
        <p:cNvGrpSpPr/>
        <p:nvPr/>
      </p:nvGrpSpPr>
      <p:grpSpPr>
        <a:xfrm>
          <a:off x="0" y="0"/>
          <a:ext cx="0" cy="0"/>
          <a:chOff x="0" y="0"/>
          <a:chExt cx="0" cy="0"/>
        </a:xfrm>
      </p:grpSpPr>
      <p:sp>
        <p:nvSpPr>
          <p:cNvPr id="206" name="Google Shape;206;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7" name="Google Shape;207;p27: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2"/>
        <p:cNvGrpSpPr/>
        <p:nvPr/>
      </p:nvGrpSpPr>
      <p:grpSpPr>
        <a:xfrm>
          <a:off x="0" y="0"/>
          <a:ext cx="0" cy="0"/>
          <a:chOff x="0" y="0"/>
          <a:chExt cx="0" cy="0"/>
        </a:xfrm>
      </p:grpSpPr>
      <p:sp>
        <p:nvSpPr>
          <p:cNvPr id="213" name="Google Shape;213;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14" name="Google Shape;214;p28: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9"/>
        <p:cNvGrpSpPr/>
        <p:nvPr/>
      </p:nvGrpSpPr>
      <p:grpSpPr>
        <a:xfrm>
          <a:off x="0" y="0"/>
          <a:ext cx="0" cy="0"/>
          <a:chOff x="0" y="0"/>
          <a:chExt cx="0" cy="0"/>
        </a:xfrm>
      </p:grpSpPr>
      <p:sp>
        <p:nvSpPr>
          <p:cNvPr id="220" name="Google Shape;220;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21" name="Google Shape;221;p29: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6"/>
        <p:cNvGrpSpPr/>
        <p:nvPr/>
      </p:nvGrpSpPr>
      <p:grpSpPr>
        <a:xfrm>
          <a:off x="0" y="0"/>
          <a:ext cx="0" cy="0"/>
          <a:chOff x="0" y="0"/>
          <a:chExt cx="0" cy="0"/>
        </a:xfrm>
      </p:grpSpPr>
      <p:sp>
        <p:nvSpPr>
          <p:cNvPr id="227" name="Google Shape;227;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28" name="Google Shape;228;p30: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3"/>
        <p:cNvGrpSpPr/>
        <p:nvPr/>
      </p:nvGrpSpPr>
      <p:grpSpPr>
        <a:xfrm>
          <a:off x="0" y="0"/>
          <a:ext cx="0" cy="0"/>
          <a:chOff x="0" y="0"/>
          <a:chExt cx="0" cy="0"/>
        </a:xfrm>
      </p:grpSpPr>
      <p:sp>
        <p:nvSpPr>
          <p:cNvPr id="234" name="Google Shape;234;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35" name="Google Shape;235;p31: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40"/>
        <p:cNvGrpSpPr/>
        <p:nvPr/>
      </p:nvGrpSpPr>
      <p:grpSpPr>
        <a:xfrm>
          <a:off x="0" y="0"/>
          <a:ext cx="0" cy="0"/>
          <a:chOff x="0" y="0"/>
          <a:chExt cx="0" cy="0"/>
        </a:xfrm>
      </p:grpSpPr>
      <p:sp>
        <p:nvSpPr>
          <p:cNvPr id="241" name="Google Shape;241;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42" name="Google Shape;242;p32: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47"/>
        <p:cNvGrpSpPr/>
        <p:nvPr/>
      </p:nvGrpSpPr>
      <p:grpSpPr>
        <a:xfrm>
          <a:off x="0" y="0"/>
          <a:ext cx="0" cy="0"/>
          <a:chOff x="0" y="0"/>
          <a:chExt cx="0" cy="0"/>
        </a:xfrm>
      </p:grpSpPr>
      <p:sp>
        <p:nvSpPr>
          <p:cNvPr id="248" name="Google Shape;248;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49" name="Google Shape;249;p33: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4"/>
        <p:cNvGrpSpPr/>
        <p:nvPr/>
      </p:nvGrpSpPr>
      <p:grpSpPr>
        <a:xfrm>
          <a:off x="0" y="0"/>
          <a:ext cx="0" cy="0"/>
          <a:chOff x="0" y="0"/>
          <a:chExt cx="0" cy="0"/>
        </a:xfrm>
      </p:grpSpPr>
      <p:sp>
        <p:nvSpPr>
          <p:cNvPr id="255" name="Google Shape;255;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56" name="Google Shape;256;p34: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1"/>
        <p:cNvGrpSpPr/>
        <p:nvPr/>
      </p:nvGrpSpPr>
      <p:grpSpPr>
        <a:xfrm>
          <a:off x="0" y="0"/>
          <a:ext cx="0" cy="0"/>
          <a:chOff x="0" y="0"/>
          <a:chExt cx="0" cy="0"/>
        </a:xfrm>
      </p:grpSpPr>
      <p:sp>
        <p:nvSpPr>
          <p:cNvPr id="262" name="Google Shape;262;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63" name="Google Shape;263;p35: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7"/>
        <p:cNvGrpSpPr/>
        <p:nvPr/>
      </p:nvGrpSpPr>
      <p:grpSpPr>
        <a:xfrm>
          <a:off x="0" y="0"/>
          <a:ext cx="0" cy="0"/>
          <a:chOff x="0" y="0"/>
          <a:chExt cx="0" cy="0"/>
        </a:xfrm>
      </p:grpSpPr>
      <p:sp>
        <p:nvSpPr>
          <p:cNvPr id="268" name="Google Shape;268;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69" name="Google Shape;269;p36: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3"/>
        <p:cNvGrpSpPr/>
        <p:nvPr/>
      </p:nvGrpSpPr>
      <p:grpSpPr>
        <a:xfrm>
          <a:off x="0" y="0"/>
          <a:ext cx="0" cy="0"/>
          <a:chOff x="0" y="0"/>
          <a:chExt cx="0" cy="0"/>
        </a:xfrm>
      </p:grpSpPr>
      <p:sp>
        <p:nvSpPr>
          <p:cNvPr id="274" name="Google Shape;274;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5" name="Google Shape;275;p37: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9"/>
        <p:cNvGrpSpPr/>
        <p:nvPr/>
      </p:nvGrpSpPr>
      <p:grpSpPr>
        <a:xfrm>
          <a:off x="0" y="0"/>
          <a:ext cx="0" cy="0"/>
          <a:chOff x="0" y="0"/>
          <a:chExt cx="0" cy="0"/>
        </a:xfrm>
      </p:grpSpPr>
      <p:sp>
        <p:nvSpPr>
          <p:cNvPr id="280" name="Google Shape;280;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81" name="Google Shape;281;p38: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91"/>
        <p:cNvGrpSpPr/>
        <p:nvPr/>
      </p:nvGrpSpPr>
      <p:grpSpPr>
        <a:xfrm>
          <a:off x="0" y="0"/>
          <a:ext cx="0" cy="0"/>
          <a:chOff x="0" y="0"/>
          <a:chExt cx="0" cy="0"/>
        </a:xfrm>
      </p:grpSpPr>
      <p:sp>
        <p:nvSpPr>
          <p:cNvPr id="292" name="Google Shape;292;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93" name="Google Shape;293;p40: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99"/>
        <p:cNvGrpSpPr/>
        <p:nvPr/>
      </p:nvGrpSpPr>
      <p:grpSpPr>
        <a:xfrm>
          <a:off x="0" y="0"/>
          <a:ext cx="0" cy="0"/>
          <a:chOff x="0" y="0"/>
          <a:chExt cx="0" cy="0"/>
        </a:xfrm>
      </p:grpSpPr>
      <p:sp>
        <p:nvSpPr>
          <p:cNvPr id="300" name="Google Shape;300;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01" name="Google Shape;301;p41: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6"/>
        <p:cNvGrpSpPr/>
        <p:nvPr/>
      </p:nvGrpSpPr>
      <p:grpSpPr>
        <a:xfrm>
          <a:off x="0" y="0"/>
          <a:ext cx="0" cy="0"/>
          <a:chOff x="0" y="0"/>
          <a:chExt cx="0" cy="0"/>
        </a:xfrm>
      </p:grpSpPr>
      <p:sp>
        <p:nvSpPr>
          <p:cNvPr id="307" name="Google Shape;307;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08" name="Google Shape;308;p42: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13"/>
        <p:cNvGrpSpPr/>
        <p:nvPr/>
      </p:nvGrpSpPr>
      <p:grpSpPr>
        <a:xfrm>
          <a:off x="0" y="0"/>
          <a:ext cx="0" cy="0"/>
          <a:chOff x="0" y="0"/>
          <a:chExt cx="0" cy="0"/>
        </a:xfrm>
      </p:grpSpPr>
      <p:sp>
        <p:nvSpPr>
          <p:cNvPr id="314" name="Google Shape;314;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15" name="Google Shape;315;p43: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21"/>
        <p:cNvGrpSpPr/>
        <p:nvPr/>
      </p:nvGrpSpPr>
      <p:grpSpPr>
        <a:xfrm>
          <a:off x="0" y="0"/>
          <a:ext cx="0" cy="0"/>
          <a:chOff x="0" y="0"/>
          <a:chExt cx="0" cy="0"/>
        </a:xfrm>
      </p:grpSpPr>
      <p:sp>
        <p:nvSpPr>
          <p:cNvPr id="322" name="Google Shape;322;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23" name="Google Shape;323;p44: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28"/>
        <p:cNvGrpSpPr/>
        <p:nvPr/>
      </p:nvGrpSpPr>
      <p:grpSpPr>
        <a:xfrm>
          <a:off x="0" y="0"/>
          <a:ext cx="0" cy="0"/>
          <a:chOff x="0" y="0"/>
          <a:chExt cx="0" cy="0"/>
        </a:xfrm>
      </p:grpSpPr>
      <p:sp>
        <p:nvSpPr>
          <p:cNvPr id="329" name="Google Shape;329;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30" name="Google Shape;330;p45: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35"/>
        <p:cNvGrpSpPr/>
        <p:nvPr/>
      </p:nvGrpSpPr>
      <p:grpSpPr>
        <a:xfrm>
          <a:off x="0" y="0"/>
          <a:ext cx="0" cy="0"/>
          <a:chOff x="0" y="0"/>
          <a:chExt cx="0" cy="0"/>
        </a:xfrm>
      </p:grpSpPr>
      <p:sp>
        <p:nvSpPr>
          <p:cNvPr id="336" name="Google Shape;336;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37" name="Google Shape;337;p46: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42"/>
        <p:cNvGrpSpPr/>
        <p:nvPr/>
      </p:nvGrpSpPr>
      <p:grpSpPr>
        <a:xfrm>
          <a:off x="0" y="0"/>
          <a:ext cx="0" cy="0"/>
          <a:chOff x="0" y="0"/>
          <a:chExt cx="0" cy="0"/>
        </a:xfrm>
      </p:grpSpPr>
      <p:sp>
        <p:nvSpPr>
          <p:cNvPr id="343" name="Google Shape;343;p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44" name="Google Shape;344;p47: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47"/>
        <p:cNvGrpSpPr/>
        <p:nvPr/>
      </p:nvGrpSpPr>
      <p:grpSpPr>
        <a:xfrm>
          <a:off x="0" y="0"/>
          <a:ext cx="0" cy="0"/>
          <a:chOff x="0" y="0"/>
          <a:chExt cx="0" cy="0"/>
        </a:xfrm>
      </p:grpSpPr>
      <p:sp>
        <p:nvSpPr>
          <p:cNvPr id="348" name="Google Shape;348;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9" name="Google Shape;349;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3"/>
        <p:cNvGrpSpPr/>
        <p:nvPr/>
      </p:nvGrpSpPr>
      <p:grpSpPr>
        <a:xfrm>
          <a:off x="0" y="0"/>
          <a:ext cx="0" cy="0"/>
          <a:chOff x="0" y="0"/>
          <a:chExt cx="0" cy="0"/>
        </a:xfrm>
      </p:grpSpPr>
      <p:sp>
        <p:nvSpPr>
          <p:cNvPr id="354" name="Google Shape;354;p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55" name="Google Shape;355;p49: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9"/>
        <p:cNvGrpSpPr/>
        <p:nvPr/>
      </p:nvGrpSpPr>
      <p:grpSpPr>
        <a:xfrm>
          <a:off x="0" y="0"/>
          <a:ext cx="0" cy="0"/>
          <a:chOff x="0" y="0"/>
          <a:chExt cx="0" cy="0"/>
        </a:xfrm>
      </p:grpSpPr>
      <p:sp>
        <p:nvSpPr>
          <p:cNvPr id="360" name="Google Shape;360;p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61" name="Google Shape;361;p50: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65"/>
        <p:cNvGrpSpPr/>
        <p:nvPr/>
      </p:nvGrpSpPr>
      <p:grpSpPr>
        <a:xfrm>
          <a:off x="0" y="0"/>
          <a:ext cx="0" cy="0"/>
          <a:chOff x="0" y="0"/>
          <a:chExt cx="0" cy="0"/>
        </a:xfrm>
      </p:grpSpPr>
      <p:sp>
        <p:nvSpPr>
          <p:cNvPr id="366" name="Google Shape;366;p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67" name="Google Shape;367;p51: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71"/>
        <p:cNvGrpSpPr/>
        <p:nvPr/>
      </p:nvGrpSpPr>
      <p:grpSpPr>
        <a:xfrm>
          <a:off x="0" y="0"/>
          <a:ext cx="0" cy="0"/>
          <a:chOff x="0" y="0"/>
          <a:chExt cx="0" cy="0"/>
        </a:xfrm>
      </p:grpSpPr>
      <p:sp>
        <p:nvSpPr>
          <p:cNvPr id="372" name="Google Shape;372;p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73" name="Google Shape;373;p52: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77"/>
        <p:cNvGrpSpPr/>
        <p:nvPr/>
      </p:nvGrpSpPr>
      <p:grpSpPr>
        <a:xfrm>
          <a:off x="0" y="0"/>
          <a:ext cx="0" cy="0"/>
          <a:chOff x="0" y="0"/>
          <a:chExt cx="0" cy="0"/>
        </a:xfrm>
      </p:grpSpPr>
      <p:sp>
        <p:nvSpPr>
          <p:cNvPr id="378" name="Google Shape;378;p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79" name="Google Shape;379;p53: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83"/>
        <p:cNvGrpSpPr/>
        <p:nvPr/>
      </p:nvGrpSpPr>
      <p:grpSpPr>
        <a:xfrm>
          <a:off x="0" y="0"/>
          <a:ext cx="0" cy="0"/>
          <a:chOff x="0" y="0"/>
          <a:chExt cx="0" cy="0"/>
        </a:xfrm>
      </p:grpSpPr>
      <p:sp>
        <p:nvSpPr>
          <p:cNvPr id="384" name="Google Shape;384;g3bac417089d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85" name="Google Shape;385;g3bac417089d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Blank">
  <p:cSld name="OBJECT">
    <p:spTree>
      <p:nvGrpSpPr>
        <p:cNvPr id="1" name="Shape 9"/>
        <p:cNvGrpSpPr/>
        <p:nvPr/>
      </p:nvGrpSpPr>
      <p:grpSpPr>
        <a:xfrm>
          <a:off x="0" y="0"/>
          <a:ext cx="0" cy="0"/>
          <a:chOff x="0" y="0"/>
          <a:chExt cx="0" cy="0"/>
        </a:xfrm>
      </p:grpSpPr>
      <p:sp>
        <p:nvSpPr>
          <p:cNvPr id="10" name="Google Shape;10;p55"/>
          <p:cNvSpPr txBox="1">
            <a:spLocks noGrp="1"/>
          </p:cNvSpPr>
          <p:nvPr>
            <p:ph type="ftr" idx="11"/>
          </p:nvPr>
        </p:nvSpPr>
        <p:spPr>
          <a:xfrm>
            <a:off x="0" y="0"/>
            <a:ext cx="3000000" cy="3000000"/>
          </a:xfrm>
          <a:prstGeom prst="rect">
            <a:avLst/>
          </a:prstGeom>
          <a:noFill/>
          <a:ln>
            <a:noFill/>
          </a:ln>
        </p:spPr>
        <p:txBody>
          <a:bodyPr spcFirstLastPara="1" wrap="square" lIns="0" tIns="0" rIns="0" bIns="0" anchor="t" anchorCtr="0">
            <a:noAutofit/>
          </a:bodyPr>
          <a:lstStyle>
            <a:lvl1pPr marR="0" lvl="0" algn="ctr" rtl="0">
              <a:lnSpc>
                <a:spcPct val="100000"/>
              </a:lnSpc>
              <a:spcBef>
                <a:spcPts val="0"/>
              </a:spcBef>
              <a:spcAft>
                <a:spcPts val="0"/>
              </a:spcAft>
              <a:buSzPts val="1400"/>
              <a:buNone/>
              <a:defRPr sz="14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55"/>
          <p:cNvSpPr txBox="1">
            <a:spLocks noGrp="1"/>
          </p:cNvSpPr>
          <p:nvPr>
            <p:ph type="dt" idx="10"/>
          </p:nvPr>
        </p:nvSpPr>
        <p:spPr>
          <a:xfrm>
            <a:off x="0" y="0"/>
            <a:ext cx="3000000" cy="3000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4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2" name="Google Shape;12;p55"/>
          <p:cNvSpPr txBox="1">
            <a:spLocks noGrp="1"/>
          </p:cNvSpPr>
          <p:nvPr>
            <p:ph type="sldNum" idx="12"/>
          </p:nvPr>
        </p:nvSpPr>
        <p:spPr>
          <a:xfrm>
            <a:off x="8472458" y="4663217"/>
            <a:ext cx="548700" cy="393600"/>
          </a:xfrm>
          <a:prstGeom prst="rect">
            <a:avLst/>
          </a:prstGeom>
          <a:noFill/>
          <a:ln>
            <a:noFill/>
          </a:ln>
        </p:spPr>
        <p:txBody>
          <a:bodyPr spcFirstLastPara="1" wrap="square" lIns="0" tIns="0" rIns="0" bIns="0" anchor="ctr" anchorCtr="0">
            <a:normAutofit/>
          </a:bodyPr>
          <a:lstStyle>
            <a:lvl1pPr marL="0" lvl="0" indent="0" algn="r">
              <a:lnSpc>
                <a:spcPct val="100000"/>
              </a:lnSpc>
              <a:spcBef>
                <a:spcPts val="0"/>
              </a:spcBef>
              <a:spcAft>
                <a:spcPts val="0"/>
              </a:spcAft>
              <a:buSzPts val="1000"/>
              <a:buNone/>
              <a:defRPr sz="10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lvl="1" indent="0" algn="r">
              <a:lnSpc>
                <a:spcPct val="100000"/>
              </a:lnSpc>
              <a:spcBef>
                <a:spcPts val="0"/>
              </a:spcBef>
              <a:spcAft>
                <a:spcPts val="0"/>
              </a:spcAft>
              <a:buSzPts val="1000"/>
              <a:buNone/>
              <a:defRPr sz="10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lvl="2" indent="0" algn="r">
              <a:lnSpc>
                <a:spcPct val="100000"/>
              </a:lnSpc>
              <a:spcBef>
                <a:spcPts val="0"/>
              </a:spcBef>
              <a:spcAft>
                <a:spcPts val="0"/>
              </a:spcAft>
              <a:buSzPts val="1000"/>
              <a:buNone/>
              <a:defRPr sz="10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lvl="3" indent="0" algn="r">
              <a:lnSpc>
                <a:spcPct val="100000"/>
              </a:lnSpc>
              <a:spcBef>
                <a:spcPts val="0"/>
              </a:spcBef>
              <a:spcAft>
                <a:spcPts val="0"/>
              </a:spcAft>
              <a:buSzPts val="1000"/>
              <a:buNone/>
              <a:defRPr sz="10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lvl="4" indent="0" algn="r">
              <a:lnSpc>
                <a:spcPct val="100000"/>
              </a:lnSpc>
              <a:spcBef>
                <a:spcPts val="0"/>
              </a:spcBef>
              <a:spcAft>
                <a:spcPts val="0"/>
              </a:spcAft>
              <a:buSzPts val="1000"/>
              <a:buNone/>
              <a:defRPr sz="10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lvl="5" indent="0" algn="r">
              <a:lnSpc>
                <a:spcPct val="100000"/>
              </a:lnSpc>
              <a:spcBef>
                <a:spcPts val="0"/>
              </a:spcBef>
              <a:spcAft>
                <a:spcPts val="0"/>
              </a:spcAft>
              <a:buSzPts val="1000"/>
              <a:buNone/>
              <a:defRPr sz="10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lvl="6" indent="0" algn="r">
              <a:lnSpc>
                <a:spcPct val="100000"/>
              </a:lnSpc>
              <a:spcBef>
                <a:spcPts val="0"/>
              </a:spcBef>
              <a:spcAft>
                <a:spcPts val="0"/>
              </a:spcAft>
              <a:buSzPts val="1000"/>
              <a:buNone/>
              <a:defRPr sz="10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lvl="7" indent="0" algn="r">
              <a:lnSpc>
                <a:spcPct val="100000"/>
              </a:lnSpc>
              <a:spcBef>
                <a:spcPts val="0"/>
              </a:spcBef>
              <a:spcAft>
                <a:spcPts val="0"/>
              </a:spcAft>
              <a:buSzPts val="1000"/>
              <a:buNone/>
              <a:defRPr sz="10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lvl="8" indent="0" algn="r">
              <a:lnSpc>
                <a:spcPct val="100000"/>
              </a:lnSpc>
              <a:spcBef>
                <a:spcPts val="0"/>
              </a:spcBef>
              <a:spcAft>
                <a:spcPts val="0"/>
              </a:spcAft>
              <a:buSzPts val="1000"/>
              <a:buNone/>
              <a:defRPr sz="10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13"/>
        <p:cNvGrpSpPr/>
        <p:nvPr/>
      </p:nvGrpSpPr>
      <p:grpSpPr>
        <a:xfrm>
          <a:off x="0" y="0"/>
          <a:ext cx="0" cy="0"/>
          <a:chOff x="0" y="0"/>
          <a:chExt cx="0" cy="0"/>
        </a:xfrm>
      </p:grpSpPr>
      <p:sp>
        <p:nvSpPr>
          <p:cNvPr id="14" name="Google Shape;14;p5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
        <p:nvSpPr>
          <p:cNvPr id="15" name="Google Shape;15;p5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3200" b="1">
                <a:latin typeface="Times New Roman" panose="02020603050405020304"/>
                <a:ea typeface="Times New Roman" panose="02020603050405020304"/>
                <a:cs typeface="Times New Roman" panose="02020603050405020304"/>
                <a:sym typeface="Times New Roman" panose="02020603050405020304"/>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5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sz="2400">
                <a:latin typeface="Times New Roman" panose="02020603050405020304"/>
                <a:ea typeface="Times New Roman" panose="02020603050405020304"/>
                <a:cs typeface="Times New Roman" panose="02020603050405020304"/>
                <a:sym typeface="Times New Roman" panose="02020603050405020304"/>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仅标题">
  <p:cSld name="仅标题">
    <p:spTree>
      <p:nvGrpSpPr>
        <p:cNvPr id="1" name="Shape 17"/>
        <p:cNvGrpSpPr/>
        <p:nvPr/>
      </p:nvGrpSpPr>
      <p:grpSpPr>
        <a:xfrm>
          <a:off x="0" y="0"/>
          <a:ext cx="0" cy="0"/>
          <a:chOff x="0" y="0"/>
          <a:chExt cx="0" cy="0"/>
        </a:xfrm>
      </p:grpSpPr>
      <p:sp>
        <p:nvSpPr>
          <p:cNvPr id="18" name="Google Shape;18;p57"/>
          <p:cNvSpPr txBox="1">
            <a:spLocks noGrp="1"/>
          </p:cNvSpPr>
          <p:nvPr>
            <p:ph type="title"/>
          </p:nvPr>
        </p:nvSpPr>
        <p:spPr>
          <a:xfrm>
            <a:off x="522000" y="270000"/>
            <a:ext cx="8100000" cy="54000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SzPts val="2800"/>
              <a:buNone/>
              <a:defRPr sz="2400">
                <a:solidFill>
                  <a:schemeClr val="dk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 name="Google Shape;19;p57"/>
          <p:cNvSpPr txBox="1">
            <a:spLocks noGrp="1"/>
          </p:cNvSpPr>
          <p:nvPr>
            <p:ph type="dt" idx="10"/>
          </p:nvPr>
        </p:nvSpPr>
        <p:spPr>
          <a:xfrm>
            <a:off x="459000" y="4735800"/>
            <a:ext cx="2025000" cy="237600"/>
          </a:xfrm>
          <a:prstGeom prst="rect">
            <a:avLst/>
          </a:prstGeom>
          <a:noFill/>
          <a:ln>
            <a:noFill/>
          </a:ln>
        </p:spPr>
        <p:txBody>
          <a:bodyPr spcFirstLastPara="1" wrap="square" lIns="91425" tIns="45700" rIns="91425" bIns="45700" anchor="t" anchorCtr="0">
            <a:norm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20" name="Google Shape;20;p57"/>
          <p:cNvSpPr txBox="1">
            <a:spLocks noGrp="1"/>
          </p:cNvSpPr>
          <p:nvPr>
            <p:ph type="ftr" idx="11"/>
          </p:nvPr>
        </p:nvSpPr>
        <p:spPr>
          <a:xfrm>
            <a:off x="3087000" y="4735800"/>
            <a:ext cx="2970000" cy="2376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SzPts val="1400"/>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21" name="Google Shape;21;p5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lvl="0" indent="0" algn="r">
              <a:lnSpc>
                <a:spcPct val="100000"/>
              </a:lnSpc>
              <a:spcBef>
                <a:spcPts val="0"/>
              </a:spcBef>
              <a:spcAft>
                <a:spcPts val="0"/>
              </a:spcAft>
              <a:buSzPts val="1000"/>
              <a:buNone/>
              <a:defRPr/>
            </a:lvl1pPr>
            <a:lvl2pPr marL="0" lvl="1" indent="0" algn="r">
              <a:lnSpc>
                <a:spcPct val="100000"/>
              </a:lnSpc>
              <a:spcBef>
                <a:spcPts val="0"/>
              </a:spcBef>
              <a:spcAft>
                <a:spcPts val="0"/>
              </a:spcAft>
              <a:buSzPts val="1000"/>
              <a:buNone/>
              <a:defRPr/>
            </a:lvl2pPr>
            <a:lvl3pPr marL="0" lvl="2" indent="0" algn="r">
              <a:lnSpc>
                <a:spcPct val="100000"/>
              </a:lnSpc>
              <a:spcBef>
                <a:spcPts val="0"/>
              </a:spcBef>
              <a:spcAft>
                <a:spcPts val="0"/>
              </a:spcAft>
              <a:buSzPts val="1000"/>
              <a:buNone/>
              <a:defRPr/>
            </a:lvl3pPr>
            <a:lvl4pPr marL="0" lvl="3" indent="0" algn="r">
              <a:lnSpc>
                <a:spcPct val="100000"/>
              </a:lnSpc>
              <a:spcBef>
                <a:spcPts val="0"/>
              </a:spcBef>
              <a:spcAft>
                <a:spcPts val="0"/>
              </a:spcAft>
              <a:buSzPts val="1000"/>
              <a:buNone/>
              <a:defRPr/>
            </a:lvl4pPr>
            <a:lvl5pPr marL="0" lvl="4" indent="0" algn="r">
              <a:lnSpc>
                <a:spcPct val="100000"/>
              </a:lnSpc>
              <a:spcBef>
                <a:spcPts val="0"/>
              </a:spcBef>
              <a:spcAft>
                <a:spcPts val="0"/>
              </a:spcAft>
              <a:buSzPts val="1000"/>
              <a:buNone/>
              <a:defRPr/>
            </a:lvl5pPr>
            <a:lvl6pPr marL="0" lvl="5" indent="0" algn="r">
              <a:lnSpc>
                <a:spcPct val="100000"/>
              </a:lnSpc>
              <a:spcBef>
                <a:spcPts val="0"/>
              </a:spcBef>
              <a:spcAft>
                <a:spcPts val="0"/>
              </a:spcAft>
              <a:buSzPts val="1000"/>
              <a:buNone/>
              <a:defRPr/>
            </a:lvl6pPr>
            <a:lvl7pPr marL="0" lvl="6" indent="0" algn="r">
              <a:lnSpc>
                <a:spcPct val="100000"/>
              </a:lnSpc>
              <a:spcBef>
                <a:spcPts val="0"/>
              </a:spcBef>
              <a:spcAft>
                <a:spcPts val="0"/>
              </a:spcAft>
              <a:buSzPts val="1000"/>
              <a:buNone/>
              <a:defRPr/>
            </a:lvl7pPr>
            <a:lvl8pPr marL="0" lvl="7" indent="0" algn="r">
              <a:lnSpc>
                <a:spcPct val="100000"/>
              </a:lnSpc>
              <a:spcBef>
                <a:spcPts val="0"/>
              </a:spcBef>
              <a:spcAft>
                <a:spcPts val="0"/>
              </a:spcAft>
              <a:buSzPts val="1000"/>
              <a:buNone/>
              <a:defRPr/>
            </a:lvl8pPr>
            <a:lvl9pPr marL="0" lvl="8" indent="0" algn="r">
              <a:lnSpc>
                <a:spcPct val="100000"/>
              </a:lnSpc>
              <a:spcBef>
                <a:spcPts val="0"/>
              </a:spcBef>
              <a:spcAft>
                <a:spcPts val="0"/>
              </a:spcAft>
              <a:buSzPts val="1000"/>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22"/>
        <p:cNvGrpSpPr/>
        <p:nvPr/>
      </p:nvGrpSpPr>
      <p:grpSpPr>
        <a:xfrm>
          <a:off x="0" y="0"/>
          <a:ext cx="0" cy="0"/>
          <a:chOff x="0" y="0"/>
          <a:chExt cx="0" cy="0"/>
        </a:xfrm>
      </p:grpSpPr>
      <p:sp>
        <p:nvSpPr>
          <p:cNvPr id="23" name="Google Shape;23;p5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3200" b="1">
                <a:latin typeface="Times New Roman" panose="02020603050405020304"/>
                <a:ea typeface="Times New Roman" panose="02020603050405020304"/>
                <a:cs typeface="Times New Roman" panose="02020603050405020304"/>
                <a:sym typeface="Times New Roman" panose="02020603050405020304"/>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5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sz="2400">
                <a:latin typeface="Times New Roman" panose="02020603050405020304"/>
                <a:ea typeface="Times New Roman" panose="02020603050405020304"/>
                <a:cs typeface="Times New Roman" panose="02020603050405020304"/>
                <a:sym typeface="Times New Roman" panose="02020603050405020304"/>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p:txBody>
      </p:sp>
      <p:sp>
        <p:nvSpPr>
          <p:cNvPr id="25" name="Google Shape;25;p5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5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panose="020B0604020202020204"/>
              <a:buNone/>
              <a:defRPr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7" name="Google Shape;7;p5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panose="020B0604020202020204"/>
              <a:buChar char="●"/>
              <a:defRPr sz="1800" b="0" i="0" u="none" strike="noStrike" cap="none">
                <a:solidFill>
                  <a:schemeClr val="dk2"/>
                </a:solidFill>
                <a:latin typeface="Times New Roman" panose="02020603050405020304"/>
                <a:ea typeface="Times New Roman" panose="02020603050405020304"/>
                <a:cs typeface="Times New Roman" panose="02020603050405020304"/>
                <a:sym typeface="Times New Roman" panose="02020603050405020304"/>
              </a:defRPr>
            </a:lvl1pPr>
            <a:lvl2pPr marL="914400" marR="0" lvl="1"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371600" marR="0" lvl="2"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p:txBody>
      </p:sp>
      <p:sp>
        <p:nvSpPr>
          <p:cNvPr id="8" name="Google Shape;8;p5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comments" Target="../comments/comment1.xml"/><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6" Type="http://schemas.openxmlformats.org/officeDocument/2006/relationships/notesSlide" Target="../notesSlides/notesSlide49.xml"/><Relationship Id="rId5" Type="http://schemas.openxmlformats.org/officeDocument/2006/relationships/slideLayout" Target="../slideLayouts/slideLayout2.xml"/><Relationship Id="rId4" Type="http://schemas.openxmlformats.org/officeDocument/2006/relationships/hyperlink" Target="https://doi.org/10.1109/ACCESS.2024.3507386" TargetMode="External"/><Relationship Id="rId3" Type="http://schemas.openxmlformats.org/officeDocument/2006/relationships/hyperlink" Target="https://doi.org/10.1109/TITS.2024.3354921" TargetMode="External"/><Relationship Id="rId2" Type="http://schemas.openxmlformats.org/officeDocument/2006/relationships/hyperlink" Target="https://doi.org/10.1016/j.future.2023.11.032" TargetMode="External"/><Relationship Id="rId1" Type="http://schemas.openxmlformats.org/officeDocument/2006/relationships/hyperlink" Target="https://doi.org/10.1016/j.comnet.2025.111744" TargetMode="External"/></Relationships>
</file>

<file path=ppt/slides/_rels/slide59.xml.rels><?xml version="1.0" encoding="UTF-8" standalone="yes"?>
<Relationships xmlns="http://schemas.openxmlformats.org/package/2006/relationships"><Relationship Id="rId6" Type="http://schemas.openxmlformats.org/officeDocument/2006/relationships/notesSlide" Target="../notesSlides/notesSlide50.xml"/><Relationship Id="rId5" Type="http://schemas.openxmlformats.org/officeDocument/2006/relationships/slideLayout" Target="../slideLayouts/slideLayout2.xml"/><Relationship Id="rId4" Type="http://schemas.openxmlformats.org/officeDocument/2006/relationships/hyperlink" Target="https://ieeexplore.ieee.org/document/10100218" TargetMode="External"/><Relationship Id="rId3" Type="http://schemas.openxmlformats.org/officeDocument/2006/relationships/hyperlink" Target="https://ieeexplore.ieee.org/document/10428766" TargetMode="External"/><Relationship Id="rId2" Type="http://schemas.openxmlformats.org/officeDocument/2006/relationships/hyperlink" Target="https://ieeexplore.ieee.org/document/10355621" TargetMode="External"/><Relationship Id="rId1" Type="http://schemas.openxmlformats.org/officeDocument/2006/relationships/hyperlink" Target="https://ieeexplore.ieee.org/document/10411892" TargetMode="External"/></Relationships>
</file>

<file path=ppt/slides/_rels/slide60.xml.rels><?xml version="1.0" encoding="UTF-8" standalone="yes"?>
<Relationships xmlns="http://schemas.openxmlformats.org/package/2006/relationships"><Relationship Id="rId6" Type="http://schemas.openxmlformats.org/officeDocument/2006/relationships/notesSlide" Target="../notesSlides/notesSlide51.xml"/><Relationship Id="rId5" Type="http://schemas.openxmlformats.org/officeDocument/2006/relationships/slideLayout" Target="../slideLayouts/slideLayout2.xml"/><Relationship Id="rId4" Type="http://schemas.openxmlformats.org/officeDocument/2006/relationships/hyperlink" Target="https://ieeexplore.ieee.org/document/10198544" TargetMode="External"/><Relationship Id="rId3" Type="http://schemas.openxmlformats.org/officeDocument/2006/relationships/hyperlink" Target="https://ieeexplore.ieee.org/document/10211859" TargetMode="External"/><Relationship Id="rId2" Type="http://schemas.openxmlformats.org/officeDocument/2006/relationships/hyperlink" Target="https://doi.org/10.1016/j.comnet.2023.109668" TargetMode="External"/><Relationship Id="rId1" Type="http://schemas.openxmlformats.org/officeDocument/2006/relationships/hyperlink" Target="https://ieeexplore.ieee.org/document/10061478" TargetMode="External"/></Relationships>
</file>

<file path=ppt/slides/_rels/slide61.xml.rels><?xml version="1.0" encoding="UTF-8" standalone="yes"?>
<Relationships xmlns="http://schemas.openxmlformats.org/package/2006/relationships"><Relationship Id="rId6" Type="http://schemas.openxmlformats.org/officeDocument/2006/relationships/notesSlide" Target="../notesSlides/notesSlide52.xml"/><Relationship Id="rId5" Type="http://schemas.openxmlformats.org/officeDocument/2006/relationships/slideLayout" Target="../slideLayouts/slideLayout2.xml"/><Relationship Id="rId4" Type="http://schemas.openxmlformats.org/officeDocument/2006/relationships/hyperlink" Target="https://ieeexplore.ieee.org/document/10145627" TargetMode="External"/><Relationship Id="rId3" Type="http://schemas.openxmlformats.org/officeDocument/2006/relationships/hyperlink" Target="https://ieeexplore.ieee.org/document/10123384" TargetMode="External"/><Relationship Id="rId2" Type="http://schemas.openxmlformats.org/officeDocument/2006/relationships/hyperlink" Target="https://ieeexplore.ieee.org/document/10503291" TargetMode="External"/><Relationship Id="rId1" Type="http://schemas.openxmlformats.org/officeDocument/2006/relationships/hyperlink" Target="https://ieeexplore.ieee.org/document/10111241" TargetMode="External"/></Relationships>
</file>

<file path=ppt/slides/_rels/slide62.xml.rels><?xml version="1.0" encoding="UTF-8" standalone="yes"?>
<Relationships xmlns="http://schemas.openxmlformats.org/package/2006/relationships"><Relationship Id="rId6" Type="http://schemas.openxmlformats.org/officeDocument/2006/relationships/notesSlide" Target="../notesSlides/notesSlide53.xml"/><Relationship Id="rId5" Type="http://schemas.openxmlformats.org/officeDocument/2006/relationships/slideLayout" Target="../slideLayouts/slideLayout2.xml"/><Relationship Id="rId4" Type="http://schemas.openxmlformats.org/officeDocument/2006/relationships/hyperlink" Target="https://ieeexplore.ieee.org/document/10078192" TargetMode="External"/><Relationship Id="rId3" Type="http://schemas.openxmlformats.org/officeDocument/2006/relationships/hyperlink" Target="https://ieeexplore.ieee.org/document/10045198" TargetMode="External"/><Relationship Id="rId2" Type="http://schemas.openxmlformats.org/officeDocument/2006/relationships/hyperlink" Target="https://ieeexplore.ieee.org/document/10188761" TargetMode="External"/><Relationship Id="rId1" Type="http://schemas.openxmlformats.org/officeDocument/2006/relationships/hyperlink" Target="https://ieeexplore.ieee.org/document/10374218" TargetMode="External"/></Relationships>
</file>

<file path=ppt/slides/_rels/slide63.xml.rels><?xml version="1.0" encoding="UTF-8" standalone="yes"?>
<Relationships xmlns="http://schemas.openxmlformats.org/package/2006/relationships"><Relationship Id="rId5" Type="http://schemas.openxmlformats.org/officeDocument/2006/relationships/notesSlide" Target="../notesSlides/notesSlide54.xml"/><Relationship Id="rId4" Type="http://schemas.openxmlformats.org/officeDocument/2006/relationships/slideLayout" Target="../slideLayouts/slideLayout2.xml"/><Relationship Id="rId3" Type="http://schemas.openxmlformats.org/officeDocument/2006/relationships/hyperlink" Target="https://ieeexplore.ieee.org/document/10428766" TargetMode="External"/><Relationship Id="rId2" Type="http://schemas.openxmlformats.org/officeDocument/2006/relationships/hyperlink" Target="https://arxiv.org/abs/2406.05362" TargetMode="External"/><Relationship Id="rId1" Type="http://schemas.openxmlformats.org/officeDocument/2006/relationships/hyperlink" Target="https://doi.org/10.1016/j.comnet.2025.11174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sp>
        <p:nvSpPr>
          <p:cNvPr id="30" name="Google Shape;30;p1"/>
          <p:cNvSpPr txBox="1"/>
          <p:nvPr/>
        </p:nvSpPr>
        <p:spPr>
          <a:xfrm>
            <a:off x="172133" y="-205665"/>
            <a:ext cx="8719725" cy="1727200"/>
          </a:xfrm>
          <a:prstGeom prst="rect">
            <a:avLst/>
          </a:prstGeom>
          <a:noFill/>
          <a:ln>
            <a:noFill/>
          </a:ln>
        </p:spPr>
        <p:txBody>
          <a:bodyPr spcFirstLastPara="1" wrap="square" lIns="68550" tIns="68550" rIns="68550" bIns="68550" anchor="b" anchorCtr="0">
            <a:noAutofit/>
          </a:bodyPr>
          <a:lstStyle/>
          <a:p>
            <a:pPr marL="0" marR="0" lvl="0" indent="0" algn="ctr" rtl="0">
              <a:lnSpc>
                <a:spcPct val="100000"/>
              </a:lnSpc>
              <a:spcBef>
                <a:spcPts val="0"/>
              </a:spcBef>
              <a:spcAft>
                <a:spcPts val="0"/>
              </a:spcAft>
              <a:buNone/>
            </a:pPr>
            <a:br>
              <a:rPr lang="en-US" sz="18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br>
            <a:br>
              <a:rPr lang="en-US" sz="18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br>
            <a:br>
              <a:rPr lang="en-US" sz="18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br>
            <a:r>
              <a:rPr lang="en-US" sz="24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Gokaraju Rangaraju Institute of Engineering and Technology </a:t>
            </a:r>
            <a:br>
              <a:rPr lang="en-US" sz="21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br>
            <a:r>
              <a:rPr lang="en-US" sz="21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(Autonomous)</a:t>
            </a:r>
            <a:endParaRPr lang="en-US" sz="21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None/>
            </a:pPr>
            <a:br>
              <a:rPr lang="en-US" sz="18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br>
            <a:r>
              <a:rPr lang="en-US" sz="24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Department of Data Science</a:t>
            </a:r>
            <a:endParaRPr sz="18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1" name="Google Shape;31;p1" descr="Untitled-1 copy"/>
          <p:cNvPicPr preferRelativeResize="0"/>
          <p:nvPr/>
        </p:nvPicPr>
        <p:blipFill rotWithShape="1">
          <a:blip r:embed="rId1"/>
          <a:srcRect l="25562" t="23018" r="26994" b="21857"/>
          <a:stretch>
            <a:fillRect/>
          </a:stretch>
        </p:blipFill>
        <p:spPr>
          <a:xfrm>
            <a:off x="342900" y="850976"/>
            <a:ext cx="1028700" cy="952424"/>
          </a:xfrm>
          <a:prstGeom prst="rect">
            <a:avLst/>
          </a:prstGeom>
          <a:noFill/>
          <a:ln>
            <a:noFill/>
          </a:ln>
        </p:spPr>
      </p:pic>
      <p:sp>
        <p:nvSpPr>
          <p:cNvPr id="32" name="Google Shape;32;p1"/>
          <p:cNvSpPr txBox="1"/>
          <p:nvPr/>
        </p:nvSpPr>
        <p:spPr>
          <a:xfrm>
            <a:off x="342265" y="3738880"/>
            <a:ext cx="3757930" cy="1263015"/>
          </a:xfrm>
          <a:prstGeom prst="rect">
            <a:avLst/>
          </a:prstGeom>
          <a:noFill/>
          <a:ln>
            <a:noFill/>
          </a:ln>
        </p:spPr>
        <p:txBody>
          <a:bodyPr spcFirstLastPara="1" wrap="square" lIns="68550" tIns="68550" rIns="68550" bIns="68550" anchor="t" anchorCtr="0">
            <a:noAutofit/>
          </a:bodyPr>
          <a:lstStyle/>
          <a:p>
            <a:pPr marL="0" marR="0" lvl="0" indent="0" algn="l" rtl="0">
              <a:lnSpc>
                <a:spcPct val="100000"/>
              </a:lnSpc>
              <a:spcBef>
                <a:spcPts val="0"/>
              </a:spcBef>
              <a:spcAft>
                <a:spcPts val="0"/>
              </a:spcAft>
              <a:buClr>
                <a:schemeClr val="dk2"/>
              </a:buClr>
              <a:buSzPct val="202000"/>
              <a:buFont typeface="Arial" panose="020B0604020202020204"/>
              <a:buNone/>
            </a:pPr>
            <a:r>
              <a:rPr lang="en-US" sz="15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Presented by:</a:t>
            </a:r>
            <a:endParaRPr lang="en-US" sz="15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2"/>
              </a:buClr>
              <a:buSzPct val="202000"/>
              <a:buFont typeface="Arial" panose="020B0604020202020204"/>
              <a:buNone/>
            </a:pPr>
            <a:r>
              <a:rPr lang="en-US" sz="15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1. Guntaka Aditya Yashasvita (22241A6720)</a:t>
            </a:r>
            <a:endParaRPr lang="en-US" sz="15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2"/>
              </a:buClr>
              <a:buSzPct val="202000"/>
              <a:buFont typeface="Arial" panose="020B0604020202020204"/>
              <a:buNone/>
            </a:pPr>
            <a:r>
              <a:rPr lang="en-US" sz="15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2. Reddy Samatha (22241A6750)</a:t>
            </a:r>
            <a:endParaRPr lang="en-US" sz="15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2"/>
              </a:buClr>
              <a:buSzPct val="202000"/>
              <a:buFont typeface="Arial" panose="020B0604020202020204"/>
              <a:buNone/>
            </a:pPr>
            <a:r>
              <a:rPr lang="en-US" sz="15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3. Tharala Tejaswini (22241A6756)</a:t>
            </a:r>
            <a:endParaRPr lang="en-US" sz="15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3" name="Google Shape;33;p1"/>
          <p:cNvSpPr txBox="1"/>
          <p:nvPr/>
        </p:nvSpPr>
        <p:spPr>
          <a:xfrm>
            <a:off x="5330825" y="3739515"/>
            <a:ext cx="3481070" cy="1403985"/>
          </a:xfrm>
          <a:prstGeom prst="rect">
            <a:avLst/>
          </a:prstGeom>
          <a:noFill/>
          <a:ln>
            <a:noFill/>
          </a:ln>
        </p:spPr>
        <p:txBody>
          <a:bodyPr spcFirstLastPara="1" wrap="square" lIns="68550" tIns="68550" rIns="68550" bIns="68550" anchor="t" anchorCtr="0">
            <a:normAutofit/>
          </a:bodyPr>
          <a:lstStyle/>
          <a:p>
            <a:pPr marL="0" marR="0" lvl="0" indent="0" algn="l" rtl="0">
              <a:lnSpc>
                <a:spcPct val="100000"/>
              </a:lnSpc>
              <a:spcBef>
                <a:spcPts val="0"/>
              </a:spcBef>
              <a:spcAft>
                <a:spcPts val="0"/>
              </a:spcAft>
              <a:buClr>
                <a:schemeClr val="dk2"/>
              </a:buClr>
              <a:buSzPts val="2800"/>
              <a:buFont typeface="Arial" panose="020B0604020202020204"/>
              <a:buNone/>
            </a:pPr>
            <a:r>
              <a:rPr lang="en-US" sz="15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Under the Guidance of:</a:t>
            </a:r>
            <a:endParaRPr lang="en-US" sz="15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2"/>
              </a:buClr>
              <a:buSzPts val="2800"/>
              <a:buFont typeface="Arial" panose="020B0604020202020204"/>
              <a:buNone/>
            </a:pPr>
            <a:r>
              <a:rPr lang="en-US" sz="15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Ms. P. Sruthi</a:t>
            </a:r>
            <a:endParaRPr lang="en-US" sz="15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2"/>
              </a:buClr>
              <a:buSzPts val="2800"/>
              <a:buFont typeface="Arial" panose="020B0604020202020204"/>
              <a:buNone/>
            </a:pPr>
            <a:r>
              <a:rPr lang="en-US" sz="15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Assistant Professor</a:t>
            </a:r>
            <a:endParaRPr lang="en-US" sz="15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4" name="Google Shape;34;p1"/>
          <p:cNvSpPr txBox="1"/>
          <p:nvPr/>
        </p:nvSpPr>
        <p:spPr>
          <a:xfrm>
            <a:off x="91966" y="1615481"/>
            <a:ext cx="8931863" cy="631825"/>
          </a:xfrm>
          <a:prstGeom prst="rect">
            <a:avLst/>
          </a:prstGeom>
          <a:noFill/>
          <a:ln>
            <a:noFill/>
          </a:ln>
        </p:spPr>
        <p:txBody>
          <a:bodyPr spcFirstLastPara="1" wrap="square" lIns="91425" tIns="45700" rIns="91425" bIns="45700" anchor="t" anchorCtr="0">
            <a:spAutoFit/>
          </a:bodyPr>
          <a:lstStyle/>
          <a:p>
            <a:pPr marL="9525" marR="0" lvl="0" indent="0" algn="r" rtl="0">
              <a:lnSpc>
                <a:spcPct val="82000"/>
              </a:lnSpc>
              <a:spcBef>
                <a:spcPts val="0"/>
              </a:spcBef>
              <a:spcAft>
                <a:spcPts val="0"/>
              </a:spcAft>
              <a:buNone/>
            </a:pPr>
            <a:r>
              <a:rPr lang="en-US" sz="21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Batch No.: </a:t>
            </a:r>
            <a:r>
              <a:rPr lang="en-US" sz="2100" b="1" i="0" u="none" strike="noStrike" cap="none">
                <a:solidFill>
                  <a:schemeClr val="tx1"/>
                </a:solidFill>
                <a:latin typeface="Times New Roman" panose="02020603050405020304"/>
                <a:ea typeface="Times New Roman" panose="02020603050405020304"/>
                <a:cs typeface="Times New Roman" panose="02020603050405020304"/>
                <a:sym typeface="Times New Roman" panose="02020603050405020304"/>
              </a:rPr>
              <a:t>DSA22</a:t>
            </a:r>
            <a:endParaRPr lang="en-US" sz="2100" b="1" i="0" u="none" strike="noStrike" cap="none">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a:p>
            <a:pPr marL="9525" marR="0" lvl="0" indent="0" algn="r" rtl="0">
              <a:lnSpc>
                <a:spcPct val="82000"/>
              </a:lnSpc>
              <a:spcBef>
                <a:spcPts val="95"/>
              </a:spcBef>
              <a:spcAft>
                <a:spcPts val="0"/>
              </a:spcAft>
              <a:buNone/>
            </a:pPr>
            <a:r>
              <a:rPr lang="en-US" sz="21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Review No.: </a:t>
            </a:r>
            <a:r>
              <a:rPr lang="en-IN" altLang="en-US" sz="21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1 &amp; 2</a:t>
            </a:r>
            <a:endParaRPr lang="en-IN" altLang="en-US" sz="21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5" name="Google Shape;35;p1"/>
          <p:cNvSpPr txBox="1"/>
          <p:nvPr/>
        </p:nvSpPr>
        <p:spPr>
          <a:xfrm>
            <a:off x="223989" y="2091170"/>
            <a:ext cx="8667900" cy="400200"/>
          </a:xfrm>
          <a:prstGeom prst="rect">
            <a:avLst/>
          </a:prstGeom>
          <a:noFill/>
          <a:ln>
            <a:noFill/>
          </a:ln>
        </p:spPr>
        <p:txBody>
          <a:bodyPr spcFirstLastPara="1" wrap="square" lIns="91425" tIns="45700" rIns="91425" bIns="45700" anchor="t" anchorCtr="0">
            <a:spAutoFit/>
          </a:bodyPr>
          <a:lstStyle/>
          <a:p>
            <a:pPr marL="12700" marR="0" lvl="0" indent="0" algn="l" rtl="0">
              <a:lnSpc>
                <a:spcPct val="115000"/>
              </a:lnSpc>
              <a:spcBef>
                <a:spcPts val="0"/>
              </a:spcBef>
              <a:spcAft>
                <a:spcPts val="0"/>
              </a:spcAft>
              <a:buNone/>
            </a:pPr>
            <a:r>
              <a:rPr lang="en-US" sz="20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IV Year B. Tech., II Semester CSE (Data Science)</a:t>
            </a:r>
            <a:endParaRPr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6" name="Google Shape;36;p1"/>
          <p:cNvSpPr txBox="1"/>
          <p:nvPr/>
        </p:nvSpPr>
        <p:spPr>
          <a:xfrm>
            <a:off x="455800" y="2603825"/>
            <a:ext cx="8355600" cy="778510"/>
          </a:xfrm>
          <a:prstGeom prst="rect">
            <a:avLst/>
          </a:prstGeom>
          <a:noFill/>
          <a:ln>
            <a:noFill/>
          </a:ln>
        </p:spPr>
        <p:txBody>
          <a:bodyPr spcFirstLastPara="1" wrap="square" lIns="91425" tIns="45700" rIns="91425" bIns="45700" anchor="t" anchorCtr="0">
            <a:spAutoFit/>
          </a:bodyPr>
          <a:lstStyle/>
          <a:p>
            <a:pPr marL="9525" marR="0" lvl="0" indent="0" algn="ctr" rtl="0">
              <a:lnSpc>
                <a:spcPct val="80000"/>
              </a:lnSpc>
              <a:spcBef>
                <a:spcPts val="0"/>
              </a:spcBef>
              <a:spcAft>
                <a:spcPts val="0"/>
              </a:spcAft>
              <a:buClr>
                <a:srgbClr val="000000"/>
              </a:buClr>
              <a:buSzPts val="3200"/>
              <a:buFont typeface="Arial" panose="020B0604020202020204"/>
              <a:buNone/>
            </a:pPr>
            <a:r>
              <a:rPr lang="en-US" sz="2800" b="1">
                <a:latin typeface="Times New Roman" panose="02020603050405020304"/>
                <a:ea typeface="Times New Roman" panose="02020603050405020304"/>
                <a:cs typeface="Times New Roman" panose="02020603050405020304"/>
                <a:sym typeface="Times New Roman" panose="02020603050405020304"/>
              </a:rPr>
              <a:t>Multi-Stage Advanced Persistent</a:t>
            </a:r>
            <a:r>
              <a:rPr lang="en-US" sz="28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2800" b="1">
                <a:latin typeface="Times New Roman" panose="02020603050405020304"/>
                <a:ea typeface="Times New Roman" panose="02020603050405020304"/>
                <a:cs typeface="Times New Roman" panose="02020603050405020304"/>
                <a:sym typeface="Times New Roman" panose="02020603050405020304"/>
              </a:rPr>
              <a:t>Threat Detection and</a:t>
            </a:r>
            <a:r>
              <a:rPr lang="en-US" sz="28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2800" b="1">
                <a:latin typeface="Times New Roman" panose="02020603050405020304"/>
                <a:ea typeface="Times New Roman" panose="02020603050405020304"/>
                <a:cs typeface="Times New Roman" panose="02020603050405020304"/>
                <a:sym typeface="Times New Roman" panose="02020603050405020304"/>
              </a:rPr>
              <a:t>Kill Chain</a:t>
            </a:r>
            <a:r>
              <a:rPr lang="en-US" sz="28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2800" b="1">
                <a:latin typeface="Times New Roman" panose="02020603050405020304"/>
                <a:ea typeface="Times New Roman" panose="02020603050405020304"/>
                <a:cs typeface="Times New Roman" panose="02020603050405020304"/>
                <a:sym typeface="Times New Roman" panose="02020603050405020304"/>
              </a:rPr>
              <a:t>Analysis</a:t>
            </a:r>
            <a:r>
              <a:rPr lang="en-US" sz="28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2800" b="1">
                <a:latin typeface="Times New Roman" panose="02020603050405020304"/>
                <a:ea typeface="Times New Roman" panose="02020603050405020304"/>
                <a:cs typeface="Times New Roman" panose="02020603050405020304"/>
                <a:sym typeface="Times New Roman" panose="02020603050405020304"/>
              </a:rPr>
              <a:t>using Machine Learning</a:t>
            </a:r>
            <a:endParaRPr lang="en-US" sz="2800" b="1">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1" name="Google Shape;41;p2"/>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US" sz="3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Abstract</a:t>
            </a:r>
            <a:endParaRPr lang="en-US" sz="3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2" name="Google Shape;42;p2"/>
          <p:cNvSpPr txBox="1"/>
          <p:nvPr/>
        </p:nvSpPr>
        <p:spPr>
          <a:xfrm>
            <a:off x="-635" y="639445"/>
            <a:ext cx="8918575" cy="3870325"/>
          </a:xfrm>
          <a:prstGeom prst="rect">
            <a:avLst/>
          </a:prstGeom>
          <a:noFill/>
          <a:ln>
            <a:noFill/>
          </a:ln>
        </p:spPr>
        <p:txBody>
          <a:bodyPr spcFirstLastPara="1" wrap="square" lIns="91425" tIns="91425" rIns="91425" bIns="91425" anchor="t" anchorCtr="0">
            <a:noAutofit/>
          </a:bodyPr>
          <a:lstStyle/>
          <a:p>
            <a:pPr marL="368300" marR="0" lvl="0" indent="-165100" algn="just" rtl="0">
              <a:lnSpc>
                <a:spcPct val="100000"/>
              </a:lnSpc>
              <a:spcBef>
                <a:spcPts val="0"/>
              </a:spcBef>
              <a:spcAft>
                <a:spcPts val="0"/>
              </a:spcAft>
              <a:buClr>
                <a:schemeClr val="dk2"/>
              </a:buClr>
              <a:buSzPts val="2800"/>
              <a:buFont typeface="Arial" panose="020B0604020202020204"/>
              <a:buNone/>
            </a:pPr>
            <a:r>
              <a:rPr lang="en-IN" altLang="en-US"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This project presents a TabNet-based deep learning framework for detecting Advanced Persistent Threats (APTs) by identifying different cyber kill chain stages using network traffic data. DAPT2020 and Unraveled 2023 benchmark datasets are used along with preprocessing techniques such as PCA for dimensionality reduction and SMOTE for class imbalance handling. A baseline TabNet model is implemented and further optimized through hyperparameter tuning and improved training strategies, and its performance is compared with the traditional TabNet. The proposed approach enables early and accurate detection of multi-stage APT activities, supporting proactive cybersecurity defense.</a:t>
            </a:r>
            <a:endParaRPr lang="en-US" altLang="en-US"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68300" marR="0" lvl="0" indent="-165100" algn="just" rtl="0">
              <a:lnSpc>
                <a:spcPct val="100000"/>
              </a:lnSpc>
              <a:spcBef>
                <a:spcPts val="0"/>
              </a:spcBef>
              <a:spcAft>
                <a:spcPts val="0"/>
              </a:spcAft>
              <a:buClr>
                <a:schemeClr val="dk2"/>
              </a:buClr>
              <a:buSzPts val="2800"/>
              <a:buFont typeface="Arial" panose="020B0604020202020204"/>
              <a:buNone/>
            </a:pPr>
            <a:endParaRPr lang="en-US" altLang="en-US"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3"/>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US" sz="3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Introduction</a:t>
            </a:r>
            <a:endParaRPr lang="en-US" sz="3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8" name="Google Shape;48;p3"/>
          <p:cNvSpPr txBox="1"/>
          <p:nvPr/>
        </p:nvSpPr>
        <p:spPr>
          <a:xfrm>
            <a:off x="226350" y="640551"/>
            <a:ext cx="8691300" cy="4633500"/>
          </a:xfrm>
          <a:prstGeom prst="rect">
            <a:avLst/>
          </a:prstGeom>
          <a:noFill/>
          <a:ln>
            <a:noFill/>
          </a:ln>
        </p:spPr>
        <p:txBody>
          <a:bodyPr spcFirstLastPara="1" wrap="square" lIns="91425" tIns="91425" rIns="91425" bIns="91425" anchor="t" anchorCtr="0">
            <a:noAutofit/>
          </a:bodyPr>
          <a:lstStyle/>
          <a:p>
            <a:pPr marL="546100" marR="0" lvl="0" indent="-342900" algn="just" rtl="0">
              <a:lnSpc>
                <a:spcPct val="100000"/>
              </a:lnSpc>
              <a:spcBef>
                <a:spcPts val="0"/>
              </a:spcBef>
              <a:spcAft>
                <a:spcPts val="0"/>
              </a:spcAft>
              <a:buClr>
                <a:schemeClr val="dk2"/>
              </a:buClr>
              <a:buSzPts val="2800"/>
              <a:buFont typeface="Arial" panose="020B0604020202020204" pitchFamily="34" charset="0"/>
              <a:buChar char="•"/>
            </a:pPr>
            <a:r>
              <a:rPr lang="en-US" alt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Advanced Persistent Threats (APTs) are stealthy, multi-stage cyber attacks that are difficult to detect in early phases.</a:t>
            </a:r>
            <a:endParaRPr lang="en-US" alt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546100" marR="0" lvl="0" indent="-342900" algn="just" rtl="0">
              <a:lnSpc>
                <a:spcPct val="100000"/>
              </a:lnSpc>
              <a:spcBef>
                <a:spcPts val="0"/>
              </a:spcBef>
              <a:spcAft>
                <a:spcPts val="0"/>
              </a:spcAft>
              <a:buClr>
                <a:schemeClr val="dk2"/>
              </a:buClr>
              <a:buSzPts val="2800"/>
              <a:buFont typeface="Arial" panose="020B0604020202020204" pitchFamily="34" charset="0"/>
              <a:buChar char="•"/>
            </a:pPr>
            <a:r>
              <a:rPr lang="en-US" alt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APTs progress through multiple stages of the cyber kill chain, making early-stage detection particularly challenging.</a:t>
            </a:r>
            <a:endParaRPr lang="en-US" alt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546100" marR="0" lvl="0" indent="-342900" algn="just" rtl="0">
              <a:lnSpc>
                <a:spcPct val="100000"/>
              </a:lnSpc>
              <a:spcBef>
                <a:spcPts val="0"/>
              </a:spcBef>
              <a:spcAft>
                <a:spcPts val="0"/>
              </a:spcAft>
              <a:buClr>
                <a:schemeClr val="dk2"/>
              </a:buClr>
              <a:buSzPts val="2800"/>
              <a:buFont typeface="Arial" panose="020B0604020202020204" pitchFamily="34" charset="0"/>
              <a:buChar char="•"/>
            </a:pPr>
            <a:r>
              <a:rPr lang="en-US" alt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Most intrusion detection systems focus on binary detection or isolated events, failing to capture stage-wise APT behavior.</a:t>
            </a:r>
            <a:endParaRPr lang="en-US" alt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546100" marR="0" lvl="0" indent="-342900" algn="just" rtl="0">
              <a:lnSpc>
                <a:spcPct val="100000"/>
              </a:lnSpc>
              <a:spcBef>
                <a:spcPts val="0"/>
              </a:spcBef>
              <a:spcAft>
                <a:spcPts val="0"/>
              </a:spcAft>
              <a:buClr>
                <a:schemeClr val="dk2"/>
              </a:buClr>
              <a:buSzPts val="2800"/>
              <a:buFont typeface="Arial" panose="020B0604020202020204" pitchFamily="34" charset="0"/>
              <a:buChar char="•"/>
            </a:pPr>
            <a:r>
              <a:rPr lang="en-US" alt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Network traffic data contains rich behavioral patterns that can reveal different APT stages when analyzed effectively.</a:t>
            </a:r>
            <a:endParaRPr lang="en-US" alt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546100" marR="0" lvl="0" indent="-342900" algn="just" rtl="0">
              <a:lnSpc>
                <a:spcPct val="100000"/>
              </a:lnSpc>
              <a:spcBef>
                <a:spcPts val="0"/>
              </a:spcBef>
              <a:spcAft>
                <a:spcPts val="0"/>
              </a:spcAft>
              <a:buClr>
                <a:schemeClr val="dk2"/>
              </a:buClr>
              <a:buSzPts val="2800"/>
              <a:buFont typeface="Arial" panose="020B0604020202020204" pitchFamily="34" charset="0"/>
              <a:buChar char="•"/>
            </a:pPr>
            <a:r>
              <a:rPr lang="en-US" alt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Motivated by this, the proposed work applies a TabNet-based deep learning framework to accurately classify APT kill chain stages for timely cybersecurity response.</a:t>
            </a:r>
            <a:endParaRPr lang="en-US" alt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4"/>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Existing Approaches (Literature Survey) </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54" name="Google Shape;54;p4"/>
          <p:cNvGraphicFramePr/>
          <p:nvPr/>
        </p:nvGraphicFramePr>
        <p:xfrm>
          <a:off x="5960046" y="883490"/>
          <a:ext cx="162550" cy="2164144"/>
        </p:xfrm>
        <a:graphic>
          <a:graphicData uri="http://schemas.openxmlformats.org/drawingml/2006/table">
            <a:tbl>
              <a:tblPr firstRow="1" firstCol="1" bandRow="1">
                <a:noFill/>
                <a:tableStyleId>{8DE1654A-0BA3-479A-900E-4C6F7BCA4BD3}</a:tableStyleId>
              </a:tblPr>
              <a:tblGrid>
                <a:gridCol w="162550"/>
              </a:tblGrid>
              <a:tr h="0">
                <a:tc>
                  <a:txBody>
                    <a:bodyPr/>
                    <a:lstStyle/>
                    <a:p>
                      <a:pPr marL="0" marR="0" lvl="0" indent="0" algn="ctr" rtl="0">
                        <a:lnSpc>
                          <a:spcPct val="107000"/>
                        </a:lnSpc>
                        <a:spcBef>
                          <a:spcPts val="0"/>
                        </a:spcBef>
                        <a:spcAft>
                          <a:spcPts val="0"/>
                        </a:spcAft>
                        <a:buNone/>
                      </a:pPr>
                      <a:r>
                        <a:rPr lang="en-US" sz="1200" u="none" strike="noStrike" cap="none" dirty="0">
                          <a:latin typeface="Times New Roman" panose="02020603050405020304"/>
                          <a:ea typeface="Times New Roman" panose="02020603050405020304"/>
                          <a:cs typeface="Times New Roman" panose="02020603050405020304"/>
                          <a:sym typeface="Times New Roman" panose="02020603050405020304"/>
                        </a:rPr>
                        <a:t>Ref. No.</a:t>
                      </a:r>
                      <a:endParaRPr sz="11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r>
              <a:tr h="0">
                <a:tc>
                  <a:txBody>
                    <a:bodyPr/>
                    <a:lstStyle/>
                    <a:p>
                      <a:pPr marL="0" marR="0" lvl="0" indent="0" algn="ctr" rtl="0">
                        <a:lnSpc>
                          <a:spcPct val="107000"/>
                        </a:lnSpc>
                        <a:spcBef>
                          <a:spcPts val="0"/>
                        </a:spcBef>
                        <a:spcAft>
                          <a:spcPts val="0"/>
                        </a:spcAft>
                        <a:buClr>
                          <a:srgbClr val="000000"/>
                        </a:buClr>
                        <a:buSzPts val="1200"/>
                        <a:buFont typeface="Arial" panose="020B0604020202020204"/>
                        <a:buNone/>
                      </a:pPr>
                      <a:endParaRPr sz="11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r>
              <a:tr h="0">
                <a:tc>
                  <a:txBody>
                    <a:bodyPr/>
                    <a:lstStyle/>
                    <a:p>
                      <a:pPr marL="0" lvl="0" indent="0" algn="l" rtl="0">
                        <a:spcBef>
                          <a:spcPts val="0"/>
                        </a:spcBef>
                        <a:spcAft>
                          <a:spcPts val="0"/>
                        </a:spcAft>
                        <a:buNone/>
                      </a:pPr>
                      <a:r>
                        <a:rPr lang="en-US" dirty="0"/>
                        <a:t>[2]</a:t>
                      </a:r>
                      <a:endParaRPr dirty="0"/>
                    </a:p>
                  </a:txBody>
                  <a:tcPr marL="68575" marR="68575" marT="0" marB="0" anchor="ctr">
                    <a:noFill/>
                  </a:tcPr>
                </a:tc>
              </a:tr>
            </a:tbl>
          </a:graphicData>
        </a:graphic>
      </p:graphicFrame>
      <p:pic>
        <p:nvPicPr>
          <p:cNvPr id="5" name="Picture 4"/>
          <p:cNvPicPr>
            <a:picLocks noChangeAspect="1"/>
          </p:cNvPicPr>
          <p:nvPr/>
        </p:nvPicPr>
        <p:blipFill>
          <a:blip r:embed="rId1"/>
          <a:stretch>
            <a:fillRect/>
          </a:stretch>
        </p:blipFill>
        <p:spPr>
          <a:xfrm>
            <a:off x="208915" y="624840"/>
            <a:ext cx="8725535" cy="43599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5"/>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Existing Approaches (Literature Survey) </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60" name="Google Shape;60;p5"/>
          <p:cNvGraphicFramePr/>
          <p:nvPr/>
        </p:nvGraphicFramePr>
        <p:xfrm>
          <a:off x="248575" y="781921"/>
          <a:ext cx="8540325" cy="3994275"/>
        </p:xfrm>
        <a:graphic>
          <a:graphicData uri="http://schemas.openxmlformats.org/drawingml/2006/table">
            <a:tbl>
              <a:tblPr firstRow="1" firstCol="1" bandRow="1">
                <a:noFill/>
                <a:tableStyleId>{8DE1654A-0BA3-479A-900E-4C6F7BCA4BD3}</a:tableStyleId>
              </a:tblPr>
              <a:tblGrid>
                <a:gridCol w="470525"/>
                <a:gridCol w="1878600"/>
                <a:gridCol w="1274650"/>
                <a:gridCol w="1732400"/>
                <a:gridCol w="1746500"/>
                <a:gridCol w="1437650"/>
              </a:tblGrid>
              <a:tr h="479775">
                <a:tc>
                  <a:txBody>
                    <a:bodyPr/>
                    <a:lstStyle/>
                    <a:p>
                      <a:pPr marL="0" marR="0" lvl="0" indent="0" algn="ctr" rtl="0">
                        <a:lnSpc>
                          <a:spcPct val="107000"/>
                        </a:lnSpc>
                        <a:spcBef>
                          <a:spcPts val="0"/>
                        </a:spcBef>
                        <a:spcAft>
                          <a:spcPts val="0"/>
                        </a:spcAft>
                        <a:buNone/>
                      </a:pPr>
                      <a:r>
                        <a:rPr lang="en-US" sz="1200" u="none" strike="noStrike" cap="none">
                          <a:latin typeface="Times New Roman" panose="02020603050405020304"/>
                          <a:ea typeface="Times New Roman" panose="02020603050405020304"/>
                          <a:cs typeface="Times New Roman" panose="02020603050405020304"/>
                          <a:sym typeface="Times New Roman" panose="02020603050405020304"/>
                        </a:rPr>
                        <a:t>Ref. No.</a:t>
                      </a: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r>
                        <a:rPr lang="en-US" sz="1200" u="none" strike="noStrike" cap="none" dirty="0">
                          <a:latin typeface="Times New Roman" panose="02020603050405020304"/>
                          <a:ea typeface="Times New Roman" panose="02020603050405020304"/>
                          <a:cs typeface="Times New Roman" panose="02020603050405020304"/>
                          <a:sym typeface="Times New Roman" panose="02020603050405020304"/>
                        </a:rPr>
                        <a:t>Methodology Adopted</a:t>
                      </a:r>
                      <a:endParaRPr sz="11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r>
                        <a:rPr lang="en-US" sz="1200" u="none" strike="noStrike" cap="none">
                          <a:latin typeface="Times New Roman" panose="02020603050405020304"/>
                          <a:ea typeface="Times New Roman" panose="02020603050405020304"/>
                          <a:cs typeface="Times New Roman" panose="02020603050405020304"/>
                          <a:sym typeface="Times New Roman" panose="02020603050405020304"/>
                        </a:rPr>
                        <a:t>Dataset Name</a:t>
                      </a: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r>
                        <a:rPr lang="en-US" sz="1200" u="none" strike="noStrike" cap="none">
                          <a:latin typeface="Times New Roman" panose="02020603050405020304"/>
                          <a:ea typeface="Times New Roman" panose="02020603050405020304"/>
                          <a:cs typeface="Times New Roman" panose="02020603050405020304"/>
                          <a:sym typeface="Times New Roman" panose="02020603050405020304"/>
                        </a:rPr>
                        <a:t>Advantage / Significance</a:t>
                      </a: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r>
                        <a:rPr lang="en-US" sz="1200" u="none" strike="noStrike" cap="none">
                          <a:latin typeface="Times New Roman" panose="02020603050405020304"/>
                          <a:ea typeface="Times New Roman" panose="02020603050405020304"/>
                          <a:cs typeface="Times New Roman" panose="02020603050405020304"/>
                          <a:sym typeface="Times New Roman" panose="02020603050405020304"/>
                        </a:rPr>
                        <a:t>Drawbacks / Limitations</a:t>
                      </a: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r>
                        <a:rPr lang="en-US" sz="1200" u="none" strike="noStrike" cap="none">
                          <a:latin typeface="Times New Roman" panose="02020603050405020304"/>
                          <a:ea typeface="Times New Roman" panose="02020603050405020304"/>
                          <a:cs typeface="Times New Roman" panose="02020603050405020304"/>
                          <a:sym typeface="Times New Roman" panose="02020603050405020304"/>
                        </a:rPr>
                        <a:t>Results / Accuracy</a:t>
                      </a: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r>
              <a:tr h="1757250">
                <a:tc>
                  <a:txBody>
                    <a:bodyPr/>
                    <a:lstStyle/>
                    <a:p>
                      <a:pPr marL="0" marR="0" lvl="0" indent="0" algn="ctr" rtl="0">
                        <a:lnSpc>
                          <a:spcPct val="107000"/>
                        </a:lnSpc>
                        <a:spcBef>
                          <a:spcPts val="0"/>
                        </a:spcBef>
                        <a:spcAft>
                          <a:spcPts val="0"/>
                        </a:spcAft>
                        <a:buClr>
                          <a:srgbClr val="000000"/>
                        </a:buClr>
                        <a:buSzPts val="1200"/>
                        <a:buFont typeface="Arial" panose="020B0604020202020204"/>
                        <a:buNone/>
                      </a:pPr>
                      <a:r>
                        <a:rPr lang="en-US" sz="1200" u="none" strike="noStrike" cap="none">
                          <a:latin typeface="Times New Roman" panose="02020603050405020304"/>
                          <a:ea typeface="Times New Roman" panose="02020603050405020304"/>
                          <a:cs typeface="Times New Roman" panose="02020603050405020304"/>
                          <a:sym typeface="Times New Roman" panose="02020603050405020304"/>
                        </a:rPr>
                        <a:t>[3]</a:t>
                      </a: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l" rtl="0">
                        <a:lnSpc>
                          <a:spcPct val="107000"/>
                        </a:lnSpc>
                        <a:spcBef>
                          <a:spcPts val="0"/>
                        </a:spcBef>
                        <a:spcAft>
                          <a:spcPts val="0"/>
                        </a:spcAft>
                        <a:buNone/>
                      </a:pPr>
                      <a:endParaRPr sz="1100"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l" rtl="0">
                        <a:lnSpc>
                          <a:spcPct val="107000"/>
                        </a:lnSpc>
                        <a:spcBef>
                          <a:spcPts val="0"/>
                        </a:spcBef>
                        <a:spcAft>
                          <a:spcPts val="0"/>
                        </a:spcAft>
                        <a:buNone/>
                      </a:pPr>
                      <a:endParaRPr sz="1100"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l" rtl="0">
                        <a:lnSpc>
                          <a:spcPct val="107000"/>
                        </a:lnSpc>
                        <a:spcBef>
                          <a:spcPts val="0"/>
                        </a:spcBef>
                        <a:spcAft>
                          <a:spcPts val="0"/>
                        </a:spcAft>
                        <a:buNone/>
                      </a:pPr>
                    </a:p>
                  </a:txBody>
                  <a:tcPr marL="68575" marR="68575" marT="0" marB="0" anchor="ctr">
                    <a:noFill/>
                  </a:tcPr>
                </a:tc>
                <a:tc>
                  <a:txBody>
                    <a:bodyPr/>
                    <a:lstStyle/>
                    <a:p>
                      <a:pPr marL="0" marR="0" lvl="0" indent="0" algn="l" rtl="0">
                        <a:lnSpc>
                          <a:spcPct val="107000"/>
                        </a:lnSpc>
                        <a:spcBef>
                          <a:spcPts val="0"/>
                        </a:spcBef>
                        <a:spcAft>
                          <a:spcPts val="0"/>
                        </a:spcAft>
                        <a:buNone/>
                      </a:pPr>
                    </a:p>
                  </a:txBody>
                  <a:tcPr marL="68575" marR="68575" marT="0" marB="0" anchor="ctr">
                    <a:noFill/>
                  </a:tcPr>
                </a:tc>
                <a:tc>
                  <a:txBody>
                    <a:bodyPr/>
                    <a:lstStyle/>
                    <a:p>
                      <a:pPr marL="0" marR="0" lvl="0" indent="0" algn="l" rtl="0">
                        <a:lnSpc>
                          <a:spcPct val="107000"/>
                        </a:lnSpc>
                        <a:spcBef>
                          <a:spcPts val="0"/>
                        </a:spcBef>
                        <a:spcAft>
                          <a:spcPts val="0"/>
                        </a:spcAft>
                        <a:buNone/>
                      </a:pPr>
                    </a:p>
                  </a:txBody>
                  <a:tcPr marL="68575" marR="68575" marT="0" marB="0" anchor="ctr">
                    <a:noFill/>
                  </a:tcPr>
                </a:tc>
              </a:tr>
              <a:tr h="1757250">
                <a:tc>
                  <a:txBody>
                    <a:bodyPr/>
                    <a:lstStyle/>
                    <a:p>
                      <a:pPr marL="0" marR="0" lvl="0" indent="0" algn="ctr" rtl="0">
                        <a:lnSpc>
                          <a:spcPct val="107000"/>
                        </a:lnSpc>
                        <a:spcBef>
                          <a:spcPts val="0"/>
                        </a:spcBef>
                        <a:spcAft>
                          <a:spcPts val="0"/>
                        </a:spcAft>
                        <a:buClr>
                          <a:srgbClr val="000000"/>
                        </a:buClr>
                        <a:buSzPts val="1100"/>
                        <a:buFont typeface="Arial" panose="020B0604020202020204"/>
                        <a:buNone/>
                      </a:pPr>
                      <a:r>
                        <a:rPr lang="en-US" sz="1100" u="none" strike="noStrike" cap="none">
                          <a:latin typeface="Times New Roman" panose="02020603050405020304"/>
                          <a:ea typeface="Times New Roman" panose="02020603050405020304"/>
                          <a:cs typeface="Times New Roman" panose="02020603050405020304"/>
                          <a:sym typeface="Times New Roman" panose="02020603050405020304"/>
                        </a:rPr>
                        <a:t>[4]</a:t>
                      </a: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l" rtl="0">
                        <a:lnSpc>
                          <a:spcPct val="107000"/>
                        </a:lnSpc>
                        <a:spcBef>
                          <a:spcPts val="0"/>
                        </a:spcBef>
                        <a:spcAft>
                          <a:spcPts val="0"/>
                        </a:spcAft>
                        <a:buNone/>
                      </a:pPr>
                    </a:p>
                  </a:txBody>
                  <a:tcPr marL="68575" marR="68575" marT="0" marB="0" anchor="ctr">
                    <a:noFill/>
                  </a:tcPr>
                </a:tc>
                <a:tc>
                  <a:txBody>
                    <a:bodyPr/>
                    <a:lstStyle/>
                    <a:p>
                      <a:pPr marL="0" marR="0" lvl="0" indent="0" algn="l" rtl="0">
                        <a:lnSpc>
                          <a:spcPct val="107000"/>
                        </a:lnSpc>
                        <a:spcBef>
                          <a:spcPts val="0"/>
                        </a:spcBef>
                        <a:spcAft>
                          <a:spcPts val="0"/>
                        </a:spcAft>
                        <a:buNone/>
                      </a:pPr>
                      <a:endParaRPr sz="110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l" rtl="0">
                        <a:lnSpc>
                          <a:spcPct val="107000"/>
                        </a:lnSpc>
                        <a:spcBef>
                          <a:spcPts val="0"/>
                        </a:spcBef>
                        <a:spcAft>
                          <a:spcPts val="0"/>
                        </a:spcAft>
                        <a:buNone/>
                      </a:pPr>
                    </a:p>
                  </a:txBody>
                  <a:tcPr marL="68575" marR="68575" marT="0" marB="0" anchor="ctr">
                    <a:noFill/>
                  </a:tcPr>
                </a:tc>
                <a:tc>
                  <a:txBody>
                    <a:bodyPr/>
                    <a:lstStyle/>
                    <a:p>
                      <a:pPr marL="0" marR="0" lvl="0" indent="0" algn="l" rtl="0">
                        <a:lnSpc>
                          <a:spcPct val="107000"/>
                        </a:lnSpc>
                        <a:spcBef>
                          <a:spcPts val="0"/>
                        </a:spcBef>
                        <a:spcAft>
                          <a:spcPts val="0"/>
                        </a:spcAft>
                        <a:buNone/>
                      </a:pPr>
                    </a:p>
                  </a:txBody>
                  <a:tcPr marL="68575" marR="68575" marT="0" marB="0" anchor="ctr">
                    <a:noFill/>
                  </a:tcPr>
                </a:tc>
                <a:tc>
                  <a:txBody>
                    <a:bodyPr/>
                    <a:lstStyle/>
                    <a:p>
                      <a:pPr marL="0" marR="0" lvl="0" indent="0" algn="l" rtl="0">
                        <a:lnSpc>
                          <a:spcPct val="107000"/>
                        </a:lnSpc>
                        <a:spcBef>
                          <a:spcPts val="0"/>
                        </a:spcBef>
                        <a:spcAft>
                          <a:spcPts val="0"/>
                        </a:spcAft>
                        <a:buNone/>
                      </a:pPr>
                      <a:endParaRPr dirty="0"/>
                    </a:p>
                  </a:txBody>
                  <a:tcPr marL="68575" marR="68575" marT="0" marB="0" anchor="ctr">
                    <a:noFill/>
                  </a:tcPr>
                </a:tc>
              </a:tr>
            </a:tbl>
          </a:graphicData>
        </a:graphic>
      </p:graphicFrame>
      <p:pic>
        <p:nvPicPr>
          <p:cNvPr id="3" name="Picture 2"/>
          <p:cNvPicPr>
            <a:picLocks noChangeAspect="1"/>
          </p:cNvPicPr>
          <p:nvPr/>
        </p:nvPicPr>
        <p:blipFill>
          <a:blip r:embed="rId1"/>
          <a:stretch>
            <a:fillRect/>
          </a:stretch>
        </p:blipFill>
        <p:spPr>
          <a:xfrm>
            <a:off x="220345" y="637540"/>
            <a:ext cx="8702675" cy="43973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6"/>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Existing Approaches (Literature Survey) </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66" name="Google Shape;66;p6"/>
          <p:cNvGraphicFramePr/>
          <p:nvPr/>
        </p:nvGraphicFramePr>
        <p:xfrm>
          <a:off x="248575" y="781921"/>
          <a:ext cx="8540325" cy="4588569"/>
        </p:xfrm>
        <a:graphic>
          <a:graphicData uri="http://schemas.openxmlformats.org/drawingml/2006/table">
            <a:tbl>
              <a:tblPr firstRow="1" firstCol="1" bandRow="1">
                <a:noFill/>
                <a:tableStyleId>{8DE1654A-0BA3-479A-900E-4C6F7BCA4BD3}</a:tableStyleId>
              </a:tblPr>
              <a:tblGrid>
                <a:gridCol w="470525"/>
                <a:gridCol w="1878600"/>
                <a:gridCol w="1274650"/>
                <a:gridCol w="1732400"/>
                <a:gridCol w="1746500"/>
                <a:gridCol w="1437650"/>
              </a:tblGrid>
              <a:tr h="551159">
                <a:tc>
                  <a:txBody>
                    <a:bodyPr/>
                    <a:lstStyle/>
                    <a:p>
                      <a:pPr marL="0" marR="0" lvl="0" indent="0" algn="ctr" rtl="0">
                        <a:lnSpc>
                          <a:spcPct val="107000"/>
                        </a:lnSpc>
                        <a:spcBef>
                          <a:spcPts val="0"/>
                        </a:spcBef>
                        <a:spcAft>
                          <a:spcPts val="0"/>
                        </a:spcAft>
                        <a:buNone/>
                      </a:pPr>
                      <a:r>
                        <a:rPr lang="en-US" sz="1200" u="none" strike="noStrike" cap="none">
                          <a:latin typeface="Times New Roman" panose="02020603050405020304"/>
                          <a:ea typeface="Times New Roman" panose="02020603050405020304"/>
                          <a:cs typeface="Times New Roman" panose="02020603050405020304"/>
                          <a:sym typeface="Times New Roman" panose="02020603050405020304"/>
                        </a:rPr>
                        <a:t>Ref. No.</a:t>
                      </a: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r>
                        <a:rPr lang="en-US" sz="1200" u="none" strike="noStrike" cap="none">
                          <a:latin typeface="Times New Roman" panose="02020603050405020304"/>
                          <a:ea typeface="Times New Roman" panose="02020603050405020304"/>
                          <a:cs typeface="Times New Roman" panose="02020603050405020304"/>
                          <a:sym typeface="Times New Roman" panose="02020603050405020304"/>
                        </a:rPr>
                        <a:t>Methodology Adopted</a:t>
                      </a: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r>
                        <a:rPr lang="en-US" sz="1200" u="none" strike="noStrike" cap="none">
                          <a:latin typeface="Times New Roman" panose="02020603050405020304"/>
                          <a:ea typeface="Times New Roman" panose="02020603050405020304"/>
                          <a:cs typeface="Times New Roman" panose="02020603050405020304"/>
                          <a:sym typeface="Times New Roman" panose="02020603050405020304"/>
                        </a:rPr>
                        <a:t>Dataset Name</a:t>
                      </a: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r>
                        <a:rPr lang="en-US" sz="1200" u="none" strike="noStrike" cap="none">
                          <a:latin typeface="Times New Roman" panose="02020603050405020304"/>
                          <a:ea typeface="Times New Roman" panose="02020603050405020304"/>
                          <a:cs typeface="Times New Roman" panose="02020603050405020304"/>
                          <a:sym typeface="Times New Roman" panose="02020603050405020304"/>
                        </a:rPr>
                        <a:t>Advantage / Significance</a:t>
                      </a: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r>
                        <a:rPr lang="en-US" sz="1200" u="none" strike="noStrike" cap="none">
                          <a:latin typeface="Times New Roman" panose="02020603050405020304"/>
                          <a:ea typeface="Times New Roman" panose="02020603050405020304"/>
                          <a:cs typeface="Times New Roman" panose="02020603050405020304"/>
                          <a:sym typeface="Times New Roman" panose="02020603050405020304"/>
                        </a:rPr>
                        <a:t>Drawbacks / Limitations</a:t>
                      </a: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r>
                        <a:rPr lang="en-US" sz="1200" u="none" strike="noStrike" cap="none">
                          <a:latin typeface="Times New Roman" panose="02020603050405020304"/>
                          <a:ea typeface="Times New Roman" panose="02020603050405020304"/>
                          <a:cs typeface="Times New Roman" panose="02020603050405020304"/>
                          <a:sym typeface="Times New Roman" panose="02020603050405020304"/>
                        </a:rPr>
                        <a:t>Results / Accuracy</a:t>
                      </a: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r>
              <a:tr h="2018705">
                <a:tc>
                  <a:txBody>
                    <a:bodyPr/>
                    <a:lstStyle/>
                    <a:p>
                      <a:pPr marL="0" marR="0" lvl="0" indent="0" algn="ctr" rtl="0">
                        <a:lnSpc>
                          <a:spcPct val="107000"/>
                        </a:lnSpc>
                        <a:spcBef>
                          <a:spcPts val="0"/>
                        </a:spcBef>
                        <a:spcAft>
                          <a:spcPts val="0"/>
                        </a:spcAft>
                        <a:buClr>
                          <a:srgbClr val="000000"/>
                        </a:buClr>
                        <a:buSzPts val="1200"/>
                        <a:buFont typeface="Arial" panose="020B0604020202020204"/>
                        <a:buNone/>
                      </a:pPr>
                      <a:r>
                        <a:rPr lang="en-US" sz="1200" u="none" strike="noStrike" cap="none">
                          <a:latin typeface="Times New Roman" panose="02020603050405020304"/>
                          <a:ea typeface="Times New Roman" panose="02020603050405020304"/>
                          <a:cs typeface="Times New Roman" panose="02020603050405020304"/>
                          <a:sym typeface="Times New Roman" panose="02020603050405020304"/>
                        </a:rPr>
                        <a:t>[5]</a:t>
                      </a: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l" rtl="0">
                        <a:lnSpc>
                          <a:spcPct val="107000"/>
                        </a:lnSpc>
                        <a:spcBef>
                          <a:spcPts val="0"/>
                        </a:spcBef>
                        <a:spcAft>
                          <a:spcPts val="0"/>
                        </a:spcAft>
                        <a:buNone/>
                      </a:pPr>
                      <a:endParaRPr dirty="0"/>
                    </a:p>
                  </a:txBody>
                  <a:tcPr marL="68575" marR="68575" marT="0" marB="0" anchor="ctr">
                    <a:noFill/>
                  </a:tcPr>
                </a:tc>
                <a:tc>
                  <a:txBody>
                    <a:bodyPr/>
                    <a:lstStyle/>
                    <a:p>
                      <a:pPr marL="0" marR="0" lvl="0" indent="0" algn="l" rtl="0">
                        <a:lnSpc>
                          <a:spcPct val="107000"/>
                        </a:lnSpc>
                        <a:spcBef>
                          <a:spcPts val="0"/>
                        </a:spcBef>
                        <a:spcAft>
                          <a:spcPts val="0"/>
                        </a:spcAft>
                        <a:buNone/>
                      </a:pPr>
                      <a:endParaRPr dirty="0"/>
                    </a:p>
                  </a:txBody>
                  <a:tcPr marL="68575" marR="68575" marT="0" marB="0" anchor="ctr">
                    <a:noFill/>
                  </a:tcPr>
                </a:tc>
                <a:tc>
                  <a:txBody>
                    <a:bodyPr/>
                    <a:lstStyle/>
                    <a:p>
                      <a:pPr marL="0" marR="0" lvl="0" indent="0" algn="l" rtl="0">
                        <a:lnSpc>
                          <a:spcPct val="107000"/>
                        </a:lnSpc>
                        <a:spcBef>
                          <a:spcPts val="0"/>
                        </a:spcBef>
                        <a:spcAft>
                          <a:spcPts val="0"/>
                        </a:spcAft>
                        <a:buNone/>
                      </a:pPr>
                    </a:p>
                  </a:txBody>
                  <a:tcPr marL="68575" marR="68575" marT="0" marB="0" anchor="ctr">
                    <a:noFill/>
                  </a:tcPr>
                </a:tc>
                <a:tc>
                  <a:txBody>
                    <a:bodyPr/>
                    <a:lstStyle/>
                    <a:p>
                      <a:pPr marL="0" marR="0" lvl="0" indent="0" algn="l" rtl="0">
                        <a:lnSpc>
                          <a:spcPct val="107000"/>
                        </a:lnSpc>
                        <a:spcBef>
                          <a:spcPts val="0"/>
                        </a:spcBef>
                        <a:spcAft>
                          <a:spcPts val="0"/>
                        </a:spcAft>
                        <a:buNone/>
                      </a:pPr>
                      <a:endParaRPr dirty="0"/>
                    </a:p>
                  </a:txBody>
                  <a:tcPr marL="68575" marR="68575" marT="0" marB="0" anchor="ctr">
                    <a:noFill/>
                  </a:tcPr>
                </a:tc>
                <a:tc>
                  <a:txBody>
                    <a:bodyPr/>
                    <a:lstStyle/>
                    <a:p>
                      <a:pPr marL="0" marR="0" lvl="0" indent="0" algn="l" rtl="0">
                        <a:lnSpc>
                          <a:spcPct val="107000"/>
                        </a:lnSpc>
                        <a:spcBef>
                          <a:spcPts val="0"/>
                        </a:spcBef>
                        <a:spcAft>
                          <a:spcPts val="0"/>
                        </a:spcAft>
                        <a:buNone/>
                      </a:pPr>
                      <a:endParaRPr dirty="0"/>
                    </a:p>
                  </a:txBody>
                  <a:tcPr marL="68575" marR="68575" marT="0" marB="0" anchor="ctr">
                    <a:noFill/>
                  </a:tcPr>
                </a:tc>
              </a:tr>
              <a:tr h="2018705">
                <a:tc>
                  <a:txBody>
                    <a:bodyPr/>
                    <a:lstStyle/>
                    <a:p>
                      <a:pPr marL="0" marR="0" lvl="0" indent="0" algn="ctr" rtl="0">
                        <a:lnSpc>
                          <a:spcPct val="107000"/>
                        </a:lnSpc>
                        <a:spcBef>
                          <a:spcPts val="0"/>
                        </a:spcBef>
                        <a:spcAft>
                          <a:spcPts val="0"/>
                        </a:spcAft>
                        <a:buClr>
                          <a:srgbClr val="000000"/>
                        </a:buClr>
                        <a:buSzPts val="1100"/>
                        <a:buFont typeface="Arial" panose="020B0604020202020204"/>
                        <a:buNone/>
                      </a:pPr>
                      <a:r>
                        <a:rPr lang="en-US" sz="1100" u="none" strike="noStrike" cap="none">
                          <a:latin typeface="Times New Roman" panose="02020603050405020304"/>
                          <a:ea typeface="Times New Roman" panose="02020603050405020304"/>
                          <a:cs typeface="Times New Roman" panose="02020603050405020304"/>
                          <a:sym typeface="Times New Roman" panose="02020603050405020304"/>
                        </a:rPr>
                        <a:t>[6]</a:t>
                      </a: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l" rtl="0">
                        <a:lnSpc>
                          <a:spcPct val="107000"/>
                        </a:lnSpc>
                        <a:spcBef>
                          <a:spcPts val="0"/>
                        </a:spcBef>
                        <a:spcAft>
                          <a:spcPts val="0"/>
                        </a:spcAft>
                        <a:buNone/>
                      </a:pPr>
                    </a:p>
                  </a:txBody>
                  <a:tcPr marL="68575" marR="68575" marT="0" marB="0" anchor="ctr">
                    <a:noFill/>
                  </a:tcPr>
                </a:tc>
                <a:tc>
                  <a:txBody>
                    <a:bodyPr/>
                    <a:lstStyle/>
                    <a:p>
                      <a:pPr marL="0" marR="0" lvl="0" indent="0" algn="l" rtl="0">
                        <a:lnSpc>
                          <a:spcPct val="107000"/>
                        </a:lnSpc>
                        <a:spcBef>
                          <a:spcPts val="0"/>
                        </a:spcBef>
                        <a:spcAft>
                          <a:spcPts val="0"/>
                        </a:spcAft>
                        <a:buNone/>
                      </a:pPr>
                      <a:endParaRPr dirty="0"/>
                    </a:p>
                  </a:txBody>
                  <a:tcPr marL="68575" marR="68575" marT="0" marB="0" anchor="ctr">
                    <a:noFill/>
                  </a:tcPr>
                </a:tc>
                <a:tc>
                  <a:txBody>
                    <a:bodyPr/>
                    <a:lstStyle/>
                    <a:p>
                      <a:pPr marL="0" marR="0" lvl="0" indent="0" algn="l" rtl="0">
                        <a:lnSpc>
                          <a:spcPct val="107000"/>
                        </a:lnSpc>
                        <a:spcBef>
                          <a:spcPts val="0"/>
                        </a:spcBef>
                        <a:spcAft>
                          <a:spcPts val="0"/>
                        </a:spcAft>
                        <a:buNone/>
                      </a:pPr>
                      <a:endParaRPr sz="1000"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l" rtl="0">
                        <a:lnSpc>
                          <a:spcPct val="107000"/>
                        </a:lnSpc>
                        <a:spcBef>
                          <a:spcPts val="0"/>
                        </a:spcBef>
                        <a:spcAft>
                          <a:spcPts val="0"/>
                        </a:spcAft>
                        <a:buNone/>
                      </a:pPr>
                      <a:endParaRPr dirty="0"/>
                    </a:p>
                  </a:txBody>
                  <a:tcPr marL="68575" marR="68575" marT="0" marB="0" anchor="ctr">
                    <a:noFill/>
                  </a:tcPr>
                </a:tc>
                <a:tc>
                  <a:txBody>
                    <a:bodyPr/>
                    <a:lstStyle/>
                    <a:p>
                      <a:pPr marL="0" marR="0" lvl="0" indent="0" algn="l" rtl="0">
                        <a:lnSpc>
                          <a:spcPct val="107000"/>
                        </a:lnSpc>
                        <a:spcBef>
                          <a:spcPts val="0"/>
                        </a:spcBef>
                        <a:spcAft>
                          <a:spcPts val="0"/>
                        </a:spcAft>
                        <a:buNone/>
                      </a:pPr>
                      <a:endParaRPr dirty="0"/>
                    </a:p>
                  </a:txBody>
                  <a:tcPr marL="68575" marR="68575" marT="0" marB="0" anchor="ctr">
                    <a:noFill/>
                  </a:tcPr>
                </a:tc>
              </a:tr>
            </a:tbl>
          </a:graphicData>
        </a:graphic>
      </p:graphicFrame>
      <p:pic>
        <p:nvPicPr>
          <p:cNvPr id="3" name="Picture 2"/>
          <p:cNvPicPr>
            <a:picLocks noChangeAspect="1"/>
          </p:cNvPicPr>
          <p:nvPr/>
        </p:nvPicPr>
        <p:blipFill>
          <a:blip r:embed="rId1"/>
          <a:stretch>
            <a:fillRect/>
          </a:stretch>
        </p:blipFill>
        <p:spPr>
          <a:xfrm>
            <a:off x="165100" y="672465"/>
            <a:ext cx="8731885" cy="43618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7"/>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Existing Approaches (Literature Survey) </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72" name="Google Shape;72;p7"/>
          <p:cNvGraphicFramePr/>
          <p:nvPr/>
        </p:nvGraphicFramePr>
        <p:xfrm>
          <a:off x="248285" y="781685"/>
          <a:ext cx="8540100" cy="4289450"/>
        </p:xfrm>
        <a:graphic>
          <a:graphicData uri="http://schemas.openxmlformats.org/drawingml/2006/table">
            <a:tbl>
              <a:tblPr firstRow="1" firstCol="1" bandRow="1">
                <a:noFill/>
                <a:tableStyleId>{8DE1654A-0BA3-479A-900E-4C6F7BCA4BD3}</a:tableStyleId>
              </a:tblPr>
              <a:tblGrid>
                <a:gridCol w="470525"/>
                <a:gridCol w="1878325"/>
                <a:gridCol w="1275075"/>
                <a:gridCol w="1732275"/>
                <a:gridCol w="1746250"/>
                <a:gridCol w="1437650"/>
              </a:tblGrid>
              <a:tr h="475625">
                <a:tc>
                  <a:txBody>
                    <a:bodyPr/>
                    <a:lstStyle/>
                    <a:p>
                      <a:pPr marL="0" marR="0" lvl="0" indent="0" algn="ctr" rtl="0">
                        <a:lnSpc>
                          <a:spcPct val="107000"/>
                        </a:lnSpc>
                        <a:spcBef>
                          <a:spcPts val="0"/>
                        </a:spcBef>
                        <a:spcAft>
                          <a:spcPts val="0"/>
                        </a:spcAft>
                        <a:buNone/>
                      </a:pPr>
                      <a:r>
                        <a:rPr lang="en-US" sz="1200" u="none" strike="noStrike" cap="none">
                          <a:latin typeface="Times New Roman" panose="02020603050405020304"/>
                          <a:ea typeface="Times New Roman" panose="02020603050405020304"/>
                          <a:cs typeface="Times New Roman" panose="02020603050405020304"/>
                          <a:sym typeface="Times New Roman" panose="02020603050405020304"/>
                        </a:rPr>
                        <a:t>Ref. No.</a:t>
                      </a: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r>
                        <a:rPr lang="en-US" sz="1200" u="none" strike="noStrike" cap="none">
                          <a:latin typeface="Times New Roman" panose="02020603050405020304"/>
                          <a:ea typeface="Times New Roman" panose="02020603050405020304"/>
                          <a:cs typeface="Times New Roman" panose="02020603050405020304"/>
                          <a:sym typeface="Times New Roman" panose="02020603050405020304"/>
                        </a:rPr>
                        <a:t>Methodology Adopted</a:t>
                      </a: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r>
                        <a:rPr lang="en-US" sz="1200" u="none" strike="noStrike" cap="none">
                          <a:latin typeface="Times New Roman" panose="02020603050405020304"/>
                          <a:ea typeface="Times New Roman" panose="02020603050405020304"/>
                          <a:cs typeface="Times New Roman" panose="02020603050405020304"/>
                          <a:sym typeface="Times New Roman" panose="02020603050405020304"/>
                        </a:rPr>
                        <a:t>Dataset Name</a:t>
                      </a: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r>
                        <a:rPr lang="en-US" sz="1200" u="none" strike="noStrike" cap="none">
                          <a:latin typeface="Times New Roman" panose="02020603050405020304"/>
                          <a:ea typeface="Times New Roman" panose="02020603050405020304"/>
                          <a:cs typeface="Times New Roman" panose="02020603050405020304"/>
                          <a:sym typeface="Times New Roman" panose="02020603050405020304"/>
                        </a:rPr>
                        <a:t>Advantage / Significance</a:t>
                      </a: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r>
                        <a:rPr lang="en-US" sz="1200" u="none" strike="noStrike" cap="none">
                          <a:latin typeface="Times New Roman" panose="02020603050405020304"/>
                          <a:ea typeface="Times New Roman" panose="02020603050405020304"/>
                          <a:cs typeface="Times New Roman" panose="02020603050405020304"/>
                          <a:sym typeface="Times New Roman" panose="02020603050405020304"/>
                        </a:rPr>
                        <a:t>Drawbacks / Limitations</a:t>
                      </a: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r>
                        <a:rPr lang="en-US" sz="1200" u="none" strike="noStrike" cap="none">
                          <a:latin typeface="Times New Roman" panose="02020603050405020304"/>
                          <a:ea typeface="Times New Roman" panose="02020603050405020304"/>
                          <a:cs typeface="Times New Roman" panose="02020603050405020304"/>
                          <a:sym typeface="Times New Roman" panose="02020603050405020304"/>
                        </a:rPr>
                        <a:t>Results / Accuracy</a:t>
                      </a: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r>
              <a:tr h="1844050">
                <a:tc>
                  <a:txBody>
                    <a:bodyPr/>
                    <a:lstStyle/>
                    <a:p>
                      <a:pPr marL="0" marR="0" lvl="0" indent="0" algn="ctr" rtl="0">
                        <a:lnSpc>
                          <a:spcPct val="107000"/>
                        </a:lnSpc>
                        <a:spcBef>
                          <a:spcPts val="0"/>
                        </a:spcBef>
                        <a:spcAft>
                          <a:spcPts val="0"/>
                        </a:spcAft>
                        <a:buClr>
                          <a:srgbClr val="000000"/>
                        </a:buClr>
                        <a:buSzPts val="1200"/>
                        <a:buFont typeface="Arial" panose="020B0604020202020204"/>
                        <a:buNone/>
                      </a:pPr>
                      <a:r>
                        <a:rPr lang="en-US" sz="1200" u="none" strike="noStrike" cap="none">
                          <a:latin typeface="Times New Roman" panose="02020603050405020304"/>
                          <a:ea typeface="Times New Roman" panose="02020603050405020304"/>
                          <a:cs typeface="Times New Roman" panose="02020603050405020304"/>
                          <a:sym typeface="Times New Roman" panose="02020603050405020304"/>
                        </a:rPr>
                        <a:t>[7]</a:t>
                      </a: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l" rtl="0">
                        <a:lnSpc>
                          <a:spcPct val="100000"/>
                        </a:lnSpc>
                        <a:spcBef>
                          <a:spcPts val="0"/>
                        </a:spcBef>
                        <a:spcAft>
                          <a:spcPts val="0"/>
                        </a:spcAft>
                        <a:buNone/>
                      </a:pPr>
                      <a:endParaRPr dirty="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noFill/>
                  </a:tcPr>
                </a:tc>
                <a:tc>
                  <a:txBody>
                    <a:bodyPr/>
                    <a:lstStyle/>
                    <a:p>
                      <a:pPr marL="0" marR="0" lvl="0" indent="0" algn="l" rtl="0">
                        <a:lnSpc>
                          <a:spcPct val="107000"/>
                        </a:lnSpc>
                        <a:spcBef>
                          <a:spcPts val="0"/>
                        </a:spcBef>
                        <a:spcAft>
                          <a:spcPts val="0"/>
                        </a:spcAft>
                        <a:buNone/>
                      </a:pPr>
                    </a:p>
                  </a:txBody>
                  <a:tcPr marL="68575" marR="68575" marT="0" marB="0" anchor="ctr">
                    <a:noFill/>
                  </a:tcPr>
                </a:tc>
                <a:tc>
                  <a:txBody>
                    <a:bodyPr/>
                    <a:lstStyle/>
                    <a:p>
                      <a:pPr marL="0" marR="0" lvl="0" indent="0" algn="l" rtl="0">
                        <a:lnSpc>
                          <a:spcPct val="107000"/>
                        </a:lnSpc>
                        <a:spcBef>
                          <a:spcPts val="0"/>
                        </a:spcBef>
                        <a:spcAft>
                          <a:spcPts val="0"/>
                        </a:spcAft>
                        <a:buNone/>
                      </a:pPr>
                    </a:p>
                  </a:txBody>
                  <a:tcPr marL="68575" marR="68575" marT="0" marB="0" anchor="ctr">
                    <a:noFill/>
                  </a:tcPr>
                </a:tc>
                <a:tc>
                  <a:txBody>
                    <a:bodyPr/>
                    <a:lstStyle/>
                    <a:p>
                      <a:pPr marL="0" marR="0" lvl="0" indent="0" algn="l" rtl="0">
                        <a:lnSpc>
                          <a:spcPct val="107000"/>
                        </a:lnSpc>
                        <a:spcBef>
                          <a:spcPts val="0"/>
                        </a:spcBef>
                        <a:spcAft>
                          <a:spcPts val="0"/>
                        </a:spcAft>
                        <a:buNone/>
                      </a:pPr>
                    </a:p>
                  </a:txBody>
                  <a:tcPr marL="68575" marR="68575" marT="0" marB="0" anchor="ctr">
                    <a:noFill/>
                  </a:tcPr>
                </a:tc>
                <a:tc>
                  <a:txBody>
                    <a:bodyPr/>
                    <a:lstStyle/>
                    <a:p>
                      <a:pPr marL="0" marR="0" lvl="0" indent="0" algn="l" rtl="0">
                        <a:lnSpc>
                          <a:spcPct val="107000"/>
                        </a:lnSpc>
                        <a:spcBef>
                          <a:spcPts val="0"/>
                        </a:spcBef>
                        <a:spcAft>
                          <a:spcPts val="0"/>
                        </a:spcAft>
                        <a:buNone/>
                      </a:pPr>
                    </a:p>
                  </a:txBody>
                  <a:tcPr marL="68575" marR="68575" marT="0" marB="0" anchor="ctr">
                    <a:noFill/>
                  </a:tcPr>
                </a:tc>
              </a:tr>
              <a:tr h="1969775">
                <a:tc>
                  <a:txBody>
                    <a:bodyPr/>
                    <a:lstStyle/>
                    <a:p>
                      <a:pPr marL="0" marR="0" lvl="0" indent="0" algn="ctr" rtl="0">
                        <a:lnSpc>
                          <a:spcPct val="107000"/>
                        </a:lnSpc>
                        <a:spcBef>
                          <a:spcPts val="0"/>
                        </a:spcBef>
                        <a:spcAft>
                          <a:spcPts val="0"/>
                        </a:spcAft>
                        <a:buClr>
                          <a:srgbClr val="000000"/>
                        </a:buClr>
                        <a:buSzPts val="1100"/>
                        <a:buFont typeface="Arial" panose="020B0604020202020204"/>
                        <a:buNone/>
                      </a:pPr>
                      <a:r>
                        <a:rPr lang="en-US" sz="1100" u="none" strike="noStrike" cap="none">
                          <a:latin typeface="Times New Roman" panose="02020603050405020304"/>
                          <a:ea typeface="Times New Roman" panose="02020603050405020304"/>
                          <a:cs typeface="Times New Roman" panose="02020603050405020304"/>
                          <a:sym typeface="Times New Roman" panose="02020603050405020304"/>
                        </a:rPr>
                        <a:t>[8]</a:t>
                      </a: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l" rtl="0">
                        <a:lnSpc>
                          <a:spcPct val="100000"/>
                        </a:lnSpc>
                        <a:spcBef>
                          <a:spcPts val="0"/>
                        </a:spcBef>
                        <a:spcAft>
                          <a:spcPts val="0"/>
                        </a:spcAft>
                        <a:buNone/>
                      </a:pPr>
                    </a:p>
                  </a:txBody>
                  <a:tcPr marL="0" marR="0" marT="0" marB="0" anchor="ctr">
                    <a:noFill/>
                  </a:tcPr>
                </a:tc>
                <a:tc>
                  <a:txBody>
                    <a:bodyPr/>
                    <a:lstStyle/>
                    <a:p>
                      <a:pPr marL="0" marR="0" lvl="0" indent="0" algn="l" rtl="0">
                        <a:lnSpc>
                          <a:spcPct val="107000"/>
                        </a:lnSpc>
                        <a:spcBef>
                          <a:spcPts val="0"/>
                        </a:spcBef>
                        <a:spcAft>
                          <a:spcPts val="0"/>
                        </a:spcAft>
                        <a:buNone/>
                      </a:pPr>
                      <a:endParaRPr dirty="0"/>
                    </a:p>
                  </a:txBody>
                  <a:tcPr marL="68575" marR="68575" marT="0" marB="0" anchor="ctr">
                    <a:noFill/>
                  </a:tcPr>
                </a:tc>
                <a:tc>
                  <a:txBody>
                    <a:bodyPr/>
                    <a:lstStyle/>
                    <a:p>
                      <a:pPr marL="0" marR="0" lvl="0" indent="0" algn="l" rtl="0">
                        <a:lnSpc>
                          <a:spcPct val="107000"/>
                        </a:lnSpc>
                        <a:spcBef>
                          <a:spcPts val="0"/>
                        </a:spcBef>
                        <a:spcAft>
                          <a:spcPts val="0"/>
                        </a:spcAft>
                        <a:buNone/>
                      </a:pPr>
                      <a:endParaRPr dirty="0"/>
                    </a:p>
                  </a:txBody>
                  <a:tcPr marL="68575" marR="68575" marT="0" marB="0" anchor="ctr">
                    <a:noFill/>
                  </a:tcPr>
                </a:tc>
                <a:tc>
                  <a:txBody>
                    <a:bodyPr/>
                    <a:lstStyle/>
                    <a:p>
                      <a:pPr marL="0" marR="0" lvl="0" indent="0" algn="l" rtl="0">
                        <a:lnSpc>
                          <a:spcPct val="107000"/>
                        </a:lnSpc>
                        <a:spcBef>
                          <a:spcPts val="0"/>
                        </a:spcBef>
                        <a:spcAft>
                          <a:spcPts val="0"/>
                        </a:spcAft>
                        <a:buNone/>
                      </a:pPr>
                      <a:endParaRPr dirty="0"/>
                    </a:p>
                  </a:txBody>
                  <a:tcPr marL="68575" marR="68575" marT="0" marB="0" anchor="ctr">
                    <a:noFill/>
                  </a:tcPr>
                </a:tc>
                <a:tc>
                  <a:txBody>
                    <a:bodyPr/>
                    <a:lstStyle/>
                    <a:p>
                      <a:pPr marL="0" marR="0" lvl="0" indent="0" algn="l" rtl="0">
                        <a:lnSpc>
                          <a:spcPct val="107000"/>
                        </a:lnSpc>
                        <a:spcBef>
                          <a:spcPts val="0"/>
                        </a:spcBef>
                        <a:spcAft>
                          <a:spcPts val="0"/>
                        </a:spcAft>
                        <a:buNone/>
                      </a:pPr>
                      <a:endParaRPr dirty="0"/>
                    </a:p>
                  </a:txBody>
                  <a:tcPr marL="68575" marR="68575" marT="0" marB="0" anchor="ctr">
                    <a:noFill/>
                  </a:tcPr>
                </a:tc>
              </a:tr>
            </a:tbl>
          </a:graphicData>
        </a:graphic>
      </p:graphicFrame>
      <p:pic>
        <p:nvPicPr>
          <p:cNvPr id="3" name="Picture 2"/>
          <p:cNvPicPr>
            <a:picLocks noChangeAspect="1"/>
          </p:cNvPicPr>
          <p:nvPr/>
        </p:nvPicPr>
        <p:blipFill>
          <a:blip r:embed="rId1"/>
          <a:stretch>
            <a:fillRect/>
          </a:stretch>
        </p:blipFill>
        <p:spPr>
          <a:xfrm>
            <a:off x="134620" y="735965"/>
            <a:ext cx="8860155" cy="4343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8"/>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Existing Approaches (Literature Survey) </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78" name="Google Shape;78;p8"/>
          <p:cNvGraphicFramePr/>
          <p:nvPr/>
        </p:nvGraphicFramePr>
        <p:xfrm>
          <a:off x="248575" y="781921"/>
          <a:ext cx="8540325" cy="3994275"/>
        </p:xfrm>
        <a:graphic>
          <a:graphicData uri="http://schemas.openxmlformats.org/drawingml/2006/table">
            <a:tbl>
              <a:tblPr firstRow="1" firstCol="1" bandRow="1">
                <a:noFill/>
                <a:tableStyleId>{8DE1654A-0BA3-479A-900E-4C6F7BCA4BD3}</a:tableStyleId>
              </a:tblPr>
              <a:tblGrid>
                <a:gridCol w="470525"/>
                <a:gridCol w="1878600"/>
                <a:gridCol w="1274650"/>
                <a:gridCol w="1732400"/>
                <a:gridCol w="1746500"/>
                <a:gridCol w="1437650"/>
              </a:tblGrid>
              <a:tr h="479775">
                <a:tc>
                  <a:txBody>
                    <a:bodyPr/>
                    <a:lstStyle/>
                    <a:p>
                      <a:pPr marL="0" marR="0" lvl="0" indent="0" algn="ctr" rtl="0">
                        <a:lnSpc>
                          <a:spcPct val="107000"/>
                        </a:lnSpc>
                        <a:spcBef>
                          <a:spcPts val="0"/>
                        </a:spcBef>
                        <a:spcAft>
                          <a:spcPts val="0"/>
                        </a:spcAft>
                        <a:buNone/>
                      </a:pPr>
                      <a:endParaRPr sz="11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r>
              <a:tr h="1757250">
                <a:tc>
                  <a:txBody>
                    <a:bodyPr/>
                    <a:lstStyle/>
                    <a:p>
                      <a:pPr marL="0" marR="0" lvl="0" indent="0" algn="ctr" rtl="0">
                        <a:lnSpc>
                          <a:spcPct val="107000"/>
                        </a:lnSpc>
                        <a:spcBef>
                          <a:spcPts val="0"/>
                        </a:spcBef>
                        <a:spcAft>
                          <a:spcPts val="0"/>
                        </a:spcAft>
                        <a:buClr>
                          <a:srgbClr val="000000"/>
                        </a:buClr>
                        <a:buSzPts val="1200"/>
                        <a:buFont typeface="Arial" panose="020B0604020202020204"/>
                        <a:buNone/>
                      </a:pP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l" rtl="0">
                        <a:lnSpc>
                          <a:spcPct val="107000"/>
                        </a:lnSpc>
                        <a:spcBef>
                          <a:spcPts val="0"/>
                        </a:spcBef>
                        <a:spcAft>
                          <a:spcPts val="0"/>
                        </a:spcAft>
                        <a:buNone/>
                      </a:pPr>
                      <a:endParaRPr dirty="0"/>
                    </a:p>
                  </a:txBody>
                  <a:tcPr marL="68575" marR="68575" marT="0" marB="0" anchor="ctr">
                    <a:noFill/>
                  </a:tcPr>
                </a:tc>
                <a:tc>
                  <a:txBody>
                    <a:bodyPr/>
                    <a:lstStyle/>
                    <a:p>
                      <a:pPr marL="0" marR="0" lvl="0" indent="0" algn="l" rtl="0">
                        <a:lnSpc>
                          <a:spcPct val="107000"/>
                        </a:lnSpc>
                        <a:spcBef>
                          <a:spcPts val="0"/>
                        </a:spcBef>
                        <a:spcAft>
                          <a:spcPts val="0"/>
                        </a:spcAft>
                        <a:buNone/>
                      </a:pPr>
                      <a:endParaRPr sz="11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l" rtl="0">
                        <a:lnSpc>
                          <a:spcPct val="100000"/>
                        </a:lnSpc>
                        <a:spcBef>
                          <a:spcPts val="0"/>
                        </a:spcBef>
                        <a:spcAft>
                          <a:spcPts val="0"/>
                        </a:spcAft>
                        <a:buNone/>
                      </a:pPr>
                    </a:p>
                  </a:txBody>
                  <a:tcPr marL="0" marR="0" marT="0" marB="0" anchor="ctr">
                    <a:noFill/>
                  </a:tcPr>
                </a:tc>
                <a:tc>
                  <a:txBody>
                    <a:bodyPr/>
                    <a:lstStyle/>
                    <a:p>
                      <a:pPr marL="0" marR="0" lvl="0" indent="0" algn="l" rtl="0">
                        <a:lnSpc>
                          <a:spcPct val="100000"/>
                        </a:lnSpc>
                        <a:spcBef>
                          <a:spcPts val="0"/>
                        </a:spcBef>
                        <a:spcAft>
                          <a:spcPts val="0"/>
                        </a:spcAft>
                        <a:buNone/>
                      </a:pPr>
                      <a:endParaRPr dirty="0"/>
                    </a:p>
                  </a:txBody>
                  <a:tcPr marL="0" marR="0" marT="0" marB="0" anchor="ctr">
                    <a:noFill/>
                  </a:tcPr>
                </a:tc>
                <a:tc>
                  <a:txBody>
                    <a:bodyPr/>
                    <a:lstStyle/>
                    <a:p>
                      <a:pPr marL="0" marR="0" lvl="0" indent="0" algn="l" rtl="0">
                        <a:lnSpc>
                          <a:spcPct val="107000"/>
                        </a:lnSpc>
                        <a:spcBef>
                          <a:spcPts val="0"/>
                        </a:spcBef>
                        <a:spcAft>
                          <a:spcPts val="0"/>
                        </a:spcAft>
                        <a:buNone/>
                      </a:pPr>
                      <a:endParaRPr sz="11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r>
              <a:tr h="1757250">
                <a:tc>
                  <a:txBody>
                    <a:bodyPr/>
                    <a:lstStyle/>
                    <a:p>
                      <a:pPr marL="0" marR="0" lvl="0" indent="0" algn="ctr" rtl="0">
                        <a:lnSpc>
                          <a:spcPct val="107000"/>
                        </a:lnSpc>
                        <a:spcBef>
                          <a:spcPts val="0"/>
                        </a:spcBef>
                        <a:spcAft>
                          <a:spcPts val="0"/>
                        </a:spcAft>
                        <a:buClr>
                          <a:srgbClr val="000000"/>
                        </a:buClr>
                        <a:buSzPts val="1100"/>
                        <a:buFont typeface="Arial" panose="020B0604020202020204"/>
                        <a:buNone/>
                      </a:pP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l" rtl="0">
                        <a:lnSpc>
                          <a:spcPct val="100000"/>
                        </a:lnSpc>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noFill/>
                  </a:tcPr>
                </a:tc>
                <a:tc>
                  <a:txBody>
                    <a:bodyPr/>
                    <a:lstStyle/>
                    <a:p>
                      <a:pPr marL="0" marR="0" lvl="0" indent="0" algn="l" rtl="0">
                        <a:lnSpc>
                          <a:spcPct val="100000"/>
                        </a:lnSpc>
                        <a:spcBef>
                          <a:spcPts val="0"/>
                        </a:spcBef>
                        <a:spcAft>
                          <a:spcPts val="0"/>
                        </a:spcAft>
                        <a:buNone/>
                      </a:pPr>
                      <a:endParaRPr dirty="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noFill/>
                  </a:tcPr>
                </a:tc>
                <a:tc>
                  <a:txBody>
                    <a:bodyPr/>
                    <a:lstStyle/>
                    <a:p>
                      <a:pPr marL="0" marR="0" lvl="0" indent="0" algn="l" rtl="0">
                        <a:lnSpc>
                          <a:spcPct val="100000"/>
                        </a:lnSpc>
                        <a:spcBef>
                          <a:spcPts val="0"/>
                        </a:spcBef>
                        <a:spcAft>
                          <a:spcPts val="0"/>
                        </a:spcAft>
                        <a:buNone/>
                      </a:pPr>
                      <a:endParaRPr dirty="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noFill/>
                  </a:tcPr>
                </a:tc>
                <a:tc>
                  <a:txBody>
                    <a:bodyPr/>
                    <a:lstStyle/>
                    <a:p>
                      <a:pPr marL="0" marR="0" lvl="0" indent="0" algn="l" rtl="0">
                        <a:lnSpc>
                          <a:spcPct val="100000"/>
                        </a:lnSpc>
                        <a:spcBef>
                          <a:spcPts val="0"/>
                        </a:spcBef>
                        <a:spcAft>
                          <a:spcPts val="0"/>
                        </a:spcAft>
                        <a:buNone/>
                      </a:pPr>
                      <a:endParaRPr dirty="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noFill/>
                  </a:tcPr>
                </a:tc>
                <a:tc>
                  <a:txBody>
                    <a:bodyPr/>
                    <a:lstStyle/>
                    <a:p>
                      <a:pPr marL="0" marR="0" lvl="0" indent="0" algn="l" rtl="0">
                        <a:lnSpc>
                          <a:spcPct val="107000"/>
                        </a:lnSpc>
                        <a:spcBef>
                          <a:spcPts val="0"/>
                        </a:spcBef>
                        <a:spcAft>
                          <a:spcPts val="0"/>
                        </a:spcAft>
                        <a:buNone/>
                      </a:pPr>
                      <a:endParaRPr sz="11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r>
            </a:tbl>
          </a:graphicData>
        </a:graphic>
      </p:graphicFrame>
      <p:pic>
        <p:nvPicPr>
          <p:cNvPr id="3" name="Picture 2"/>
          <p:cNvPicPr>
            <a:picLocks noChangeAspect="1"/>
          </p:cNvPicPr>
          <p:nvPr/>
        </p:nvPicPr>
        <p:blipFill>
          <a:blip r:embed="rId1"/>
          <a:stretch>
            <a:fillRect/>
          </a:stretch>
        </p:blipFill>
        <p:spPr>
          <a:xfrm>
            <a:off x="189230" y="662305"/>
            <a:ext cx="8775065" cy="43472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9"/>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Existing Approaches (Literature Survey) </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84" name="Google Shape;84;p9"/>
          <p:cNvGraphicFramePr/>
          <p:nvPr/>
        </p:nvGraphicFramePr>
        <p:xfrm>
          <a:off x="248575" y="781921"/>
          <a:ext cx="8540325" cy="479775"/>
        </p:xfrm>
        <a:graphic>
          <a:graphicData uri="http://schemas.openxmlformats.org/drawingml/2006/table">
            <a:tbl>
              <a:tblPr firstRow="1" firstCol="1" bandRow="1">
                <a:noFill/>
                <a:tableStyleId>{8DE1654A-0BA3-479A-900E-4C6F7BCA4BD3}</a:tableStyleId>
              </a:tblPr>
              <a:tblGrid>
                <a:gridCol w="470525"/>
                <a:gridCol w="1878600"/>
                <a:gridCol w="1274650"/>
                <a:gridCol w="1732400"/>
                <a:gridCol w="1746500"/>
                <a:gridCol w="1437650"/>
              </a:tblGrid>
              <a:tr h="479775">
                <a:tc>
                  <a:txBody>
                    <a:bodyPr/>
                    <a:lstStyle/>
                    <a:p>
                      <a:pPr marL="0" marR="0" lvl="0" indent="0" algn="ctr" rtl="0">
                        <a:lnSpc>
                          <a:spcPct val="107000"/>
                        </a:lnSpc>
                        <a:spcBef>
                          <a:spcPts val="0"/>
                        </a:spcBef>
                        <a:spcAft>
                          <a:spcPts val="0"/>
                        </a:spcAft>
                        <a:buNone/>
                      </a:pPr>
                      <a:r>
                        <a:rPr lang="en-US" sz="1200" u="none" strike="noStrike" cap="none" dirty="0">
                          <a:latin typeface="Times New Roman" panose="02020603050405020304"/>
                          <a:ea typeface="Times New Roman" panose="02020603050405020304"/>
                          <a:cs typeface="Times New Roman" panose="02020603050405020304"/>
                          <a:sym typeface="Times New Roman" panose="02020603050405020304"/>
                        </a:rPr>
                        <a:t>Ref. No.</a:t>
                      </a:r>
                      <a:endParaRPr sz="11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r>
                        <a:rPr lang="en-US" sz="1200" u="none" strike="noStrike" cap="none">
                          <a:latin typeface="Times New Roman" panose="02020603050405020304"/>
                          <a:ea typeface="Times New Roman" panose="02020603050405020304"/>
                          <a:cs typeface="Times New Roman" panose="02020603050405020304"/>
                          <a:sym typeface="Times New Roman" panose="02020603050405020304"/>
                        </a:rPr>
                        <a:t>Methodology Adopted</a:t>
                      </a: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r>
                        <a:rPr lang="en-US" sz="1200" u="none" strike="noStrike" cap="none">
                          <a:latin typeface="Times New Roman" panose="02020603050405020304"/>
                          <a:ea typeface="Times New Roman" panose="02020603050405020304"/>
                          <a:cs typeface="Times New Roman" panose="02020603050405020304"/>
                          <a:sym typeface="Times New Roman" panose="02020603050405020304"/>
                        </a:rPr>
                        <a:t>Dataset Name</a:t>
                      </a: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r>
                        <a:rPr lang="en-US" sz="1200" u="none" strike="noStrike" cap="none">
                          <a:latin typeface="Times New Roman" panose="02020603050405020304"/>
                          <a:ea typeface="Times New Roman" panose="02020603050405020304"/>
                          <a:cs typeface="Times New Roman" panose="02020603050405020304"/>
                          <a:sym typeface="Times New Roman" panose="02020603050405020304"/>
                        </a:rPr>
                        <a:t>Advantage / Significance</a:t>
                      </a: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r>
                        <a:rPr lang="en-US" sz="1200" u="none" strike="noStrike" cap="none">
                          <a:latin typeface="Times New Roman" panose="02020603050405020304"/>
                          <a:ea typeface="Times New Roman" panose="02020603050405020304"/>
                          <a:cs typeface="Times New Roman" panose="02020603050405020304"/>
                          <a:sym typeface="Times New Roman" panose="02020603050405020304"/>
                        </a:rPr>
                        <a:t>Drawbacks / Limitations</a:t>
                      </a: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r>
                        <a:rPr lang="en-US" sz="1200" u="none" strike="noStrike" cap="none" dirty="0">
                          <a:latin typeface="Times New Roman" panose="02020603050405020304"/>
                          <a:ea typeface="Times New Roman" panose="02020603050405020304"/>
                          <a:cs typeface="Times New Roman" panose="02020603050405020304"/>
                          <a:sym typeface="Times New Roman" panose="02020603050405020304"/>
                        </a:rPr>
                        <a:t>Results / Accuracy</a:t>
                      </a:r>
                      <a:endParaRPr sz="11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r>
            </a:tbl>
          </a:graphicData>
        </a:graphic>
      </p:graphicFrame>
      <p:pic>
        <p:nvPicPr>
          <p:cNvPr id="3" name="Picture 2"/>
          <p:cNvPicPr>
            <a:picLocks noChangeAspect="1"/>
          </p:cNvPicPr>
          <p:nvPr/>
        </p:nvPicPr>
        <p:blipFill>
          <a:blip r:embed="rId1"/>
          <a:stretch>
            <a:fillRect/>
          </a:stretch>
        </p:blipFill>
        <p:spPr>
          <a:xfrm>
            <a:off x="132080" y="695325"/>
            <a:ext cx="8789670" cy="42729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0"/>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Existing Approaches (Literature Survey) </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90" name="Google Shape;90;p10"/>
          <p:cNvGraphicFramePr/>
          <p:nvPr/>
        </p:nvGraphicFramePr>
        <p:xfrm>
          <a:off x="248575" y="781921"/>
          <a:ext cx="470525" cy="479775"/>
        </p:xfrm>
        <a:graphic>
          <a:graphicData uri="http://schemas.openxmlformats.org/drawingml/2006/table">
            <a:tbl>
              <a:tblPr firstRow="1" firstCol="1" bandRow="1">
                <a:noFill/>
                <a:tableStyleId>{8DE1654A-0BA3-479A-900E-4C6F7BCA4BD3}</a:tableStyleId>
              </a:tblPr>
              <a:tblGrid>
                <a:gridCol w="470525"/>
              </a:tblGrid>
              <a:tr h="479775">
                <a:tc>
                  <a:txBody>
                    <a:bodyPr/>
                    <a:lstStyle/>
                    <a:p>
                      <a:pPr marL="0" marR="0" lvl="0" indent="0" algn="ctr" rtl="0">
                        <a:lnSpc>
                          <a:spcPct val="107000"/>
                        </a:lnSpc>
                        <a:spcBef>
                          <a:spcPts val="0"/>
                        </a:spcBef>
                        <a:spcAft>
                          <a:spcPts val="0"/>
                        </a:spcAft>
                        <a:buNone/>
                      </a:pPr>
                      <a:endParaRPr sz="11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r>
            </a:tbl>
          </a:graphicData>
        </a:graphic>
      </p:graphicFrame>
      <p:pic>
        <p:nvPicPr>
          <p:cNvPr id="3" name="Picture 2"/>
          <p:cNvPicPr>
            <a:picLocks noChangeAspect="1"/>
          </p:cNvPicPr>
          <p:nvPr/>
        </p:nvPicPr>
        <p:blipFill>
          <a:blip r:embed="rId1"/>
          <a:stretch>
            <a:fillRect/>
          </a:stretch>
        </p:blipFill>
        <p:spPr>
          <a:xfrm>
            <a:off x="181610" y="670560"/>
            <a:ext cx="8721090" cy="431927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1"/>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Existing Approaches (Literature Survey) </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96" name="Google Shape;96;p11"/>
          <p:cNvGraphicFramePr/>
          <p:nvPr/>
        </p:nvGraphicFramePr>
        <p:xfrm>
          <a:off x="248575" y="781921"/>
          <a:ext cx="8540325" cy="479775"/>
        </p:xfrm>
        <a:graphic>
          <a:graphicData uri="http://schemas.openxmlformats.org/drawingml/2006/table">
            <a:tbl>
              <a:tblPr firstRow="1" firstCol="1" bandRow="1">
                <a:noFill/>
                <a:tableStyleId>{8DE1654A-0BA3-479A-900E-4C6F7BCA4BD3}</a:tableStyleId>
              </a:tblPr>
              <a:tblGrid>
                <a:gridCol w="470525"/>
                <a:gridCol w="1878600"/>
                <a:gridCol w="1274650"/>
                <a:gridCol w="1732400"/>
                <a:gridCol w="1746500"/>
                <a:gridCol w="1437650"/>
              </a:tblGrid>
              <a:tr h="479775">
                <a:tc>
                  <a:txBody>
                    <a:bodyPr/>
                    <a:lstStyle/>
                    <a:p>
                      <a:pPr marL="0" marR="0" lvl="0" indent="0" algn="ctr" rtl="0">
                        <a:lnSpc>
                          <a:spcPct val="107000"/>
                        </a:lnSpc>
                        <a:spcBef>
                          <a:spcPts val="0"/>
                        </a:spcBef>
                        <a:spcAft>
                          <a:spcPts val="0"/>
                        </a:spcAft>
                        <a:buNone/>
                      </a:pPr>
                      <a:endParaRPr sz="11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endParaRPr sz="11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r>
            </a:tbl>
          </a:graphicData>
        </a:graphic>
      </p:graphicFrame>
      <p:pic>
        <p:nvPicPr>
          <p:cNvPr id="3" name="Picture 2"/>
          <p:cNvPicPr>
            <a:picLocks noChangeAspect="1"/>
          </p:cNvPicPr>
          <p:nvPr/>
        </p:nvPicPr>
        <p:blipFill>
          <a:blip r:embed="rId1"/>
          <a:stretch>
            <a:fillRect/>
          </a:stretch>
        </p:blipFill>
        <p:spPr>
          <a:xfrm>
            <a:off x="198120" y="643890"/>
            <a:ext cx="8733155" cy="430149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2"/>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Existing Approaches (Literature Survey) </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102" name="Google Shape;102;p12"/>
          <p:cNvGraphicFramePr/>
          <p:nvPr/>
        </p:nvGraphicFramePr>
        <p:xfrm>
          <a:off x="248575" y="781921"/>
          <a:ext cx="162550" cy="3994275"/>
        </p:xfrm>
        <a:graphic>
          <a:graphicData uri="http://schemas.openxmlformats.org/drawingml/2006/table">
            <a:tbl>
              <a:tblPr firstRow="1" firstCol="1" bandRow="1">
                <a:noFill/>
                <a:tableStyleId>{8DE1654A-0BA3-479A-900E-4C6F7BCA4BD3}</a:tableStyleId>
              </a:tblPr>
              <a:tblGrid>
                <a:gridCol w="162550"/>
              </a:tblGrid>
              <a:tr h="479775">
                <a:tc>
                  <a:txBody>
                    <a:bodyPr/>
                    <a:lstStyle/>
                    <a:p>
                      <a:pPr marL="0" marR="0" lvl="0" indent="0" algn="ctr" rtl="0">
                        <a:lnSpc>
                          <a:spcPct val="107000"/>
                        </a:lnSpc>
                        <a:spcBef>
                          <a:spcPts val="0"/>
                        </a:spcBef>
                        <a:spcAft>
                          <a:spcPts val="0"/>
                        </a:spcAft>
                        <a:buNone/>
                      </a:pPr>
                      <a:endParaRPr sz="11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r>
              <a:tr h="1757250">
                <a:tc>
                  <a:txBody>
                    <a:bodyPr/>
                    <a:lstStyle/>
                    <a:p>
                      <a:pPr marL="0" marR="0" lvl="0" indent="0" algn="ctr" rtl="0">
                        <a:lnSpc>
                          <a:spcPct val="107000"/>
                        </a:lnSpc>
                        <a:spcBef>
                          <a:spcPts val="0"/>
                        </a:spcBef>
                        <a:spcAft>
                          <a:spcPts val="0"/>
                        </a:spcAft>
                        <a:buClr>
                          <a:srgbClr val="000000"/>
                        </a:buClr>
                        <a:buSzPts val="1200"/>
                        <a:buFont typeface="Arial" panose="020B0604020202020204"/>
                        <a:buNone/>
                      </a:pPr>
                      <a:r>
                        <a:rPr lang="en-US" sz="1200" u="none" strike="noStrike" cap="none">
                          <a:latin typeface="Times New Roman" panose="02020603050405020304"/>
                          <a:ea typeface="Times New Roman" panose="02020603050405020304"/>
                          <a:cs typeface="Times New Roman" panose="02020603050405020304"/>
                          <a:sym typeface="Times New Roman" panose="02020603050405020304"/>
                        </a:rPr>
                        <a:t>[17]</a:t>
                      </a: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r>
              <a:tr h="1757250">
                <a:tc>
                  <a:txBody>
                    <a:bodyPr/>
                    <a:lstStyle/>
                    <a:p>
                      <a:pPr marL="0" marR="0" lvl="0" indent="0" algn="ctr" rtl="0">
                        <a:lnSpc>
                          <a:spcPct val="107000"/>
                        </a:lnSpc>
                        <a:spcBef>
                          <a:spcPts val="0"/>
                        </a:spcBef>
                        <a:spcAft>
                          <a:spcPts val="0"/>
                        </a:spcAft>
                        <a:buClr>
                          <a:srgbClr val="000000"/>
                        </a:buClr>
                        <a:buSzPts val="1100"/>
                        <a:buFont typeface="Arial" panose="020B0604020202020204"/>
                        <a:buNone/>
                      </a:pPr>
                      <a:r>
                        <a:rPr lang="en-US" sz="1100" u="none" strike="noStrike" cap="none" dirty="0">
                          <a:latin typeface="Times New Roman" panose="02020603050405020304"/>
                          <a:ea typeface="Times New Roman" panose="02020603050405020304"/>
                          <a:cs typeface="Times New Roman" panose="02020603050405020304"/>
                          <a:sym typeface="Times New Roman" panose="02020603050405020304"/>
                        </a:rPr>
                        <a:t>[18]</a:t>
                      </a:r>
                      <a:endParaRPr dirty="0"/>
                    </a:p>
                  </a:txBody>
                  <a:tcPr marL="68575" marR="68575" marT="0" marB="0" anchor="ctr">
                    <a:noFill/>
                  </a:tcPr>
                </a:tc>
              </a:tr>
            </a:tbl>
          </a:graphicData>
        </a:graphic>
      </p:graphicFrame>
      <p:pic>
        <p:nvPicPr>
          <p:cNvPr id="3" name="Picture 2"/>
          <p:cNvPicPr>
            <a:picLocks noChangeAspect="1"/>
          </p:cNvPicPr>
          <p:nvPr/>
        </p:nvPicPr>
        <p:blipFill>
          <a:blip r:embed="rId1"/>
          <a:stretch>
            <a:fillRect/>
          </a:stretch>
        </p:blipFill>
        <p:spPr>
          <a:xfrm>
            <a:off x="248285" y="714375"/>
            <a:ext cx="8648700" cy="42951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3"/>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Existing Approaches (Literature Survey) </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108" name="Google Shape;108;p13"/>
          <p:cNvGraphicFramePr/>
          <p:nvPr/>
        </p:nvGraphicFramePr>
        <p:xfrm>
          <a:off x="248575" y="781921"/>
          <a:ext cx="8540325" cy="3994275"/>
        </p:xfrm>
        <a:graphic>
          <a:graphicData uri="http://schemas.openxmlformats.org/drawingml/2006/table">
            <a:tbl>
              <a:tblPr firstRow="1" firstCol="1" bandRow="1">
                <a:noFill/>
                <a:tableStyleId>{8DE1654A-0BA3-479A-900E-4C6F7BCA4BD3}</a:tableStyleId>
              </a:tblPr>
              <a:tblGrid>
                <a:gridCol w="470525"/>
                <a:gridCol w="1878600"/>
                <a:gridCol w="1274650"/>
                <a:gridCol w="1732400"/>
                <a:gridCol w="1746500"/>
                <a:gridCol w="1437650"/>
              </a:tblGrid>
              <a:tr h="479775">
                <a:tc>
                  <a:txBody>
                    <a:bodyPr/>
                    <a:lstStyle/>
                    <a:p>
                      <a:pPr marL="0" marR="0" lvl="0" indent="0" algn="ctr" rtl="0">
                        <a:lnSpc>
                          <a:spcPct val="107000"/>
                        </a:lnSpc>
                        <a:spcBef>
                          <a:spcPts val="0"/>
                        </a:spcBef>
                        <a:spcAft>
                          <a:spcPts val="0"/>
                        </a:spcAft>
                        <a:buNone/>
                      </a:pPr>
                      <a:endParaRPr sz="11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r>
              <a:tr h="1757250">
                <a:tc>
                  <a:txBody>
                    <a:bodyPr/>
                    <a:lstStyle/>
                    <a:p>
                      <a:pPr marL="0" marR="0" lvl="0" indent="0" algn="ctr" rtl="0">
                        <a:lnSpc>
                          <a:spcPct val="107000"/>
                        </a:lnSpc>
                        <a:spcBef>
                          <a:spcPts val="0"/>
                        </a:spcBef>
                        <a:spcAft>
                          <a:spcPts val="0"/>
                        </a:spcAft>
                        <a:buClr>
                          <a:srgbClr val="000000"/>
                        </a:buClr>
                        <a:buSzPts val="1200"/>
                        <a:buFont typeface="Arial" panose="020B0604020202020204"/>
                        <a:buNone/>
                      </a:pP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lvl="0" indent="0" algn="l" rtl="0">
                        <a:spcBef>
                          <a:spcPts val="0"/>
                        </a:spcBef>
                        <a:spcAft>
                          <a:spcPts val="0"/>
                        </a:spcAft>
                        <a:buNone/>
                      </a:pPr>
                      <a:endParaRPr sz="11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noFill/>
                  </a:tcPr>
                </a:tc>
                <a:tc>
                  <a:txBody>
                    <a:bodyPr/>
                    <a:lstStyle/>
                    <a:p>
                      <a:pPr marL="0" lvl="0" indent="0" algn="l" rtl="0">
                        <a:spcBef>
                          <a:spcPts val="0"/>
                        </a:spcBef>
                        <a:spcAft>
                          <a:spcPts val="0"/>
                        </a:spcAft>
                        <a:buNone/>
                      </a:pPr>
                      <a:endParaRPr sz="1100" dirty="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noFill/>
                  </a:tcPr>
                </a:tc>
                <a:tc>
                  <a:txBody>
                    <a:bodyPr/>
                    <a:lstStyle/>
                    <a:p>
                      <a:pPr marL="0" lvl="0" indent="0" algn="l" rtl="0">
                        <a:spcBef>
                          <a:spcPts val="0"/>
                        </a:spcBef>
                        <a:spcAft>
                          <a:spcPts val="0"/>
                        </a:spcAft>
                        <a:buNone/>
                      </a:pPr>
                      <a:endParaRPr sz="11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noFill/>
                  </a:tcPr>
                </a:tc>
                <a:tc>
                  <a:txBody>
                    <a:bodyPr/>
                    <a:lstStyle/>
                    <a:p>
                      <a:pPr marL="0" lvl="0" indent="0" algn="l" rtl="0">
                        <a:spcBef>
                          <a:spcPts val="0"/>
                        </a:spcBef>
                        <a:spcAft>
                          <a:spcPts val="0"/>
                        </a:spcAft>
                        <a:buNone/>
                      </a:pPr>
                      <a:endParaRPr sz="11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noFill/>
                  </a:tcPr>
                </a:tc>
                <a:tc>
                  <a:txBody>
                    <a:bodyPr/>
                    <a:lstStyle/>
                    <a:p>
                      <a:pPr marL="0" marR="0" lvl="0" indent="0" algn="l" rtl="0">
                        <a:lnSpc>
                          <a:spcPct val="107000"/>
                        </a:lnSpc>
                        <a:spcBef>
                          <a:spcPts val="0"/>
                        </a:spcBef>
                        <a:spcAft>
                          <a:spcPts val="0"/>
                        </a:spcAft>
                        <a:buNone/>
                      </a:pP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r>
              <a:tr h="1757250">
                <a:tc>
                  <a:txBody>
                    <a:bodyPr/>
                    <a:lstStyle/>
                    <a:p>
                      <a:pPr marL="0" marR="0" lvl="0" indent="0" algn="ctr" rtl="0">
                        <a:lnSpc>
                          <a:spcPct val="107000"/>
                        </a:lnSpc>
                        <a:spcBef>
                          <a:spcPts val="0"/>
                        </a:spcBef>
                        <a:spcAft>
                          <a:spcPts val="0"/>
                        </a:spcAft>
                        <a:buClr>
                          <a:srgbClr val="000000"/>
                        </a:buClr>
                        <a:buSzPts val="1100"/>
                        <a:buFont typeface="Arial" panose="020B0604020202020204"/>
                        <a:buNone/>
                      </a:pPr>
                    </a:p>
                  </a:txBody>
                  <a:tcPr marL="68575" marR="68575" marT="0" marB="0" anchor="ctr">
                    <a:noFill/>
                  </a:tcPr>
                </a:tc>
                <a:tc>
                  <a:txBody>
                    <a:bodyPr/>
                    <a:lstStyle/>
                    <a:p>
                      <a:pPr marL="0" lvl="0" indent="0" algn="l" rtl="0">
                        <a:spcBef>
                          <a:spcPts val="0"/>
                        </a:spcBef>
                        <a:spcAft>
                          <a:spcPts val="0"/>
                        </a:spcAft>
                        <a:buNone/>
                      </a:pPr>
                      <a:endParaRPr sz="11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noFill/>
                  </a:tcPr>
                </a:tc>
                <a:tc>
                  <a:txBody>
                    <a:bodyPr/>
                    <a:lstStyle/>
                    <a:p>
                      <a:pPr marL="0" lvl="0" indent="0" algn="l" rtl="0">
                        <a:spcBef>
                          <a:spcPts val="0"/>
                        </a:spcBef>
                        <a:spcAft>
                          <a:spcPts val="0"/>
                        </a:spcAft>
                        <a:buNone/>
                      </a:pPr>
                      <a:endParaRPr sz="11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noFill/>
                  </a:tcPr>
                </a:tc>
                <a:tc>
                  <a:txBody>
                    <a:bodyPr/>
                    <a:lstStyle/>
                    <a:p>
                      <a:pPr marL="0" lvl="0" indent="0" algn="l" rtl="0">
                        <a:spcBef>
                          <a:spcPts val="0"/>
                        </a:spcBef>
                        <a:spcAft>
                          <a:spcPts val="0"/>
                        </a:spcAft>
                        <a:buNone/>
                      </a:pPr>
                      <a:endParaRPr sz="11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noFill/>
                  </a:tcPr>
                </a:tc>
                <a:tc>
                  <a:txBody>
                    <a:bodyPr/>
                    <a:lstStyle/>
                    <a:p>
                      <a:pPr marL="0" lvl="0" indent="0" algn="l" rtl="0">
                        <a:spcBef>
                          <a:spcPts val="0"/>
                        </a:spcBef>
                        <a:spcAft>
                          <a:spcPts val="0"/>
                        </a:spcAft>
                        <a:buNone/>
                      </a:pPr>
                      <a:endParaRPr sz="11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noFill/>
                  </a:tcPr>
                </a:tc>
                <a:tc>
                  <a:txBody>
                    <a:bodyPr/>
                    <a:lstStyle/>
                    <a:p>
                      <a:pPr marL="0" lvl="0" indent="0" algn="l" rtl="0">
                        <a:spcBef>
                          <a:spcPts val="0"/>
                        </a:spcBef>
                        <a:spcAft>
                          <a:spcPts val="0"/>
                        </a:spcAft>
                        <a:buNone/>
                      </a:pPr>
                      <a:endParaRPr sz="1100"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r>
            </a:tbl>
          </a:graphicData>
        </a:graphic>
      </p:graphicFrame>
      <p:pic>
        <p:nvPicPr>
          <p:cNvPr id="3" name="Picture 2"/>
          <p:cNvPicPr>
            <a:picLocks noChangeAspect="1"/>
          </p:cNvPicPr>
          <p:nvPr/>
        </p:nvPicPr>
        <p:blipFill>
          <a:blip r:embed="rId1"/>
          <a:stretch>
            <a:fillRect/>
          </a:stretch>
        </p:blipFill>
        <p:spPr>
          <a:xfrm>
            <a:off x="180975" y="781685"/>
            <a:ext cx="8789670" cy="42259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3babf8767d3_0_240"/>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Existing Approaches (Literature Survey) </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114" name="Google Shape;114;g3babf8767d3_0_240"/>
          <p:cNvGraphicFramePr/>
          <p:nvPr/>
        </p:nvGraphicFramePr>
        <p:xfrm>
          <a:off x="248575" y="781921"/>
          <a:ext cx="8540325" cy="3994275"/>
        </p:xfrm>
        <a:graphic>
          <a:graphicData uri="http://schemas.openxmlformats.org/drawingml/2006/table">
            <a:tbl>
              <a:tblPr firstRow="1" firstCol="1" bandRow="1">
                <a:noFill/>
                <a:tableStyleId>{8DE1654A-0BA3-479A-900E-4C6F7BCA4BD3}</a:tableStyleId>
              </a:tblPr>
              <a:tblGrid>
                <a:gridCol w="470525"/>
                <a:gridCol w="1878600"/>
                <a:gridCol w="1274650"/>
                <a:gridCol w="1732400"/>
                <a:gridCol w="1746500"/>
                <a:gridCol w="1437650"/>
              </a:tblGrid>
              <a:tr h="479775">
                <a:tc>
                  <a:txBody>
                    <a:bodyPr/>
                    <a:lstStyle/>
                    <a:p>
                      <a:pPr marL="0" marR="0" lvl="0" indent="0" algn="ctr" rtl="0">
                        <a:lnSpc>
                          <a:spcPct val="107000"/>
                        </a:lnSpc>
                        <a:spcBef>
                          <a:spcPts val="0"/>
                        </a:spcBef>
                        <a:spcAft>
                          <a:spcPts val="0"/>
                        </a:spcAft>
                        <a:buNone/>
                      </a:pPr>
                      <a:endParaRPr sz="11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r>
              <a:tr h="1757250">
                <a:tc>
                  <a:txBody>
                    <a:bodyPr/>
                    <a:lstStyle/>
                    <a:p>
                      <a:pPr marL="0" marR="0" lvl="0" indent="0" algn="ctr" rtl="0">
                        <a:lnSpc>
                          <a:spcPct val="107000"/>
                        </a:lnSpc>
                        <a:spcBef>
                          <a:spcPts val="0"/>
                        </a:spcBef>
                        <a:spcAft>
                          <a:spcPts val="0"/>
                        </a:spcAft>
                        <a:buClr>
                          <a:srgbClr val="000000"/>
                        </a:buClr>
                        <a:buSzPts val="1200"/>
                        <a:buFont typeface="Arial" panose="020B0604020202020204"/>
                        <a:buNone/>
                      </a:pP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lvl="0" indent="0" algn="l" rtl="0">
                        <a:spcBef>
                          <a:spcPts val="0"/>
                        </a:spcBef>
                        <a:spcAft>
                          <a:spcPts val="0"/>
                        </a:spcAft>
                        <a:buNone/>
                      </a:pPr>
                      <a:endParaRPr sz="11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noFill/>
                  </a:tcPr>
                </a:tc>
                <a:tc>
                  <a:txBody>
                    <a:bodyPr/>
                    <a:lstStyle/>
                    <a:p>
                      <a:pPr marL="0" lvl="0" indent="0" algn="l" rtl="0">
                        <a:spcBef>
                          <a:spcPts val="0"/>
                        </a:spcBef>
                        <a:spcAft>
                          <a:spcPts val="0"/>
                        </a:spcAft>
                        <a:buNone/>
                      </a:pPr>
                      <a:endParaRPr sz="1100" dirty="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noFill/>
                  </a:tcPr>
                </a:tc>
                <a:tc>
                  <a:txBody>
                    <a:bodyPr/>
                    <a:lstStyle/>
                    <a:p>
                      <a:pPr marL="0" lvl="0" indent="0" algn="l" rtl="0">
                        <a:spcBef>
                          <a:spcPts val="0"/>
                        </a:spcBef>
                        <a:spcAft>
                          <a:spcPts val="0"/>
                        </a:spcAft>
                        <a:buNone/>
                      </a:pPr>
                      <a:endParaRPr sz="11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noFill/>
                  </a:tcPr>
                </a:tc>
                <a:tc>
                  <a:txBody>
                    <a:bodyPr/>
                    <a:lstStyle/>
                    <a:p>
                      <a:pPr marL="0" lvl="0" indent="0" algn="l" rtl="0">
                        <a:spcBef>
                          <a:spcPts val="0"/>
                        </a:spcBef>
                        <a:spcAft>
                          <a:spcPts val="0"/>
                        </a:spcAft>
                        <a:buNone/>
                      </a:pPr>
                      <a:endParaRPr sz="11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noFill/>
                  </a:tcPr>
                </a:tc>
                <a:tc>
                  <a:txBody>
                    <a:bodyPr/>
                    <a:lstStyle/>
                    <a:p>
                      <a:pPr marL="0" lvl="0" indent="0" algn="l" rtl="0">
                        <a:spcBef>
                          <a:spcPts val="0"/>
                        </a:spcBef>
                        <a:spcAft>
                          <a:spcPts val="0"/>
                        </a:spcAft>
                        <a:buNone/>
                      </a:pPr>
                      <a:endParaRPr sz="110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r>
              <a:tr h="1757250">
                <a:tc>
                  <a:txBody>
                    <a:bodyPr/>
                    <a:lstStyle/>
                    <a:p>
                      <a:pPr marL="0" lvl="0" indent="0" algn="l" rtl="0">
                        <a:spcBef>
                          <a:spcPts val="0"/>
                        </a:spcBef>
                        <a:spcAft>
                          <a:spcPts val="0"/>
                        </a:spcAft>
                        <a:buNone/>
                      </a:pPr>
                      <a:endParaRPr sz="130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lvl="0" indent="0" algn="l" rtl="0">
                        <a:spcBef>
                          <a:spcPts val="0"/>
                        </a:spcBef>
                        <a:spcAft>
                          <a:spcPts val="0"/>
                        </a:spcAft>
                        <a:buNone/>
                      </a:pPr>
                      <a:endParaRPr sz="11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noFill/>
                  </a:tcPr>
                </a:tc>
                <a:tc>
                  <a:txBody>
                    <a:bodyPr/>
                    <a:lstStyle/>
                    <a:p>
                      <a:pPr marL="0" lvl="0" indent="0" algn="l" rtl="0">
                        <a:spcBef>
                          <a:spcPts val="0"/>
                        </a:spcBef>
                        <a:spcAft>
                          <a:spcPts val="0"/>
                        </a:spcAft>
                        <a:buNone/>
                      </a:pPr>
                      <a:endParaRPr sz="11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noFill/>
                  </a:tcPr>
                </a:tc>
                <a:tc>
                  <a:txBody>
                    <a:bodyPr/>
                    <a:lstStyle/>
                    <a:p>
                      <a:pPr marL="0" lvl="0" indent="0" algn="l" rtl="0">
                        <a:spcBef>
                          <a:spcPts val="0"/>
                        </a:spcBef>
                        <a:spcAft>
                          <a:spcPts val="0"/>
                        </a:spcAft>
                        <a:buNone/>
                      </a:pPr>
                      <a:endParaRPr sz="11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noFill/>
                  </a:tcPr>
                </a:tc>
                <a:tc>
                  <a:txBody>
                    <a:bodyPr/>
                    <a:lstStyle/>
                    <a:p>
                      <a:pPr marL="0" lvl="0" indent="0" algn="l" rtl="0">
                        <a:spcBef>
                          <a:spcPts val="0"/>
                        </a:spcBef>
                        <a:spcAft>
                          <a:spcPts val="0"/>
                        </a:spcAft>
                        <a:buNone/>
                      </a:pPr>
                      <a:endParaRPr sz="110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noFill/>
                  </a:tcPr>
                </a:tc>
                <a:tc>
                  <a:txBody>
                    <a:bodyPr/>
                    <a:lstStyle/>
                    <a:p>
                      <a:pPr marL="0" lvl="0" indent="0" algn="l" rtl="0">
                        <a:spcBef>
                          <a:spcPts val="0"/>
                        </a:spcBef>
                        <a:spcAft>
                          <a:spcPts val="0"/>
                        </a:spcAft>
                        <a:buNone/>
                      </a:pPr>
                      <a:endParaRPr sz="1100"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r>
            </a:tbl>
          </a:graphicData>
        </a:graphic>
      </p:graphicFrame>
      <p:pic>
        <p:nvPicPr>
          <p:cNvPr id="3" name="Picture 2"/>
          <p:cNvPicPr>
            <a:picLocks noChangeAspect="1"/>
          </p:cNvPicPr>
          <p:nvPr/>
        </p:nvPicPr>
        <p:blipFill>
          <a:blip r:embed="rId1"/>
          <a:stretch>
            <a:fillRect/>
          </a:stretch>
        </p:blipFill>
        <p:spPr>
          <a:xfrm>
            <a:off x="247650" y="670560"/>
            <a:ext cx="8680450" cy="426910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g3bac3532e69_0_4"/>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Existing Approaches (Literature Survey) </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120" name="Google Shape;120;g3bac3532e69_0_4"/>
          <p:cNvGraphicFramePr/>
          <p:nvPr/>
        </p:nvGraphicFramePr>
        <p:xfrm>
          <a:off x="248575" y="781921"/>
          <a:ext cx="4753550" cy="2237025"/>
        </p:xfrm>
        <a:graphic>
          <a:graphicData uri="http://schemas.openxmlformats.org/drawingml/2006/table">
            <a:tbl>
              <a:tblPr firstRow="1" firstCol="1" bandRow="1">
                <a:noFill/>
                <a:tableStyleId>{8DE1654A-0BA3-479A-900E-4C6F7BCA4BD3}</a:tableStyleId>
              </a:tblPr>
              <a:tblGrid>
                <a:gridCol w="1274650"/>
                <a:gridCol w="1732400"/>
                <a:gridCol w="1746500"/>
              </a:tblGrid>
              <a:tr h="479775">
                <a:tc>
                  <a:txBody>
                    <a:bodyPr/>
                    <a:lstStyle/>
                    <a:p>
                      <a:pPr marL="0" marR="0" lvl="0" indent="0" algn="ctr" rtl="0">
                        <a:lnSpc>
                          <a:spcPct val="107000"/>
                        </a:lnSpc>
                        <a:spcBef>
                          <a:spcPts val="0"/>
                        </a:spcBef>
                        <a:spcAft>
                          <a:spcPts val="0"/>
                        </a:spcAft>
                        <a:buNone/>
                      </a:pPr>
                      <a:endParaRPr sz="11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c>
                  <a:txBody>
                    <a:bodyPr/>
                    <a:lstStyle/>
                    <a:p>
                      <a:pPr marL="0" marR="0" lvl="0" indent="0" algn="ctr" rtl="0">
                        <a:lnSpc>
                          <a:spcPct val="107000"/>
                        </a:lnSpc>
                        <a:spcBef>
                          <a:spcPts val="0"/>
                        </a:spcBef>
                        <a:spcAft>
                          <a:spcPts val="0"/>
                        </a:spcAft>
                        <a:buNone/>
                      </a:pPr>
                      <a:endParaRPr sz="1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noFill/>
                  </a:tcPr>
                </a:tc>
              </a:tr>
              <a:tr h="1757250">
                <a:tc>
                  <a:txBody>
                    <a:bodyPr/>
                    <a:lstStyle/>
                    <a:p>
                      <a:pPr marL="0" lvl="0" indent="0" algn="l" rtl="0">
                        <a:spcBef>
                          <a:spcPts val="0"/>
                        </a:spcBef>
                        <a:spcAft>
                          <a:spcPts val="0"/>
                        </a:spcAft>
                        <a:buNone/>
                      </a:pPr>
                      <a:endParaRPr sz="1100" dirty="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noFill/>
                  </a:tcPr>
                </a:tc>
                <a:tc>
                  <a:txBody>
                    <a:bodyPr/>
                    <a:lstStyle/>
                    <a:p>
                      <a:pPr marL="0" lvl="0" indent="0" algn="l" rtl="0">
                        <a:spcBef>
                          <a:spcPts val="0"/>
                        </a:spcBef>
                        <a:spcAft>
                          <a:spcPts val="0"/>
                        </a:spcAft>
                        <a:buNone/>
                      </a:pPr>
                      <a:endParaRPr sz="1100" dirty="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noFill/>
                  </a:tcPr>
                </a:tc>
                <a:tc>
                  <a:txBody>
                    <a:bodyPr/>
                    <a:lstStyle/>
                    <a:p>
                      <a:pPr marL="0" lvl="0" indent="0" algn="l" rtl="0">
                        <a:spcBef>
                          <a:spcPts val="0"/>
                        </a:spcBef>
                        <a:spcAft>
                          <a:spcPts val="0"/>
                        </a:spcAft>
                        <a:buNone/>
                      </a:pPr>
                      <a:endParaRPr sz="1100" dirty="0">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noFill/>
                  </a:tcPr>
                </a:tc>
              </a:tr>
            </a:tbl>
          </a:graphicData>
        </a:graphic>
      </p:graphicFrame>
      <p:pic>
        <p:nvPicPr>
          <p:cNvPr id="3" name="Picture 2"/>
          <p:cNvPicPr>
            <a:picLocks noChangeAspect="1"/>
          </p:cNvPicPr>
          <p:nvPr/>
        </p:nvPicPr>
        <p:blipFill>
          <a:blip r:embed="rId1"/>
          <a:stretch>
            <a:fillRect/>
          </a:stretch>
        </p:blipFill>
        <p:spPr>
          <a:xfrm>
            <a:off x="317500" y="718185"/>
            <a:ext cx="8449945" cy="29768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312420" y="146685"/>
            <a:ext cx="8519795" cy="77343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altLang="en-US" sz="2000">
                <a:sym typeface="+mn-ea"/>
              </a:rPr>
              <a:t>[1] </a:t>
            </a:r>
            <a:r>
              <a:rPr lang="en-US" sz="2000">
                <a:sym typeface="+mn-ea"/>
              </a:rPr>
              <a:t>Context-Aware Deep Learning Framework for APT Detection</a:t>
            </a:r>
            <a:endParaRPr sz="2000" b="0"/>
          </a:p>
        </p:txBody>
      </p:sp>
      <p:sp>
        <p:nvSpPr>
          <p:cNvPr id="127" name="Google Shape;127;p15"/>
          <p:cNvSpPr txBox="1"/>
          <p:nvPr/>
        </p:nvSpPr>
        <p:spPr>
          <a:xfrm>
            <a:off x="311785" y="562610"/>
            <a:ext cx="8520430" cy="4718685"/>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600"/>
              <a:buFont typeface="Arial" panose="020B0604020202020204"/>
              <a:buNone/>
            </a:pPr>
            <a:r>
              <a:rPr lang="en-US" altLang="en-US" sz="1975"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This approach proposes a context-aware deep learning framework to detect and investigate Advanced Persistent Threats (APTs). It correlates multiple system-level data sources to capture the stealthy and complex nature of APT behavior. The main objective is to accurately detect APT activities from system behavior patterns. It also aims to reconstruct attack behavior by learning contextual relationships among events. The framework uses system-level monitoring data including system calls, process traces, file activities, and network logs. A deep learning model learns contextual patterns across these sources to distinguish normal and malicious activity. The model also supports attack sequence reconstruction to improve investigation interpretability. The approach demonstrates strong detection performance. It achieves improved precision and recall compared to baseline APT detection models. The framework requires extensive system-level data collection, increasing deployment complexity. It can introduce computational overhead and may be challenging for real-time monitoring environments.</a:t>
            </a:r>
            <a:endParaRPr lang="en-US" altLang="en-US" sz="1975"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6"/>
          <p:cNvSpPr txBox="1">
            <a:spLocks noGrp="1"/>
          </p:cNvSpPr>
          <p:nvPr>
            <p:ph type="title"/>
          </p:nvPr>
        </p:nvSpPr>
        <p:spPr>
          <a:xfrm>
            <a:off x="205740" y="154940"/>
            <a:ext cx="8520430" cy="74358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altLang="en-US" sz="2000">
                <a:sym typeface="+mn-ea"/>
              </a:rPr>
              <a:t>[2]</a:t>
            </a:r>
            <a:r>
              <a:rPr lang="en-US" sz="2000">
                <a:sym typeface="+mn-ea"/>
              </a:rPr>
              <a:t> Ensemble Autoencoder-Based Detection of Persistent Access Threats</a:t>
            </a:r>
            <a:endParaRPr sz="2000" b="0"/>
          </a:p>
        </p:txBody>
      </p:sp>
      <p:sp>
        <p:nvSpPr>
          <p:cNvPr id="134" name="Google Shape;134;p16"/>
          <p:cNvSpPr txBox="1"/>
          <p:nvPr/>
        </p:nvSpPr>
        <p:spPr>
          <a:xfrm>
            <a:off x="205740" y="777875"/>
            <a:ext cx="8702040" cy="44196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600"/>
              <a:buFont typeface="Arial" panose="020B0604020202020204"/>
              <a:buNone/>
            </a:pPr>
            <a:r>
              <a:rPr lang="en-US" altLang="en-US" sz="2000">
                <a:latin typeface="Times New Roman" panose="02020603050405020304"/>
                <a:ea typeface="Times New Roman" panose="02020603050405020304"/>
                <a:cs typeface="Times New Roman" panose="02020603050405020304"/>
                <a:sym typeface="Times New Roman" panose="02020603050405020304"/>
              </a:rPr>
              <a:t>This approach introduces an ensemble of multiple autoencoder models to detect persistent access threats in cybersecurity datasets. It focuses on learning normal behavior patterns and detecting deviations linked to APT-like activity. The main objective is to improve detection accuracy in highly imbalanced datasets. It aims to reduce reliance on a single autoencoder by leveraging ensemble learning. The system utilizes network traffic and system activity data with high class imbalance. Multiple autoencoders are trained to learn normal behavior representations. Their outputs are aggregated to improve anomaly detection stability and performance. The ensemble approach outperforms single autoencoder models. It reports accuracy of about 96–98% with precision around 95%, recall about 94%, and F1-score of 0.94. The approach does not explicitly model APT kill chain stages. It lacks stage-wise attack interpretation, limiting detailed forensic understanding.</a:t>
            </a:r>
            <a:endParaRPr lang="en-US" altLang="en-US" sz="20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7"/>
          <p:cNvSpPr txBox="1">
            <a:spLocks noGrp="1"/>
          </p:cNvSpPr>
          <p:nvPr>
            <p:ph type="title"/>
          </p:nvPr>
        </p:nvSpPr>
        <p:spPr>
          <a:xfrm>
            <a:off x="357505" y="213360"/>
            <a:ext cx="8785860" cy="80454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altLang="en-US" sz="2000">
                <a:sym typeface="+mn-ea"/>
              </a:rPr>
              <a:t>[3]</a:t>
            </a:r>
            <a:r>
              <a:rPr lang="en-US" sz="2000">
                <a:sym typeface="+mn-ea"/>
              </a:rPr>
              <a:t> Deep Learning–Based Network Forensic Framework for APT Attribution</a:t>
            </a:r>
            <a:endParaRPr sz="2000" b="0"/>
          </a:p>
        </p:txBody>
      </p:sp>
      <p:sp>
        <p:nvSpPr>
          <p:cNvPr id="141" name="Google Shape;141;p17"/>
          <p:cNvSpPr txBox="1"/>
          <p:nvPr/>
        </p:nvSpPr>
        <p:spPr>
          <a:xfrm>
            <a:off x="358140" y="812800"/>
            <a:ext cx="8542655" cy="4669155"/>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600"/>
              <a:buFont typeface="Arial" panose="020B0604020202020204"/>
              <a:buNone/>
            </a:pPr>
            <a:r>
              <a:rPr lang="en-US" altLang="en-US" sz="2000">
                <a:latin typeface="Times New Roman" panose="02020603050405020304"/>
                <a:ea typeface="Times New Roman" panose="02020603050405020304"/>
                <a:cs typeface="Times New Roman" panose="02020603050405020304"/>
                <a:sym typeface="Times New Roman" panose="02020603050405020304"/>
              </a:rPr>
              <a:t>This paper proposes a deep learning-based network forensic framework for attributing APT attacks. It analyzes network traffic traces and system log data to support post-intrusion investigation. The objective is to accurately attribute APT attacks using learned attack behavior patterns. It also aims to assist forensic investigation by identifying long-term malicious behaviors. The framework processes network traffic traces and system logs. Deep learning models are trained to recognize complex and sophisticated attack patterns. The learned patterns help investigators connect evidence to attacker behavior and progression. The approach achieves detection and attribution accuracy up to 94–96%. It outperforms traditional network forensic methods in capturing advanced attack behavior. APT kill chain stages are implicitly inferred rather than explicitly modeled. This limits structured stage-wise analysis and clear progression mapping.</a:t>
            </a:r>
            <a:endParaRPr lang="en-US" altLang="en-US" sz="20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8"/>
          <p:cNvSpPr txBox="1">
            <a:spLocks noGrp="1"/>
          </p:cNvSpPr>
          <p:nvPr>
            <p:ph type="title"/>
          </p:nvPr>
        </p:nvSpPr>
        <p:spPr>
          <a:xfrm>
            <a:off x="213360" y="213360"/>
            <a:ext cx="9022715" cy="80454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altLang="en-US" sz="2000">
                <a:sym typeface="+mn-ea"/>
              </a:rPr>
              <a:t>[</a:t>
            </a:r>
            <a:r>
              <a:rPr lang="en-US" sz="2000">
                <a:sym typeface="+mn-ea"/>
              </a:rPr>
              <a:t>4</a:t>
            </a:r>
            <a:r>
              <a:rPr lang="en-IN" altLang="en-US" sz="2000">
                <a:sym typeface="+mn-ea"/>
              </a:rPr>
              <a:t>]</a:t>
            </a:r>
            <a:r>
              <a:rPr lang="en-US" sz="2000">
                <a:sym typeface="+mn-ea"/>
              </a:rPr>
              <a:t> Hybrid Machine Learning Framework for Stealthy Cyber Attack Detection</a:t>
            </a:r>
            <a:br>
              <a:rPr lang="en-US" sz="2000" b="1">
                <a:solidFill>
                  <a:schemeClr val="dk1"/>
                </a:solidFill>
              </a:rPr>
            </a:br>
            <a:endParaRPr sz="2000" b="0"/>
          </a:p>
        </p:txBody>
      </p:sp>
      <p:sp>
        <p:nvSpPr>
          <p:cNvPr id="148" name="Google Shape;148;p18"/>
          <p:cNvSpPr txBox="1"/>
          <p:nvPr/>
        </p:nvSpPr>
        <p:spPr>
          <a:xfrm>
            <a:off x="213360" y="805815"/>
            <a:ext cx="8517255" cy="4853305"/>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600"/>
              <a:buFont typeface="Arial" panose="020B0604020202020204"/>
              <a:buNone/>
            </a:pPr>
            <a:r>
              <a:rPr lang="en-US" altLang="en-US" sz="2000">
                <a:latin typeface="Times New Roman" panose="02020603050405020304"/>
                <a:ea typeface="Times New Roman" panose="02020603050405020304"/>
                <a:cs typeface="Times New Roman" panose="02020603050405020304"/>
                <a:sym typeface="Times New Roman" panose="02020603050405020304"/>
              </a:rPr>
              <a:t>This approach introduces a hybrid machine learning framework combining supervised and unsupervised learning. It targets stealthy and persistent cyber attacks by identifying long-term anomalous behaviors. The goal is to detect stealthy cyber attacks more effectively than single-model solutions. It leverages supervised learning for known threats and unsupervised learning for abnormal deviations. The system uses network traffic and system activity datasets. Supervised models learn labeled attack patterns to classify known intrusions. Unsupervised models detect anomalies and deviations from normal behavior to capture hidden threats. The hybrid framework reports detection accuracy around 93–95%. It performs better than single-model baseline approaches. The system focuses on generic cyber attacks rather than explicitly labeling APTs. It also does not map detections into structured kill-chain stages.</a:t>
            </a:r>
            <a:endParaRPr lang="en-US" altLang="en-US" sz="20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9"/>
          <p:cNvSpPr txBox="1">
            <a:spLocks noGrp="1"/>
          </p:cNvSpPr>
          <p:nvPr>
            <p:ph type="title"/>
          </p:nvPr>
        </p:nvSpPr>
        <p:spPr>
          <a:xfrm>
            <a:off x="243205" y="213360"/>
            <a:ext cx="8589010" cy="80454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2000">
                <a:sym typeface="+mn-ea"/>
              </a:rPr>
              <a:t> </a:t>
            </a:r>
            <a:r>
              <a:rPr lang="en-IN" altLang="en-US" sz="2000">
                <a:sym typeface="+mn-ea"/>
              </a:rPr>
              <a:t>[</a:t>
            </a:r>
            <a:r>
              <a:rPr lang="en-US" sz="2000">
                <a:sym typeface="+mn-ea"/>
              </a:rPr>
              <a:t>5</a:t>
            </a:r>
            <a:r>
              <a:rPr lang="en-IN" altLang="en-US" sz="2000">
                <a:sym typeface="+mn-ea"/>
              </a:rPr>
              <a:t>]</a:t>
            </a:r>
            <a:r>
              <a:rPr lang="en-US" sz="2000">
                <a:sym typeface="+mn-ea"/>
              </a:rPr>
              <a:t> Hybrid Machine Learning Framework for Stealthy Attack Detection</a:t>
            </a:r>
            <a:endParaRPr sz="2000" b="0"/>
          </a:p>
        </p:txBody>
      </p:sp>
      <p:sp>
        <p:nvSpPr>
          <p:cNvPr id="155" name="Google Shape;155;p19"/>
          <p:cNvSpPr txBox="1"/>
          <p:nvPr/>
        </p:nvSpPr>
        <p:spPr>
          <a:xfrm>
            <a:off x="311785" y="835660"/>
            <a:ext cx="8428990" cy="459486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600"/>
              <a:buFont typeface="Arial" panose="020B0604020202020204"/>
              <a:buNone/>
            </a:pPr>
            <a:r>
              <a:rPr lang="en-US" altLang="en-US" sz="2000">
                <a:latin typeface="Times New Roman" panose="02020603050405020304"/>
                <a:ea typeface="Times New Roman" panose="02020603050405020304"/>
                <a:cs typeface="Times New Roman" panose="02020603050405020304"/>
                <a:sym typeface="Times New Roman" panose="02020603050405020304"/>
              </a:rPr>
              <a:t>This paper proposes a hybrid ML framework for detecting stealthy attacks in network environments. It focuses on long-term anomalies and low-footprint behaviors that evade traditional detection. The objective is to capture persistent and stealthy attack behaviors using hybrid learning. It aims to combine supervised detection of known patterns with unsupervised anomaly identification. The framework analyzes network traffic and system activity datasets. Supervised learning detects previously learned intrusion patterns. Unsupervised learning flags anomalies and deviations that indicate potential persistent threats. The approach achieves accuracy up to 93–95%. It outperforms single-model baseline methods. It remains focused on generic stealthy attacks and does not explicitly label them as APTs. It also lacks structured kill-chain modeling for stage-wise correlation.</a:t>
            </a:r>
            <a:endParaRPr lang="en-US" altLang="en-US" sz="20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311785" y="213360"/>
            <a:ext cx="8520430" cy="80454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altLang="en-US" sz="2000">
                <a:sym typeface="+mn-ea"/>
              </a:rPr>
              <a:t>[</a:t>
            </a:r>
            <a:r>
              <a:rPr lang="en-US" sz="2000">
                <a:sym typeface="+mn-ea"/>
              </a:rPr>
              <a:t>6</a:t>
            </a:r>
            <a:r>
              <a:rPr lang="en-IN" altLang="en-US" sz="2000">
                <a:sym typeface="+mn-ea"/>
              </a:rPr>
              <a:t>]</a:t>
            </a:r>
            <a:r>
              <a:rPr lang="en-US" sz="2000">
                <a:sym typeface="+mn-ea"/>
              </a:rPr>
              <a:t> Rule-Based Attack Chain Reconstruction Using Log Correlation</a:t>
            </a:r>
            <a:endParaRPr sz="2000" b="0"/>
          </a:p>
        </p:txBody>
      </p:sp>
      <p:sp>
        <p:nvSpPr>
          <p:cNvPr id="162" name="Google Shape;162;p20"/>
          <p:cNvSpPr txBox="1"/>
          <p:nvPr/>
        </p:nvSpPr>
        <p:spPr>
          <a:xfrm>
            <a:off x="312420" y="792480"/>
            <a:ext cx="8519795" cy="467106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600"/>
              <a:buFont typeface="Arial" panose="020B0604020202020204"/>
              <a:buNone/>
            </a:pPr>
            <a:r>
              <a:rPr lang="en-US" altLang="en-US" sz="2000">
                <a:latin typeface="Times New Roman" panose="02020603050405020304"/>
                <a:ea typeface="Times New Roman" panose="02020603050405020304"/>
                <a:cs typeface="Times New Roman" panose="02020603050405020304"/>
                <a:sym typeface="Times New Roman" panose="02020603050405020304"/>
              </a:rPr>
              <a:t>This method introduces rule-based attack chain reconstruction using log correlation. It uses temporal analysis to sequence attacker actions across multiple stages. The objective is to reconstruct multi-step attack chains from logs. It aims to improve understanding of attack progression through correlation and sequencing. The system analyzes system and application logs. Predefined rules and temporal correlation techniques link related events across time. This reconstruction supports visualization of multi-stage attacker behavior. The approach improves attack traceability through reconstructed event chains. Case-study evaluations show clearer visualization of multi-stage intrusions. Since it is rule-based, it lacks adaptiveness to evolving attack patterns. It also does not report ML-style accuracy metrics or predictive capability.</a:t>
            </a:r>
            <a:endParaRPr lang="en-US" altLang="en-US" sz="20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8" name="Google Shape;168;p21"/>
          <p:cNvSpPr txBox="1">
            <a:spLocks noGrp="1"/>
          </p:cNvSpPr>
          <p:nvPr>
            <p:ph type="body" idx="1"/>
          </p:nvPr>
        </p:nvSpPr>
        <p:spPr>
          <a:xfrm>
            <a:off x="220980" y="257810"/>
            <a:ext cx="8611235" cy="1146810"/>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0"/>
              </a:spcBef>
              <a:spcAft>
                <a:spcPts val="0"/>
              </a:spcAft>
              <a:buSzPts val="1800"/>
              <a:buNone/>
            </a:pPr>
            <a:r>
              <a:rPr lang="en-IN" altLang="en-US" sz="2000" b="1">
                <a:solidFill>
                  <a:schemeClr val="dk1"/>
                </a:solidFill>
              </a:rPr>
              <a:t>[</a:t>
            </a:r>
            <a:r>
              <a:rPr lang="en-US" sz="2000" b="1">
                <a:solidFill>
                  <a:schemeClr val="dk1"/>
                </a:solidFill>
              </a:rPr>
              <a:t>7</a:t>
            </a:r>
            <a:r>
              <a:rPr lang="en-IN" altLang="en-US" sz="2000" b="1">
                <a:solidFill>
                  <a:schemeClr val="dk1"/>
                </a:solidFill>
              </a:rPr>
              <a:t>] </a:t>
            </a:r>
            <a:r>
              <a:rPr lang="en-US" sz="2000" b="1">
                <a:solidFill>
                  <a:schemeClr val="dk1"/>
                </a:solidFill>
              </a:rPr>
              <a:t>Rule-Based Attack Chain Reconstruction Using Log Correlation and Temporal Analysis</a:t>
            </a:r>
            <a:endParaRPr lang="en-US" sz="2000" b="1">
              <a:solidFill>
                <a:schemeClr val="dk1"/>
              </a:solidFill>
            </a:endParaRPr>
          </a:p>
        </p:txBody>
      </p:sp>
      <p:sp>
        <p:nvSpPr>
          <p:cNvPr id="169" name="Google Shape;169;p21"/>
          <p:cNvSpPr txBox="1"/>
          <p:nvPr/>
        </p:nvSpPr>
        <p:spPr>
          <a:xfrm>
            <a:off x="367665" y="1149985"/>
            <a:ext cx="8465185" cy="4335145"/>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600"/>
              <a:buFont typeface="Arial" panose="020B0604020202020204"/>
              <a:buNone/>
            </a:pPr>
            <a:r>
              <a:rPr lang="en-US" altLang="en-US" sz="2000">
                <a:latin typeface="Times New Roman" panose="02020603050405020304"/>
                <a:ea typeface="Times New Roman" panose="02020603050405020304"/>
                <a:cs typeface="Times New Roman" panose="02020603050405020304"/>
                <a:sym typeface="Times New Roman" panose="02020603050405020304"/>
              </a:rPr>
              <a:t>This approach presents a rule-based attack chain reconstruction technique using log correlation and temporal sequencing. It focuses on sequencing attacker actions across intrusion stages. The objective is to clearly reconstruct multi-stage attack chains from system evidence. It aims to enhance attack progression understanding using correlated logs. The system processes system and application logs for reconstruction. Predefined rules identify relationships between events and align them by time. Temporal correlation links attacker actions into a structured chain and supports visualization. It improves traceability of attacker behavior across multiple stages. Case-based evaluation demonstrates clearer insight into multi-stage attack progression. The approach lacks learning and cannot adapt to novel tactics without rule updates. It also lacks quantitative detection metrics for benchmarking.</a:t>
            </a:r>
            <a:endParaRPr lang="en-US" altLang="en-US" sz="20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2"/>
          <p:cNvSpPr txBox="1">
            <a:spLocks noGrp="1"/>
          </p:cNvSpPr>
          <p:nvPr>
            <p:ph type="title"/>
          </p:nvPr>
        </p:nvSpPr>
        <p:spPr>
          <a:xfrm>
            <a:off x="311785" y="115570"/>
            <a:ext cx="8579485" cy="84963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altLang="en-US" sz="2000">
                <a:sym typeface="+mn-ea"/>
              </a:rPr>
              <a:t>[</a:t>
            </a:r>
            <a:r>
              <a:rPr lang="en-US" sz="2000">
                <a:sym typeface="+mn-ea"/>
              </a:rPr>
              <a:t>8</a:t>
            </a:r>
            <a:r>
              <a:rPr lang="en-IN" altLang="en-US" sz="2000">
                <a:sym typeface="+mn-ea"/>
              </a:rPr>
              <a:t>]</a:t>
            </a:r>
            <a:r>
              <a:rPr lang="en-US" sz="2000">
                <a:sym typeface="+mn-ea"/>
              </a:rPr>
              <a:t> Machine Learning–Based Detection of Advanced Cyber Attacks Using System Logs</a:t>
            </a:r>
            <a:endParaRPr sz="2000" b="0"/>
          </a:p>
        </p:txBody>
      </p:sp>
      <p:sp>
        <p:nvSpPr>
          <p:cNvPr id="176" name="Google Shape;176;p22"/>
          <p:cNvSpPr txBox="1"/>
          <p:nvPr/>
        </p:nvSpPr>
        <p:spPr>
          <a:xfrm>
            <a:off x="312420" y="820420"/>
            <a:ext cx="8578850" cy="474726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600"/>
              <a:buFont typeface="Arial" panose="020B0604020202020204"/>
              <a:buNone/>
            </a:pPr>
            <a:r>
              <a:rPr lang="en-US" altLang="en-US" sz="1975">
                <a:latin typeface="Times New Roman" panose="02020603050405020304"/>
                <a:ea typeface="Times New Roman" panose="02020603050405020304"/>
                <a:cs typeface="Times New Roman" panose="02020603050405020304"/>
                <a:sym typeface="Times New Roman" panose="02020603050405020304"/>
              </a:rPr>
              <a:t>This approach applies machine learning techniques to detect lateral movement in enterprise networks by analyzing communication patterns and host-level behaviors. It aims to identify abnormal internal propagation activities that indicate potential threats. The main objective is to effectively detect lateral movement, a critical stage in the Advanced Persistent Threat (APT) kill chain. It achieves this by using ML-based behavioral analysis to uncover hidden attack patterns. The system analyzes enterprise network traffic along with host activity logs for comprehensive monitoring. Machine learning models are applied to detect abnormal communication patterns and behavioral deviations. This enables accurate identification of lateral movement within the network. The approach reports detection accuracy of up to 94–96% for these activities. These results demonstrate strong effectiveness in detecting a key attack stage. However, the method focuses only on a single kill-chain stage. It does not provide a complete end-to-end APT detection framework.</a:t>
            </a:r>
            <a:endParaRPr lang="en-US" altLang="en-US" sz="1975">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3"/>
          <p:cNvSpPr txBox="1">
            <a:spLocks noGrp="1"/>
          </p:cNvSpPr>
          <p:nvPr>
            <p:ph type="title"/>
          </p:nvPr>
        </p:nvSpPr>
        <p:spPr>
          <a:xfrm>
            <a:off x="258445" y="106680"/>
            <a:ext cx="8573770" cy="9112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altLang="en-US" sz="2000">
                <a:sym typeface="+mn-ea"/>
              </a:rPr>
              <a:t>[</a:t>
            </a:r>
            <a:r>
              <a:rPr lang="en-US" sz="2000">
                <a:sym typeface="+mn-ea"/>
              </a:rPr>
              <a:t>9</a:t>
            </a:r>
            <a:r>
              <a:rPr lang="en-IN" altLang="en-US" sz="2000">
                <a:sym typeface="+mn-ea"/>
              </a:rPr>
              <a:t>]</a:t>
            </a:r>
            <a:r>
              <a:rPr lang="en-US" sz="2000">
                <a:sym typeface="+mn-ea"/>
              </a:rPr>
              <a:t> Machine Learning–Based Detection of Lateral Movement in Enterprise Networks</a:t>
            </a:r>
            <a:endParaRPr lang="en-US" sz="2000" b="0">
              <a:sym typeface="+mn-ea"/>
            </a:endParaRPr>
          </a:p>
        </p:txBody>
      </p:sp>
      <p:sp>
        <p:nvSpPr>
          <p:cNvPr id="183" name="Google Shape;183;p23"/>
          <p:cNvSpPr txBox="1"/>
          <p:nvPr/>
        </p:nvSpPr>
        <p:spPr>
          <a:xfrm>
            <a:off x="257810" y="806450"/>
            <a:ext cx="8575040" cy="485267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600"/>
              <a:buFont typeface="Arial" panose="020B0604020202020204"/>
              <a:buNone/>
            </a:pPr>
            <a:r>
              <a:rPr lang="en-US" altLang="en-US" sz="1975"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This approach applies machine learning techniques to detect lateral movement in enterprise networks by analyzing communication patterns and host-level behaviors. It focuses on identifying abnormal internal propagation activities that signal potential threats. The main objective is to effectively detect lateral movement, a critical stage in the Advanced Persistent Threat (APT) kill chain. This is achieved using ML-based behavioral analysis to uncover hidden attack patterns. The system analyzes enterprise network traffic alongside host activity logs for comprehensive monitoring. Machine learning models are employed to detect abnormal communication patterns and behavioral deviations. This enables accurate identification of lateral movement within the network. The approach reports detection accuracy of up to 94–96% for identifying such activities. These results highlight its effectiveness in detecting a key attack stage. However, the method focuses on only a single kill-chain stage. It does not provide a complete end-to-end APT detection framework.</a:t>
            </a:r>
            <a:endParaRPr lang="en-US" altLang="en-US" sz="1975"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4"/>
          <p:cNvSpPr txBox="1">
            <a:spLocks noGrp="1"/>
          </p:cNvSpPr>
          <p:nvPr>
            <p:ph type="title"/>
          </p:nvPr>
        </p:nvSpPr>
        <p:spPr>
          <a:xfrm>
            <a:off x="311785" y="152400"/>
            <a:ext cx="8520430" cy="86550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altLang="en-US" sz="2000">
                <a:sym typeface="+mn-ea"/>
              </a:rPr>
              <a:t>[</a:t>
            </a:r>
            <a:r>
              <a:rPr lang="en-US" sz="2000">
                <a:sym typeface="+mn-ea"/>
              </a:rPr>
              <a:t>10</a:t>
            </a:r>
            <a:r>
              <a:rPr lang="en-IN" altLang="en-US" sz="2000">
                <a:sym typeface="+mn-ea"/>
              </a:rPr>
              <a:t>]</a:t>
            </a:r>
            <a:r>
              <a:rPr lang="en-US" sz="2000">
                <a:sym typeface="+mn-ea"/>
              </a:rPr>
              <a:t> Ensemble Machine Learning Framework for Persistent Cyber Attack Detection</a:t>
            </a:r>
            <a:endParaRPr sz="2000" b="0"/>
          </a:p>
        </p:txBody>
      </p:sp>
      <p:sp>
        <p:nvSpPr>
          <p:cNvPr id="190" name="Google Shape;190;p24"/>
          <p:cNvSpPr txBox="1"/>
          <p:nvPr/>
        </p:nvSpPr>
        <p:spPr>
          <a:xfrm>
            <a:off x="311785" y="852170"/>
            <a:ext cx="8457565" cy="3937635"/>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600"/>
              <a:buFont typeface="Arial" panose="020B0604020202020204"/>
              <a:buNone/>
            </a:pPr>
            <a:r>
              <a:rPr lang="en-US"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This approach proposes an ensemble machine learning framework to detect persistent cyber attacks by combining multiple classifiers for improved robustness. It focuses on identifying long-term and stealthy attack behaviors effectively. The main objective is to enhance detection consistency and robustness against persistent cyber threats. This is achieved through ensemble learning techniques that leverage multiple classifiers. The framework uses benchmark intrusion detection datasets for evaluation. Multiple machine learning classifiers are combined to improve overall detection performance. This approach increases resilience against stealthy and complex attack patterns. The ensemble method achieves overall detection accuracy of up to 90–93%. These results demonstrate its advantage over individual classifiers. However, attacks are not explicitly labeled as Advanced Persistent Threats. The framework also does not model kill-chain stages in a structured manner.</a:t>
            </a:r>
            <a:endParaRPr lang="en-US"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just" rtl="0">
              <a:lnSpc>
                <a:spcPct val="100000"/>
              </a:lnSpc>
              <a:spcBef>
                <a:spcPts val="0"/>
              </a:spcBef>
              <a:spcAft>
                <a:spcPts val="0"/>
              </a:spcAft>
              <a:buClr>
                <a:srgbClr val="000000"/>
              </a:buClr>
              <a:buSzPts val="1600"/>
              <a:buFont typeface="Arial" panose="020B0604020202020204"/>
              <a:buChar char="•"/>
            </a:pPr>
            <a:endParaRPr lang="en-US"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5"/>
          <p:cNvSpPr txBox="1">
            <a:spLocks noGrp="1"/>
          </p:cNvSpPr>
          <p:nvPr>
            <p:ph type="title"/>
          </p:nvPr>
        </p:nvSpPr>
        <p:spPr>
          <a:xfrm>
            <a:off x="248920" y="92075"/>
            <a:ext cx="8583295" cy="82677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altLang="en-US" sz="2000">
                <a:sym typeface="+mn-ea"/>
              </a:rPr>
              <a:t>[</a:t>
            </a:r>
            <a:r>
              <a:rPr lang="en-US" sz="2000">
                <a:sym typeface="+mn-ea"/>
              </a:rPr>
              <a:t>11</a:t>
            </a:r>
            <a:r>
              <a:rPr lang="en-IN" altLang="en-US" sz="2000">
                <a:sym typeface="+mn-ea"/>
              </a:rPr>
              <a:t>]</a:t>
            </a:r>
            <a:r>
              <a:rPr lang="en-US" sz="2000">
                <a:sym typeface="+mn-ea"/>
              </a:rPr>
              <a:t> Deep Learning–Based APT Detection Framework for Industrial IoT Networks</a:t>
            </a:r>
            <a:endParaRPr sz="2000" b="0"/>
          </a:p>
        </p:txBody>
      </p:sp>
      <p:sp>
        <p:nvSpPr>
          <p:cNvPr id="197" name="Google Shape;197;p25"/>
          <p:cNvSpPr txBox="1"/>
          <p:nvPr/>
        </p:nvSpPr>
        <p:spPr>
          <a:xfrm>
            <a:off x="248920" y="767715"/>
            <a:ext cx="8664575" cy="397637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600"/>
              <a:buFont typeface="Arial" panose="020B0604020202020204"/>
              <a:buNone/>
            </a:pPr>
            <a:r>
              <a:rPr lang="en-IN"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T</a:t>
            </a:r>
            <a:r>
              <a:rPr lang="en-US"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his approach proposes a deep learning–based framework to detect Advanced Persistent Threats in Industrial IoT (IIoT) environments by learning complex patterns from network traffic and device behavior. It focuses on capturing stealthy and persistent attack activities specific to IoT devices. The main objective is to effectively identify APT behaviors in Industrial IoT networks. This is achieved using deep learning models tailored to IoT environments. The framework analyzes IIoT network traffic datasets to extract meaningful patterns. Deep learning techniques learn complex behavioral patterns associated with advanced cyber attacks targeting IoT devices and infrastructure. This enables accurate identification of malicious activity. The approach reports detection accuracy of up to 94–96%, outperforming traditional machine learning methods. These results highlight its strong effectiveness in IIoT settings. However, the framework is domain-specific to Industrial IoT. It is not directly generalizable to enterprise or cloud network environments.</a:t>
            </a:r>
            <a:endParaRPr lang="en-US"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0"/>
              </a:spcBef>
              <a:spcAft>
                <a:spcPts val="0"/>
              </a:spcAft>
              <a:buClr>
                <a:srgbClr val="000000"/>
              </a:buClr>
              <a:buSzPts val="1600"/>
              <a:buFont typeface="Arial" panose="020B0604020202020204"/>
              <a:buNone/>
            </a:pPr>
            <a:endParaRPr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6"/>
          <p:cNvSpPr txBox="1">
            <a:spLocks noGrp="1"/>
          </p:cNvSpPr>
          <p:nvPr>
            <p:ph type="title"/>
          </p:nvPr>
        </p:nvSpPr>
        <p:spPr>
          <a:xfrm>
            <a:off x="255905" y="213360"/>
            <a:ext cx="8576310" cy="80454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altLang="en-US" sz="2000">
                <a:sym typeface="+mn-ea"/>
              </a:rPr>
              <a:t>[</a:t>
            </a:r>
            <a:r>
              <a:rPr lang="en-US" sz="2000">
                <a:sym typeface="+mn-ea"/>
              </a:rPr>
              <a:t>12</a:t>
            </a:r>
            <a:r>
              <a:rPr lang="en-IN" altLang="en-US" sz="2000">
                <a:sym typeface="+mn-ea"/>
              </a:rPr>
              <a:t>] </a:t>
            </a:r>
            <a:r>
              <a:rPr lang="en-US" sz="2000">
                <a:sym typeface="+mn-ea"/>
              </a:rPr>
              <a:t>Machine Learning–Based Intrusion Detection for APT-Style Attacks in Industrial Networks</a:t>
            </a:r>
            <a:endParaRPr sz="2000"/>
          </a:p>
        </p:txBody>
      </p:sp>
      <p:sp>
        <p:nvSpPr>
          <p:cNvPr id="204" name="Google Shape;204;p26"/>
          <p:cNvSpPr txBox="1"/>
          <p:nvPr/>
        </p:nvSpPr>
        <p:spPr>
          <a:xfrm>
            <a:off x="256540" y="1017905"/>
            <a:ext cx="8466455" cy="3771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600"/>
              <a:buFont typeface="Arial" panose="020B0604020202020204"/>
              <a:buNone/>
            </a:pPr>
            <a:r>
              <a:rPr lang="en-US"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This approach applies machine learning–based intrusion detection techniques to identify Advanced Persistent Threat–style attacks in industrial networks. It focuses on evaluating the effectiveness of multiple classifiers in realistic network scenarios. The main objective is to assess how well machine learning models can detect APT-style attacks within industrial environments. It aims to improve detection accuracy and reliability in critical systems. The system uses industrial network intrusion datasets for analysis. Multiple machine learning classifiers are evaluated to identify malicious behavior. This helps in detecting patterns indicative of APT-style attacks. Detection accuracy of up to 91–94% is reported across the evaluated models. These results demonstrate the potential of machine learning for industrial threat detection. However, the approach does not explicitly model APT kill-chain stages. It also does not perform multi-stage attack correlation.</a:t>
            </a:r>
            <a:endParaRPr lang="en-US"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0"/>
              </a:spcBef>
              <a:spcAft>
                <a:spcPts val="0"/>
              </a:spcAft>
              <a:buClr>
                <a:srgbClr val="000000"/>
              </a:buClr>
              <a:buSzPts val="1600"/>
              <a:buFont typeface="Arial" panose="020B0604020202020204"/>
              <a:buNone/>
            </a:pPr>
            <a:endParaRPr lang="en-US"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7"/>
          <p:cNvSpPr txBox="1">
            <a:spLocks noGrp="1"/>
          </p:cNvSpPr>
          <p:nvPr>
            <p:ph type="title"/>
          </p:nvPr>
        </p:nvSpPr>
        <p:spPr>
          <a:xfrm>
            <a:off x="311785" y="213360"/>
            <a:ext cx="8520430" cy="80454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altLang="en-US" sz="2000">
                <a:sym typeface="+mn-ea"/>
              </a:rPr>
              <a:t>[</a:t>
            </a:r>
            <a:r>
              <a:rPr lang="en-US" sz="2000">
                <a:sym typeface="+mn-ea"/>
              </a:rPr>
              <a:t>13</a:t>
            </a:r>
            <a:r>
              <a:rPr lang="en-IN" altLang="en-US" sz="2000">
                <a:sym typeface="+mn-ea"/>
              </a:rPr>
              <a:t>] </a:t>
            </a:r>
            <a:r>
              <a:rPr lang="en-US" sz="2000">
                <a:sym typeface="+mn-ea"/>
              </a:rPr>
              <a:t>Lightweight APT Detection Using System Performance Metrics</a:t>
            </a:r>
            <a:endParaRPr sz="2000" b="0"/>
          </a:p>
        </p:txBody>
      </p:sp>
      <p:sp>
        <p:nvSpPr>
          <p:cNvPr id="211" name="Google Shape;211;p27"/>
          <p:cNvSpPr txBox="1"/>
          <p:nvPr/>
        </p:nvSpPr>
        <p:spPr>
          <a:xfrm>
            <a:off x="311785" y="770890"/>
            <a:ext cx="8519795" cy="3768725"/>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600"/>
              <a:buFont typeface="Arial" panose="020B0604020202020204"/>
              <a:buNone/>
            </a:pPr>
            <a:r>
              <a:rPr lang="en-US"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This approach proposes a lightweight APT detection method that leverages CPU utilization metrics along with zero-trust principles to identify abnormal system behavior indicative of persistent threats. It focuses on minimizing overhead while maintaining detection capability. The main objective is to enable low-overhead APT detection suitable for resource-constrained environments. It also aims to support early identification of suspicious system behavior. The system analyzes performance and resource utilization logs to monitor normal and abnormal patterns. Behavioral deviation analysis is applied to detect anomalies associated with persistent attack activity. This helps in identifying unusual system behavior efficiently. Detection performance is evaluated through behavioral deviation analysis. Results show moderate detection effectiveness in practical scenarios. However, the approach employs limited machine learning depth. It does not support multi-stage attack detection or explicit APT kill-chain modeling.</a:t>
            </a:r>
            <a:endParaRPr lang="en-US"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0"/>
              </a:spcBef>
              <a:spcAft>
                <a:spcPts val="0"/>
              </a:spcAft>
              <a:buClr>
                <a:srgbClr val="000000"/>
              </a:buClr>
              <a:buSzPts val="1600"/>
              <a:buFont typeface="Arial" panose="020B0604020202020204"/>
              <a:buNone/>
            </a:pPr>
            <a:endParaRPr lang="en-US"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8"/>
          <p:cNvSpPr txBox="1">
            <a:spLocks noGrp="1"/>
          </p:cNvSpPr>
          <p:nvPr>
            <p:ph type="title"/>
          </p:nvPr>
        </p:nvSpPr>
        <p:spPr>
          <a:xfrm>
            <a:off x="311785" y="152400"/>
            <a:ext cx="8520430" cy="86550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altLang="en-US" sz="2000">
                <a:sym typeface="+mn-ea"/>
              </a:rPr>
              <a:t>[</a:t>
            </a:r>
            <a:r>
              <a:rPr lang="en-US" sz="2000">
                <a:sym typeface="+mn-ea"/>
              </a:rPr>
              <a:t>14</a:t>
            </a:r>
            <a:r>
              <a:rPr lang="en-IN" altLang="en-US" sz="2000">
                <a:sym typeface="+mn-ea"/>
              </a:rPr>
              <a:t>] </a:t>
            </a:r>
            <a:r>
              <a:rPr lang="en-US" altLang="en-US" sz="2000"/>
              <a:t>Semi-Synthetic Dataset Generation Framework for APT Evaluation</a:t>
            </a:r>
            <a:endParaRPr lang="en-US" altLang="en-US" sz="2000"/>
          </a:p>
        </p:txBody>
      </p:sp>
      <p:sp>
        <p:nvSpPr>
          <p:cNvPr id="218" name="Google Shape;218;p28"/>
          <p:cNvSpPr txBox="1"/>
          <p:nvPr/>
        </p:nvSpPr>
        <p:spPr>
          <a:xfrm>
            <a:off x="311785" y="591185"/>
            <a:ext cx="8520430" cy="419862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600"/>
              <a:buFont typeface="Arial" panose="020B0604020202020204"/>
              <a:buNone/>
            </a:pPr>
            <a:r>
              <a:rPr lang="en-US" altLang="en-US" sz="1975"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This approach introduces a semi-synthetic dataset generation framework designed to simulate realistic multi-stage Advanced Persistent Threat (APT) campaigns by combining benign and malicious activities. It aims to capture complex attack behaviors in a controlled environment. The primary objective is to provide a modern and realistic benchmark dataset for evaluating multi-stage APT detection and kill-chain analysis approaches. This enables researchers to test detection methods effectively. The framework generates the Unraveled semi-synthetic APT dataset by modeling realistic attack scenarios and stage transitions. It includes detailed simulation of attacker behavior across multiple stages. This allows comprehensive evaluation of APT detection methods and system responses. The dataset is validated through scenario realism and stage coverage. Results demonstrate its effectiveness as a benchmark for research and evaluation purposes. However, the framework does not propose a detection model. It also does not report detection accuracy metrics, as its focus is solely on dataset generation and evaluation.</a:t>
            </a:r>
            <a:endParaRPr lang="en-US" altLang="en-US" sz="1975"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241300" algn="l" rtl="0">
              <a:lnSpc>
                <a:spcPct val="100000"/>
              </a:lnSpc>
              <a:spcBef>
                <a:spcPts val="0"/>
              </a:spcBef>
              <a:spcAft>
                <a:spcPts val="0"/>
              </a:spcAft>
              <a:buClr>
                <a:srgbClr val="000000"/>
              </a:buClr>
              <a:buSzPts val="1600"/>
              <a:buFont typeface="Arial" panose="020B060402020202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241300" algn="l" rtl="0">
              <a:lnSpc>
                <a:spcPct val="100000"/>
              </a:lnSpc>
              <a:spcBef>
                <a:spcPts val="0"/>
              </a:spcBef>
              <a:spcAft>
                <a:spcPts val="0"/>
              </a:spcAft>
              <a:buClr>
                <a:srgbClr val="000000"/>
              </a:buClr>
              <a:buSzPts val="1600"/>
              <a:buFont typeface="Arial" panose="020B060402020202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241300" algn="l" rtl="0">
              <a:lnSpc>
                <a:spcPct val="100000"/>
              </a:lnSpc>
              <a:spcBef>
                <a:spcPts val="0"/>
              </a:spcBef>
              <a:spcAft>
                <a:spcPts val="0"/>
              </a:spcAft>
              <a:buClr>
                <a:srgbClr val="000000"/>
              </a:buClr>
              <a:buSzPts val="1600"/>
              <a:buFont typeface="Arial" panose="020B060402020202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9"/>
          <p:cNvSpPr txBox="1">
            <a:spLocks noGrp="1"/>
          </p:cNvSpPr>
          <p:nvPr>
            <p:ph type="title"/>
          </p:nvPr>
        </p:nvSpPr>
        <p:spPr>
          <a:xfrm>
            <a:off x="127000" y="213360"/>
            <a:ext cx="8705215" cy="80454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altLang="en-US" sz="2000">
                <a:sym typeface="+mn-ea"/>
              </a:rPr>
              <a:t>[</a:t>
            </a:r>
            <a:r>
              <a:rPr lang="en-US" sz="2000">
                <a:sym typeface="+mn-ea"/>
              </a:rPr>
              <a:t>15</a:t>
            </a:r>
            <a:r>
              <a:rPr lang="en-IN" altLang="en-US" sz="2000">
                <a:sym typeface="+mn-ea"/>
              </a:rPr>
              <a:t>] </a:t>
            </a:r>
            <a:r>
              <a:rPr lang="en-US" sz="2000">
                <a:sym typeface="+mn-ea"/>
              </a:rPr>
              <a:t>Hybrid Machine Learning–Driven Intrusion Detection for Industrial Control Systems</a:t>
            </a:r>
            <a:endParaRPr sz="2000" b="0"/>
          </a:p>
        </p:txBody>
      </p:sp>
      <p:sp>
        <p:nvSpPr>
          <p:cNvPr id="225" name="Google Shape;225;p29"/>
          <p:cNvSpPr txBox="1"/>
          <p:nvPr/>
        </p:nvSpPr>
        <p:spPr>
          <a:xfrm>
            <a:off x="127000" y="889000"/>
            <a:ext cx="8705215" cy="3900805"/>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600"/>
              <a:buFont typeface="Arial" panose="020B0604020202020204"/>
              <a:buNone/>
            </a:pPr>
            <a:r>
              <a:rPr lang="en-US"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This approach proposes a machine learning–driven intrusion detection framework for Industrial Control Systems (ICS), combining supervised learning and anomaly detection to identify persistent cyber threats in critical infrastructure environments. It focuses on detecting both known and stealthy attacks that can compromise ICS operations. The main objective is to effectively detect persistent and stealthy attack behaviors in ICS environments. It achieves this through a hybrid machine learning approach that leverages multiple detection techniques. The framework analyzes ICS network and operational datasets to monitor system activity. Supervised classification is used to detect known threats. Anomaly detection techniques identify previously unseen attack patterns. The approach reports detection accuracy of up to 93–95%, demonstrating reliable performance in ICS environments. These results indicate strong effectiveness for real-world applications. However, the system follows a stage-agnostic detection approach.</a:t>
            </a:r>
            <a:endParaRPr lang="en-US"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0"/>
          <p:cNvSpPr txBox="1">
            <a:spLocks noGrp="1"/>
          </p:cNvSpPr>
          <p:nvPr>
            <p:ph type="title"/>
          </p:nvPr>
        </p:nvSpPr>
        <p:spPr>
          <a:xfrm>
            <a:off x="311785" y="213360"/>
            <a:ext cx="8581390" cy="80454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altLang="en-US" sz="2000">
                <a:sym typeface="+mn-ea"/>
              </a:rPr>
              <a:t>[</a:t>
            </a:r>
            <a:r>
              <a:rPr lang="en-US" sz="2000">
                <a:sym typeface="+mn-ea"/>
              </a:rPr>
              <a:t>16</a:t>
            </a:r>
            <a:r>
              <a:rPr lang="en-IN" altLang="en-US" sz="2000">
                <a:sym typeface="+mn-ea"/>
              </a:rPr>
              <a:t>] </a:t>
            </a:r>
            <a:r>
              <a:rPr lang="en-US" sz="2000">
                <a:sym typeface="+mn-ea"/>
              </a:rPr>
              <a:t>Comprehensive Survey on Advanced Persistent Threat Detection Techniques</a:t>
            </a:r>
            <a:endParaRPr sz="2000" b="0"/>
          </a:p>
        </p:txBody>
      </p:sp>
      <p:sp>
        <p:nvSpPr>
          <p:cNvPr id="232" name="Google Shape;232;p30"/>
          <p:cNvSpPr txBox="1"/>
          <p:nvPr/>
        </p:nvSpPr>
        <p:spPr>
          <a:xfrm>
            <a:off x="-46355" y="1017905"/>
            <a:ext cx="8879205" cy="3550285"/>
          </a:xfrm>
          <a:prstGeom prst="rect">
            <a:avLst/>
          </a:prstGeom>
          <a:noFill/>
          <a:ln>
            <a:noFill/>
          </a:ln>
        </p:spPr>
        <p:txBody>
          <a:bodyPr spcFirstLastPara="1" wrap="square" lIns="91425" tIns="45700" rIns="91425" bIns="45700" anchor="t" anchorCtr="0">
            <a:noAutofit/>
          </a:bodyPr>
          <a:lstStyle/>
          <a:p>
            <a:pPr marL="342900" marR="0" lvl="0" indent="-241300" algn="just" rtl="0">
              <a:lnSpc>
                <a:spcPct val="100000"/>
              </a:lnSpc>
              <a:spcBef>
                <a:spcPts val="0"/>
              </a:spcBef>
              <a:spcAft>
                <a:spcPts val="0"/>
              </a:spcAft>
              <a:buClr>
                <a:srgbClr val="000000"/>
              </a:buClr>
              <a:buSzPts val="1600"/>
              <a:buFont typeface="Arial" panose="020B0604020202020204"/>
              <a:buNone/>
            </a:pPr>
            <a:r>
              <a:rPr lang="en-IN"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This work presents a comprehensive survey of Advanced Persistent Threat (APT) detection techniques, covering the APT lifecycle, attack stages, and existing machine learning and rule-based defense mechanisms. It highlights the evolving nature of APT attacks. The main objective is to provide a detailed overview of APT detection methodologies, challenges, and open research gaps. This supports future research directions and system design. The survey analyzes and synthesizes existing literature on APT detection. It categorizes approaches based on attack stages, detection techniques, and defense mechanisms. The study provides a strong theoretical foundation and clear problem justification for APT detection research. However, it does not include experimental evaluation or performance analysis. As a survey-based work, it does not propose or validate a detection model and reports no experimental results.</a:t>
            </a:r>
            <a:endParaRPr lang="en-US"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241300" algn="l" rtl="0">
              <a:lnSpc>
                <a:spcPct val="100000"/>
              </a:lnSpc>
              <a:spcBef>
                <a:spcPts val="0"/>
              </a:spcBef>
              <a:spcAft>
                <a:spcPts val="0"/>
              </a:spcAft>
              <a:buClr>
                <a:srgbClr val="000000"/>
              </a:buClr>
              <a:buSzPts val="1600"/>
              <a:buFont typeface="Arial" panose="020B060402020202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241300" algn="l" rtl="0">
              <a:lnSpc>
                <a:spcPct val="100000"/>
              </a:lnSpc>
              <a:spcBef>
                <a:spcPts val="0"/>
              </a:spcBef>
              <a:spcAft>
                <a:spcPts val="0"/>
              </a:spcAft>
              <a:buClr>
                <a:srgbClr val="000000"/>
              </a:buClr>
              <a:buSzPts val="1600"/>
              <a:buFont typeface="Arial" panose="020B060402020202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1"/>
          <p:cNvSpPr txBox="1">
            <a:spLocks noGrp="1"/>
          </p:cNvSpPr>
          <p:nvPr>
            <p:ph type="title"/>
          </p:nvPr>
        </p:nvSpPr>
        <p:spPr>
          <a:xfrm>
            <a:off x="311785" y="213360"/>
            <a:ext cx="8520430" cy="80454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altLang="en-US" sz="2000">
                <a:sym typeface="+mn-ea"/>
              </a:rPr>
              <a:t>[</a:t>
            </a:r>
            <a:r>
              <a:rPr lang="en-US" sz="2000">
                <a:sym typeface="+mn-ea"/>
              </a:rPr>
              <a:t>17</a:t>
            </a:r>
            <a:r>
              <a:rPr lang="en-IN" altLang="en-US" sz="2000">
                <a:sym typeface="+mn-ea"/>
              </a:rPr>
              <a:t>] </a:t>
            </a:r>
            <a:r>
              <a:rPr lang="en-US" sz="2000">
                <a:sym typeface="+mn-ea"/>
              </a:rPr>
              <a:t>Anomaly-Based Intrusion Detection for Persistent Attacks in Enterprise Networks</a:t>
            </a:r>
            <a:endParaRPr sz="2000" b="0"/>
          </a:p>
        </p:txBody>
      </p:sp>
      <p:sp>
        <p:nvSpPr>
          <p:cNvPr id="239" name="Google Shape;239;p31"/>
          <p:cNvSpPr txBox="1"/>
          <p:nvPr/>
        </p:nvSpPr>
        <p:spPr>
          <a:xfrm>
            <a:off x="312420" y="1017270"/>
            <a:ext cx="8632190" cy="3772535"/>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600"/>
              <a:buFont typeface="Arial" panose="020B0604020202020204"/>
              <a:buNone/>
            </a:pPr>
            <a:r>
              <a:rPr lang="en-US"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This approach proposes an anomaly-based intrusion detection system to identify persistent attacks in large-scale enterprise networks by modeling long-term normal behavior. It focuses on detecting deviations that indicate malicious activity. The main objective is to detect long-duration and stealthy persistent attacks in enterprise-scale environments. This is achieved through behavioral deviation analysis. The system analyzes enterprise network traffic and operational datasets. It learns long-term normal behavior patterns. Anomaly detection techniques are applied to identify deviations linked to persistent attacks. The approach reports high detection effectiveness. It shows improved precision and recall compared to baseline anomaly detection methods. However, the framework does not explicitly classify attacks as Advanced Persistent Threats. It also does not provide kill-chain stage mapping.</a:t>
            </a:r>
            <a:endParaRPr lang="en-US"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241300" algn="l" rtl="0">
              <a:lnSpc>
                <a:spcPct val="100000"/>
              </a:lnSpc>
              <a:spcBef>
                <a:spcPts val="0"/>
              </a:spcBef>
              <a:spcAft>
                <a:spcPts val="0"/>
              </a:spcAft>
              <a:buClr>
                <a:srgbClr val="000000"/>
              </a:buClr>
              <a:buSzPts val="1600"/>
              <a:buFont typeface="Arial" panose="020B060402020202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241300" algn="l" rtl="0">
              <a:lnSpc>
                <a:spcPct val="100000"/>
              </a:lnSpc>
              <a:spcBef>
                <a:spcPts val="0"/>
              </a:spcBef>
              <a:spcAft>
                <a:spcPts val="0"/>
              </a:spcAft>
              <a:buClr>
                <a:srgbClr val="000000"/>
              </a:buClr>
              <a:buSzPts val="1600"/>
              <a:buFont typeface="Arial" panose="020B060402020202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2"/>
          <p:cNvSpPr txBox="1">
            <a:spLocks noGrp="1"/>
          </p:cNvSpPr>
          <p:nvPr>
            <p:ph type="title"/>
          </p:nvPr>
        </p:nvSpPr>
        <p:spPr>
          <a:xfrm>
            <a:off x="296545" y="213360"/>
            <a:ext cx="8535670" cy="80454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altLang="en-US" sz="2000">
                <a:sym typeface="+mn-ea"/>
              </a:rPr>
              <a:t>[</a:t>
            </a:r>
            <a:r>
              <a:rPr lang="en-US" sz="2000">
                <a:sym typeface="+mn-ea"/>
              </a:rPr>
              <a:t>18</a:t>
            </a:r>
            <a:r>
              <a:rPr lang="en-IN" altLang="en-US" sz="2000">
                <a:sym typeface="+mn-ea"/>
              </a:rPr>
              <a:t>] </a:t>
            </a:r>
            <a:r>
              <a:rPr lang="en-US" sz="2000">
                <a:sym typeface="+mn-ea"/>
              </a:rPr>
              <a:t>Machine Learning–Based Behavioral Analysis for APT Detection</a:t>
            </a:r>
            <a:endParaRPr sz="2000" b="0"/>
          </a:p>
        </p:txBody>
      </p:sp>
      <p:sp>
        <p:nvSpPr>
          <p:cNvPr id="246" name="Google Shape;246;p32"/>
          <p:cNvSpPr txBox="1"/>
          <p:nvPr/>
        </p:nvSpPr>
        <p:spPr>
          <a:xfrm>
            <a:off x="594697" y="1209365"/>
            <a:ext cx="7741800" cy="3276000"/>
          </a:xfrm>
          <a:prstGeom prst="rect">
            <a:avLst/>
          </a:prstGeom>
          <a:noFill/>
          <a:ln>
            <a:noFill/>
          </a:ln>
        </p:spPr>
        <p:txBody>
          <a:bodyPr spcFirstLastPara="1" wrap="square" lIns="91425" tIns="45700" rIns="91425" bIns="45700" anchor="t" anchorCtr="0">
            <a:noAutofit/>
          </a:bodyPr>
          <a:lstStyle/>
          <a:p>
            <a:pPr marL="342900" marR="0" lvl="0" indent="-241300" algn="l" rtl="0">
              <a:lnSpc>
                <a:spcPct val="100000"/>
              </a:lnSpc>
              <a:spcBef>
                <a:spcPts val="0"/>
              </a:spcBef>
              <a:spcAft>
                <a:spcPts val="0"/>
              </a:spcAft>
              <a:buClr>
                <a:srgbClr val="000000"/>
              </a:buClr>
              <a:buSzPts val="1600"/>
              <a:buFont typeface="Arial" panose="020B060402020202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241300" algn="l" rtl="0">
              <a:lnSpc>
                <a:spcPct val="100000"/>
              </a:lnSpc>
              <a:spcBef>
                <a:spcPts val="0"/>
              </a:spcBef>
              <a:spcAft>
                <a:spcPts val="0"/>
              </a:spcAft>
              <a:buClr>
                <a:srgbClr val="000000"/>
              </a:buClr>
              <a:buSzPts val="1600"/>
              <a:buFont typeface="Arial" panose="020B060402020202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241300" algn="l" rtl="0">
              <a:lnSpc>
                <a:spcPct val="100000"/>
              </a:lnSpc>
              <a:spcBef>
                <a:spcPts val="0"/>
              </a:spcBef>
              <a:spcAft>
                <a:spcPts val="0"/>
              </a:spcAft>
              <a:buClr>
                <a:srgbClr val="000000"/>
              </a:buClr>
              <a:buSzPts val="1600"/>
              <a:buFont typeface="Arial" panose="020B060402020202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241300" algn="l" rtl="0">
              <a:lnSpc>
                <a:spcPct val="100000"/>
              </a:lnSpc>
              <a:spcBef>
                <a:spcPts val="0"/>
              </a:spcBef>
              <a:spcAft>
                <a:spcPts val="0"/>
              </a:spcAft>
              <a:buClr>
                <a:srgbClr val="000000"/>
              </a:buClr>
              <a:buSzPts val="1600"/>
              <a:buFont typeface="Arial" panose="020B060402020202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Text Placeholder 2"/>
          <p:cNvSpPr/>
          <p:nvPr>
            <p:ph type="body" idx="1"/>
          </p:nvPr>
        </p:nvSpPr>
        <p:spPr>
          <a:xfrm>
            <a:off x="197485" y="839470"/>
            <a:ext cx="8634730" cy="3798570"/>
          </a:xfrm>
        </p:spPr>
        <p:txBody>
          <a:bodyPr>
            <a:noAutofit/>
          </a:bodyPr>
          <a:p>
            <a:pPr marL="114300" indent="0" algn="just">
              <a:lnSpc>
                <a:spcPct val="100000"/>
              </a:lnSpc>
              <a:buNone/>
            </a:pPr>
            <a:r>
              <a:rPr lang="en-US" altLang="en-US" sz="2000">
                <a:solidFill>
                  <a:srgbClr val="000000"/>
                </a:solidFill>
                <a:sym typeface="Times New Roman" panose="02020603050405020304"/>
              </a:rPr>
              <a:t>This approach introduces a machine learning–based behavioral analysis framework to detect Advanced Persistent Threats by modeling long-term system and network behavior patterns. It focuses on capturing persistent and stealthy activities over time. The main objective is to identify APT behaviors using behavioral machine learning techniques rather than traditional signature-based detection. This helps in detecting previously unseen threats. The framework analyzes network traffic and system behavior datasets. It learns long-term behavior patterns. Deviations from these patterns are identified as potential malicious activity using machine learning models. The approach reports detection accuracy of up to 92–95%. This demonstrates improved performance compared to traditional intrusion detection systems. However, the framework does not explicitly model APT kill-chain stages. It also lacks stage-wise attack correlation and detailed attack progression analysis.</a:t>
            </a:r>
            <a:endParaRPr lang="en-US"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114300" indent="0" algn="just">
              <a:lnSpc>
                <a:spcPct val="100000"/>
              </a:lnSpc>
              <a:buNone/>
            </a:pPr>
            <a:endParaRPr lang="en-US"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3"/>
          <p:cNvSpPr txBox="1">
            <a:spLocks noGrp="1"/>
          </p:cNvSpPr>
          <p:nvPr>
            <p:ph type="title"/>
          </p:nvPr>
        </p:nvSpPr>
        <p:spPr>
          <a:xfrm>
            <a:off x="205105" y="213360"/>
            <a:ext cx="8627110" cy="804545"/>
          </a:xfrm>
          <a:prstGeom prst="rect">
            <a:avLst/>
          </a:prstGeom>
          <a:noFill/>
          <a:ln>
            <a:noFill/>
          </a:ln>
        </p:spPr>
        <p:txBody>
          <a:bodyPr spcFirstLastPara="1" wrap="square" lIns="91425" tIns="91425" rIns="91425" bIns="91425" anchor="t" anchorCtr="0">
            <a:noAutofit/>
          </a:bodyPr>
          <a:lstStyle/>
          <a:p>
            <a:pPr marL="0" lvl="0" indent="0" algn="just" rtl="0">
              <a:lnSpc>
                <a:spcPct val="100000"/>
              </a:lnSpc>
              <a:spcBef>
                <a:spcPts val="0"/>
              </a:spcBef>
              <a:spcAft>
                <a:spcPts val="0"/>
              </a:spcAft>
              <a:buSzPts val="2800"/>
              <a:buNone/>
            </a:pPr>
            <a:r>
              <a:rPr lang="en-IN" altLang="en-US" sz="2000">
                <a:sym typeface="+mn-ea"/>
              </a:rPr>
              <a:t>[</a:t>
            </a:r>
            <a:r>
              <a:rPr lang="en-US" sz="2000">
                <a:sym typeface="+mn-ea"/>
              </a:rPr>
              <a:t>19</a:t>
            </a:r>
            <a:r>
              <a:rPr lang="en-IN" altLang="en-US" sz="2000">
                <a:sym typeface="+mn-ea"/>
              </a:rPr>
              <a:t>]</a:t>
            </a:r>
            <a:r>
              <a:rPr lang="en-US" sz="2000">
                <a:sym typeface="+mn-ea"/>
              </a:rPr>
              <a:t> Rule-Based Attack Chain Reconstruction for Persistent Cyber Threat Analysis</a:t>
            </a:r>
            <a:endParaRPr sz="2000"/>
          </a:p>
        </p:txBody>
      </p:sp>
      <p:sp>
        <p:nvSpPr>
          <p:cNvPr id="253" name="Google Shape;253;p33"/>
          <p:cNvSpPr txBox="1"/>
          <p:nvPr/>
        </p:nvSpPr>
        <p:spPr>
          <a:xfrm>
            <a:off x="-635" y="1377315"/>
            <a:ext cx="8337550" cy="3510280"/>
          </a:xfrm>
          <a:prstGeom prst="rect">
            <a:avLst/>
          </a:prstGeom>
          <a:noFill/>
          <a:ln>
            <a:noFill/>
          </a:ln>
        </p:spPr>
        <p:txBody>
          <a:bodyPr spcFirstLastPara="1" wrap="square" lIns="91425" tIns="45700" rIns="91425" bIns="45700" anchor="t" anchorCtr="0">
            <a:noAutofit/>
          </a:bodyPr>
          <a:lstStyle/>
          <a:p>
            <a:pPr marL="342900" marR="0" lvl="0" indent="-241300" algn="just" rtl="0">
              <a:lnSpc>
                <a:spcPct val="100000"/>
              </a:lnSpc>
              <a:spcBef>
                <a:spcPts val="0"/>
              </a:spcBef>
              <a:spcAft>
                <a:spcPts val="0"/>
              </a:spcAft>
              <a:buClr>
                <a:srgbClr val="000000"/>
              </a:buClr>
              <a:buSzPts val="1600"/>
              <a:buFont typeface="Arial" panose="020B0604020202020204"/>
              <a:buNone/>
            </a:pPr>
            <a:r>
              <a:rPr lang="en-IN"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lang="en-US"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241300" algn="l" rtl="0">
              <a:lnSpc>
                <a:spcPct val="100000"/>
              </a:lnSpc>
              <a:spcBef>
                <a:spcPts val="0"/>
              </a:spcBef>
              <a:spcAft>
                <a:spcPts val="0"/>
              </a:spcAft>
              <a:buClr>
                <a:srgbClr val="000000"/>
              </a:buClr>
              <a:buSzPts val="1600"/>
              <a:buFont typeface="Arial" panose="020B0604020202020204"/>
              <a:buNone/>
            </a:pPr>
            <a:endParaRPr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241300" algn="l" rtl="0">
              <a:lnSpc>
                <a:spcPct val="100000"/>
              </a:lnSpc>
              <a:spcBef>
                <a:spcPts val="0"/>
              </a:spcBef>
              <a:spcAft>
                <a:spcPts val="0"/>
              </a:spcAft>
              <a:buClr>
                <a:srgbClr val="000000"/>
              </a:buClr>
              <a:buSzPts val="1600"/>
              <a:buFont typeface="Arial" panose="020B0604020202020204"/>
              <a:buNone/>
            </a:pPr>
            <a:endParaRPr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 Placeholder 1"/>
          <p:cNvSpPr/>
          <p:nvPr>
            <p:ph type="body" idx="1"/>
          </p:nvPr>
        </p:nvSpPr>
        <p:spPr>
          <a:xfrm>
            <a:off x="106045" y="960755"/>
            <a:ext cx="8726170" cy="3608070"/>
          </a:xfrm>
        </p:spPr>
        <p:txBody>
          <a:bodyPr>
            <a:noAutofit/>
          </a:bodyPr>
          <a:p>
            <a:pPr marL="114300" indent="0" algn="just">
              <a:lnSpc>
                <a:spcPct val="100000"/>
              </a:lnSpc>
              <a:buNone/>
            </a:pPr>
            <a:r>
              <a:rPr lang="en-US" altLang="en-US" sz="2000">
                <a:solidFill>
                  <a:srgbClr val="000000"/>
                </a:solidFill>
                <a:sym typeface="Times New Roman" panose="02020603050405020304"/>
              </a:rPr>
              <a:t>This approach proposes a rule-based attack chain reconstruction technique to analyze persistent cyber threats by correlating system and host log events. It focuses on identifying multi-stage attack sequences from observed activities. The main objective is to effectively reconstruct multi-step attack chains. It also aims to provide clear visibility into attack progression for persistent threats. The system analyzes system and host log datasets. It applies rule-based correlation techniques to sequence attacker activities. This enables reconstruction of multi-stage attack behavior. The approach demonstrates improved attack traceability through experimental case studies. These results provide clear insights into how attacks progress over time. However, being purely rule-based, the framework lacks adaptability to evolving attack patterns. It does not support predictive detection or provide machine learning–based accuracy metrics.</a:t>
            </a:r>
            <a:endParaRPr lang="en-US" altLang="en-US" sz="2000">
              <a:solidFill>
                <a:srgbClr val="000000"/>
              </a:solidFill>
              <a:sym typeface="Times New Roman" panose="020206030504050203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4"/>
          <p:cNvSpPr txBox="1">
            <a:spLocks noGrp="1"/>
          </p:cNvSpPr>
          <p:nvPr>
            <p:ph type="title"/>
          </p:nvPr>
        </p:nvSpPr>
        <p:spPr>
          <a:xfrm>
            <a:off x="220980" y="213360"/>
            <a:ext cx="9015095" cy="80454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altLang="en-US" sz="2000">
                <a:sym typeface="+mn-ea"/>
              </a:rPr>
              <a:t>[</a:t>
            </a:r>
            <a:r>
              <a:rPr lang="en-US" sz="2000">
                <a:sym typeface="+mn-ea"/>
              </a:rPr>
              <a:t>20</a:t>
            </a:r>
            <a:r>
              <a:rPr lang="en-IN" altLang="en-US" sz="2000">
                <a:sym typeface="+mn-ea"/>
              </a:rPr>
              <a:t>]</a:t>
            </a:r>
            <a:r>
              <a:rPr lang="en-US" sz="2000">
                <a:sym typeface="+mn-ea"/>
              </a:rPr>
              <a:t> Provenance-Based Analytical Framework for Multi-Step Attack Reasoning</a:t>
            </a:r>
            <a:endParaRPr sz="2000" b="0"/>
          </a:p>
        </p:txBody>
      </p:sp>
      <p:sp>
        <p:nvSpPr>
          <p:cNvPr id="260" name="Google Shape;260;p34"/>
          <p:cNvSpPr txBox="1"/>
          <p:nvPr/>
        </p:nvSpPr>
        <p:spPr>
          <a:xfrm>
            <a:off x="-74930" y="812800"/>
            <a:ext cx="9137015" cy="3930650"/>
          </a:xfrm>
          <a:prstGeom prst="rect">
            <a:avLst/>
          </a:prstGeom>
          <a:noFill/>
          <a:ln>
            <a:noFill/>
          </a:ln>
        </p:spPr>
        <p:txBody>
          <a:bodyPr spcFirstLastPara="1" wrap="square" lIns="91425" tIns="45700" rIns="91425" bIns="45700" anchor="t" anchorCtr="0">
            <a:noAutofit/>
          </a:bodyPr>
          <a:lstStyle/>
          <a:p>
            <a:pPr marL="342900" marR="0" lvl="0" indent="-241300" algn="just" rtl="0">
              <a:lnSpc>
                <a:spcPct val="100000"/>
              </a:lnSpc>
              <a:spcBef>
                <a:spcPts val="0"/>
              </a:spcBef>
              <a:spcAft>
                <a:spcPts val="0"/>
              </a:spcAft>
              <a:buClr>
                <a:srgbClr val="000000"/>
              </a:buClr>
              <a:buSzPts val="1600"/>
              <a:buFont typeface="Arial" panose="020B0604020202020204"/>
              <a:buNone/>
            </a:pPr>
            <a:r>
              <a:rPr lang="en-IN"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This approach presents a provenance-based analytical framework for multi-step attack reasoning, focusing on correlating system activities to understand complex attack sequences and dependencies. It emphasizes analyzing causal links within system behavior. The main objective is to support multi-step attack reasoning and kill-chain analysis. This is achieved by identifying causal relationships between attacker actions and system events. The framework analyzes system provenance data along with security logs. It performs analytical reasoning over attack sequences. This enables a detailed understanding of attack dependencies and progression. The approach is evaluated using case studies and attack scenario analysis. These evaluations demonstrate its effectiveness in reconstructing complex attack sequences. However, the framework does not incorporate machine learning techniques. It mainly relies on analytical reasoning and does not provide automated or predictive detection with quantitative ML accuracy metrics.</a:t>
            </a:r>
            <a:endParaRPr lang="en-US"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241300" algn="just" rtl="0">
              <a:lnSpc>
                <a:spcPct val="100000"/>
              </a:lnSpc>
              <a:spcBef>
                <a:spcPts val="0"/>
              </a:spcBef>
              <a:spcAft>
                <a:spcPts val="0"/>
              </a:spcAft>
              <a:buClr>
                <a:srgbClr val="000000"/>
              </a:buClr>
              <a:buSzPts val="1600"/>
              <a:buFont typeface="Arial" panose="020B0604020202020204"/>
              <a:buNone/>
            </a:pPr>
            <a:endParaRPr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09245" y="174625"/>
            <a:ext cx="8714740" cy="398780"/>
          </a:xfrm>
          <a:prstGeom prst="rect">
            <a:avLst/>
          </a:prstGeom>
          <a:noFill/>
        </p:spPr>
        <p:txBody>
          <a:bodyPr wrap="square" rtlCol="0">
            <a:spAutoFit/>
          </a:bodyPr>
          <a:p>
            <a:r>
              <a:rPr lang="en-US" altLang="en-US" sz="2000" b="1">
                <a:latin typeface="Times New Roman" panose="02020603050405020304" charset="0"/>
                <a:cs typeface="Times New Roman" panose="02020603050405020304" charset="0"/>
              </a:rPr>
              <a:t>[21] Survey of Machine Learning Techniques for APT Detection</a:t>
            </a:r>
            <a:endParaRPr lang="en-US" altLang="en-US" sz="2000" b="1">
              <a:latin typeface="Times New Roman" panose="02020603050405020304" charset="0"/>
              <a:cs typeface="Times New Roman" panose="02020603050405020304" charset="0"/>
            </a:endParaRPr>
          </a:p>
        </p:txBody>
      </p:sp>
      <p:sp>
        <p:nvSpPr>
          <p:cNvPr id="3" name="Text Box 2"/>
          <p:cNvSpPr txBox="1"/>
          <p:nvPr/>
        </p:nvSpPr>
        <p:spPr>
          <a:xfrm>
            <a:off x="304165" y="679450"/>
            <a:ext cx="8715375" cy="3837305"/>
          </a:xfrm>
          <a:prstGeom prst="rect">
            <a:avLst/>
          </a:prstGeom>
          <a:noFill/>
        </p:spPr>
        <p:txBody>
          <a:bodyPr wrap="square" rtlCol="0">
            <a:noAutofit/>
          </a:bodyPr>
          <a:p>
            <a:pPr algn="just"/>
            <a:r>
              <a:rPr lang="en-US" altLang="en-US" sz="2000">
                <a:latin typeface="Times New Roman" panose="02020603050405020304" charset="0"/>
                <a:cs typeface="Times New Roman" panose="02020603050405020304" charset="0"/>
              </a:rPr>
              <a:t>Advanced Persistent Threats (APTs) are stealthy and complex cyber attacks that are challenging to detect. Machine learning (ML) offers promising approaches to analyze and understand these threats. This work aims to provide a detailed overview of ML-based techniques for APT detection. It also seeks to identify key challenges and highlight open research gaps useful for problem formulation. The methodology involves a comprehensive survey of existing literature analyzing supervised, unsupervised, and hybrid ML approaches. No experimental datasets are used in this survey-based study. The survey provides theoretical insights and a detailed background on ML-based APT detection. It also identifies gaps and challenges for future research. However, this study does not include any experimental validation or performance evaluation. These limitations suggest the need for future works to include practical experiments and metrics.</a:t>
            </a:r>
            <a:endParaRPr lang="en-US" altLang="en-US" sz="2000">
              <a:latin typeface="Times New Roman" panose="02020603050405020304" charset="0"/>
              <a:cs typeface="Times New Roman" panose="0202060305040502030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12725" y="174625"/>
            <a:ext cx="8811260" cy="398780"/>
          </a:xfrm>
          <a:prstGeom prst="rect">
            <a:avLst/>
          </a:prstGeom>
          <a:noFill/>
        </p:spPr>
        <p:txBody>
          <a:bodyPr wrap="square" rtlCol="0">
            <a:spAutoFit/>
          </a:bodyPr>
          <a:p>
            <a:r>
              <a:rPr lang="en-US" altLang="en-US" sz="2000" b="1">
                <a:latin typeface="Times New Roman" panose="02020603050405020304" charset="0"/>
                <a:cs typeface="Times New Roman" panose="02020603050405020304" charset="0"/>
              </a:rPr>
              <a:t> [22] ML-Based Intrusion Detection for Industrial Networks</a:t>
            </a:r>
            <a:endParaRPr lang="en-US" altLang="en-US" sz="2000" b="1">
              <a:latin typeface="Times New Roman" panose="02020603050405020304" charset="0"/>
              <a:cs typeface="Times New Roman" panose="02020603050405020304" charset="0"/>
            </a:endParaRPr>
          </a:p>
        </p:txBody>
      </p:sp>
      <p:sp>
        <p:nvSpPr>
          <p:cNvPr id="3" name="Text Box 2"/>
          <p:cNvSpPr txBox="1"/>
          <p:nvPr/>
        </p:nvSpPr>
        <p:spPr>
          <a:xfrm>
            <a:off x="304165" y="679450"/>
            <a:ext cx="8715375" cy="3837305"/>
          </a:xfrm>
          <a:prstGeom prst="rect">
            <a:avLst/>
          </a:prstGeom>
          <a:noFill/>
        </p:spPr>
        <p:txBody>
          <a:bodyPr wrap="square" rtlCol="0">
            <a:noAutofit/>
          </a:bodyPr>
          <a:p>
            <a:pPr algn="just"/>
            <a:r>
              <a:rPr lang="en-US" altLang="en-US" sz="2000">
                <a:latin typeface="Times New Roman" panose="02020603050405020304" charset="0"/>
                <a:cs typeface="Times New Roman" panose="02020603050405020304" charset="0"/>
              </a:rPr>
              <a:t>Advanced Persistent Threats (APTs) can infiltrate industrial networks and cause severe damage if undetected. Machine learning models can help detect these attacks by analyzing network behavior and patterns. This study aims to evaluate the effectiveness of ML classifiers in detecting APT-style attacks in industrial environments. It also seeks to demonstrate experimental validation of ML-based intrusion detection techniques. The methodology applies multiple supervised classifiers to industrial network intrusion datasets. Experimental evaluation is performed to measure detection performance across various scenarios. The ML-based study reports detection accuracy of approximately 91–94%, depending on the classifiers used. These results show that ML models can effectively detect APT-style attacks in practical industrial networks. However, the study does not explicitly model APT kill-chain stages or multi-stage attack behavior. These limitations indicate opportunities for more comprehensive ML approaches in future research.</a:t>
            </a:r>
            <a:endParaRPr lang="en-US" altLang="en-US" sz="2000">
              <a:latin typeface="Times New Roman" panose="02020603050405020304" charset="0"/>
              <a:cs typeface="Times New Roman" panose="0202060305040502030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09245" y="174625"/>
            <a:ext cx="8714740" cy="398780"/>
          </a:xfrm>
          <a:prstGeom prst="rect">
            <a:avLst/>
          </a:prstGeom>
          <a:noFill/>
        </p:spPr>
        <p:txBody>
          <a:bodyPr wrap="square" rtlCol="0">
            <a:spAutoFit/>
          </a:bodyPr>
          <a:p>
            <a:r>
              <a:rPr lang="en-US" altLang="en-US" sz="2000" b="1">
                <a:latin typeface="Times New Roman" panose="02020603050405020304" charset="0"/>
                <a:cs typeface="Times New Roman" panose="02020603050405020304" charset="0"/>
              </a:rPr>
              <a:t>[2</a:t>
            </a:r>
            <a:r>
              <a:rPr lang="en-IN" altLang="en-US" sz="2000" b="1">
                <a:latin typeface="Times New Roman" panose="02020603050405020304" charset="0"/>
                <a:cs typeface="Times New Roman" panose="02020603050405020304" charset="0"/>
              </a:rPr>
              <a:t>3</a:t>
            </a:r>
            <a:r>
              <a:rPr lang="en-US" altLang="en-US" sz="2000" b="1">
                <a:latin typeface="Times New Roman" panose="02020603050405020304" charset="0"/>
                <a:cs typeface="Times New Roman" panose="02020603050405020304" charset="0"/>
              </a:rPr>
              <a:t>] Deep Learning–Based APT Detection in Industrial IoT</a:t>
            </a:r>
            <a:endParaRPr lang="en-US" altLang="en-US" sz="2000" b="1">
              <a:latin typeface="Times New Roman" panose="02020603050405020304" charset="0"/>
              <a:cs typeface="Times New Roman" panose="02020603050405020304" charset="0"/>
            </a:endParaRPr>
          </a:p>
        </p:txBody>
      </p:sp>
      <p:sp>
        <p:nvSpPr>
          <p:cNvPr id="3" name="Text Box 2"/>
          <p:cNvSpPr txBox="1"/>
          <p:nvPr/>
        </p:nvSpPr>
        <p:spPr>
          <a:xfrm>
            <a:off x="304165" y="679450"/>
            <a:ext cx="8715375" cy="3837305"/>
          </a:xfrm>
          <a:prstGeom prst="rect">
            <a:avLst/>
          </a:prstGeom>
          <a:noFill/>
        </p:spPr>
        <p:txBody>
          <a:bodyPr wrap="square" rtlCol="0">
            <a:noAutofit/>
          </a:bodyPr>
          <a:p>
            <a:pPr algn="just"/>
            <a:r>
              <a:rPr lang="en-US" altLang="en-US" sz="2000">
                <a:latin typeface="Times New Roman" panose="02020603050405020304" charset="0"/>
                <a:cs typeface="Times New Roman" panose="02020603050405020304" charset="0"/>
              </a:rPr>
              <a:t>Industrial Internet of Things environments are highly vulnerable to Advanced Persistent Threats. These attacks are difficult to detect due to their stealthy and long-term nature. The main objective of this study is to detect persistent APT attacks in IIoT networks. Another objective is to improve detection accuracy using deep learning techniques. The methodology uses a deep learning–based framework trained on IIoT network traffic data. It analyzes network traffic and device behavior to identify abnormal activities. The results show a high detection accuracy of up to 94–96%. The proposed model performs better than traditional machine learning methods. However, the approach is limited to Industrial IoT environments. It is not directly applicable to enterprise or cloud-based networks. The model also lacks explicit cyber kill-chain modeling.</a:t>
            </a:r>
            <a:endParaRPr lang="en-US" altLang="en-US" sz="2000">
              <a:latin typeface="Times New Roman" panose="02020603050405020304" charset="0"/>
              <a:cs typeface="Times New Roman" panose="0202060305040502030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5"/>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Limitations of Existing Approaches (Summary)</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6" name="Google Shape;266;p35"/>
          <p:cNvSpPr txBox="1"/>
          <p:nvPr/>
        </p:nvSpPr>
        <p:spPr>
          <a:xfrm>
            <a:off x="126365" y="781685"/>
            <a:ext cx="8791575" cy="4063365"/>
          </a:xfrm>
          <a:prstGeom prst="rect">
            <a:avLst/>
          </a:prstGeom>
          <a:noFill/>
          <a:ln>
            <a:noFill/>
          </a:ln>
        </p:spPr>
        <p:txBody>
          <a:bodyPr spcFirstLastPara="1" wrap="square" lIns="91425" tIns="91425" rIns="91425" bIns="91425" anchor="t" anchorCtr="0">
            <a:noAutofit/>
          </a:bodyPr>
          <a:lstStyle/>
          <a:p>
            <a:pPr marL="448310" lvl="0" indent="-342900" algn="just" defTabSz="0" rtl="0">
              <a:spcBef>
                <a:spcPts val="0"/>
              </a:spcBef>
              <a:spcAft>
                <a:spcPts val="0"/>
              </a:spcAft>
              <a:buFont typeface="Arial" panose="020B0604020202020204" pitchFamily="34" charset="0"/>
              <a:buChar char="•"/>
              <a:tabLst>
                <a:tab pos="358140" algn="l"/>
              </a:tabLst>
            </a:pP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Existing intrusion detection approaches primarily focus on binary attack detection and do not explicitly model the multi-stage progression of Advanced Persistent Threats across the cyber kill chain.</a:t>
            </a:r>
            <a:endPar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48310" lvl="0" indent="-342900" algn="just" defTabSz="0" rtl="0">
              <a:spcBef>
                <a:spcPts val="0"/>
              </a:spcBef>
              <a:spcAft>
                <a:spcPts val="0"/>
              </a:spcAft>
              <a:buFont typeface="Arial" panose="020B0604020202020204" pitchFamily="34" charset="0"/>
              <a:buChar char="•"/>
              <a:tabLst>
                <a:tab pos="358140" algn="l"/>
              </a:tabLst>
            </a:pP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Many machine learning–based methods analyze security events in isolation, failing to correlate activities across different attack stages such as reconnaissance, lateral movement, and data exfiltration.</a:t>
            </a:r>
            <a:endPar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48310" lvl="0" indent="-342900" algn="just" defTabSz="0" rtl="0">
              <a:spcBef>
                <a:spcPts val="0"/>
              </a:spcBef>
              <a:spcAft>
                <a:spcPts val="0"/>
              </a:spcAft>
              <a:buFont typeface="Arial" panose="020B0604020202020204" pitchFamily="34" charset="0"/>
              <a:buChar char="•"/>
              <a:tabLst>
                <a:tab pos="358140" algn="l"/>
              </a:tabLst>
            </a:pP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Deep learning and anomaly-based detection techniques often function as black-box models, offering limited interpretability for security analysts during investigation.</a:t>
            </a:r>
            <a:endPar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34085" marR="0" lvl="0" indent="-342900" algn="just" defTabSz="0" rtl="0">
              <a:lnSpc>
                <a:spcPct val="100000"/>
              </a:lnSpc>
              <a:spcBef>
                <a:spcPts val="0"/>
              </a:spcBef>
              <a:spcAft>
                <a:spcPts val="0"/>
              </a:spcAft>
              <a:buFont typeface="Arial" panose="020B0604020202020204" pitchFamily="34" charset="0"/>
              <a:buChar char="•"/>
              <a:tabLst>
                <a:tab pos="358140" algn="l"/>
              </a:tabLst>
            </a:pP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36"/>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Limitations of Existing Approaches (Summary)</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2" name="Google Shape;272;p36"/>
          <p:cNvSpPr txBox="1"/>
          <p:nvPr/>
        </p:nvSpPr>
        <p:spPr>
          <a:xfrm>
            <a:off x="226380" y="781921"/>
            <a:ext cx="8691239" cy="3727935"/>
          </a:xfrm>
          <a:prstGeom prst="rect">
            <a:avLst/>
          </a:prstGeom>
          <a:noFill/>
          <a:ln>
            <a:noFill/>
          </a:ln>
        </p:spPr>
        <p:txBody>
          <a:bodyPr spcFirstLastPara="1" wrap="square" lIns="91425" tIns="91425" rIns="91425" bIns="91425" anchor="t" anchorCtr="0">
            <a:noAutofit/>
          </a:bodyPr>
          <a:lstStyle/>
          <a:p>
            <a:pPr marL="457200" marR="0" lvl="1" indent="-267970" algn="just" defTabSz="0" rtl="0">
              <a:lnSpc>
                <a:spcPct val="100000"/>
              </a:lnSpc>
              <a:spcBef>
                <a:spcPts val="0"/>
              </a:spcBef>
              <a:spcAft>
                <a:spcPts val="0"/>
              </a:spcAft>
              <a:buClr>
                <a:schemeClr val="dk2"/>
              </a:buClr>
              <a:buSzPts val="2800"/>
              <a:buFont typeface="Arial" panose="020B0604020202020204" pitchFamily="34" charset="0"/>
              <a:buChar char="•"/>
              <a:tabLst>
                <a:tab pos="268605" algn="l"/>
                <a:tab pos="358140" algn="l"/>
              </a:tabLst>
            </a:pP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Anomaly-based approaches frequently generate high false positive rates, as rare but legitimate network behaviors are often misclassified as malicious.</a:t>
            </a:r>
            <a:endPar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1" indent="-267970" algn="just" defTabSz="0" rtl="0">
              <a:lnSpc>
                <a:spcPct val="100000"/>
              </a:lnSpc>
              <a:spcBef>
                <a:spcPts val="0"/>
              </a:spcBef>
              <a:spcAft>
                <a:spcPts val="0"/>
              </a:spcAft>
              <a:buClr>
                <a:schemeClr val="dk2"/>
              </a:buClr>
              <a:buSzPts val="2800"/>
              <a:buFont typeface="Arial" panose="020B0604020202020204" pitchFamily="34" charset="0"/>
              <a:buChar char="•"/>
              <a:tabLst>
                <a:tab pos="268605" algn="l"/>
                <a:tab pos="358140" algn="l"/>
              </a:tabLst>
            </a:pP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Several existing solutions rely on rule-based or static detection mechanisms, which lack adaptability to evolving and previously unseen APT attack strategies.</a:t>
            </a:r>
            <a:endPar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1" indent="-267970" algn="just" defTabSz="0" rtl="0">
              <a:lnSpc>
                <a:spcPct val="100000"/>
              </a:lnSpc>
              <a:spcBef>
                <a:spcPts val="0"/>
              </a:spcBef>
              <a:spcAft>
                <a:spcPts val="0"/>
              </a:spcAft>
              <a:buClr>
                <a:schemeClr val="dk2"/>
              </a:buClr>
              <a:buSzPts val="2800"/>
              <a:buFont typeface="Arial" panose="020B0604020202020204" pitchFamily="34" charset="0"/>
              <a:buChar char="•"/>
              <a:tabLst>
                <a:tab pos="268605" algn="l"/>
                <a:tab pos="358140" algn="l"/>
              </a:tabLst>
            </a:pP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Many approaches are domain-specific or resource-intensive, limiting scalability and practical deployment in large-scale or real-time network environments.</a:t>
            </a:r>
            <a:endPar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1" indent="-267970" algn="just" defTabSz="0" rtl="0">
              <a:lnSpc>
                <a:spcPct val="100000"/>
              </a:lnSpc>
              <a:spcBef>
                <a:spcPts val="0"/>
              </a:spcBef>
              <a:spcAft>
                <a:spcPts val="0"/>
              </a:spcAft>
              <a:buClr>
                <a:schemeClr val="dk2"/>
              </a:buClr>
              <a:buSzPts val="2800"/>
              <a:buFont typeface="Arial" panose="020B0604020202020204" pitchFamily="34" charset="0"/>
              <a:buChar char="•"/>
              <a:tabLst>
                <a:tab pos="268605" algn="l"/>
                <a:tab pos="358140" algn="l"/>
              </a:tabLst>
            </a:pPr>
            <a:endPar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7"/>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Objectives of  the Proposed Work</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8" name="Google Shape;278;p37"/>
          <p:cNvSpPr txBox="1"/>
          <p:nvPr/>
        </p:nvSpPr>
        <p:spPr>
          <a:xfrm>
            <a:off x="226695" y="588010"/>
            <a:ext cx="8691245" cy="3780790"/>
          </a:xfrm>
          <a:prstGeom prst="rect">
            <a:avLst/>
          </a:prstGeom>
          <a:noFill/>
          <a:ln>
            <a:noFill/>
          </a:ln>
        </p:spPr>
        <p:txBody>
          <a:bodyPr spcFirstLastPara="1" wrap="square" lIns="91425" tIns="91425" rIns="91425" bIns="91425" anchor="t" anchorCtr="0">
            <a:noAutofit/>
          </a:bodyPr>
          <a:lstStyle/>
          <a:p>
            <a:pPr marL="365125" marR="0" lvl="1" indent="-283845" algn="just" defTabSz="0" rtl="0">
              <a:lnSpc>
                <a:spcPct val="100000"/>
              </a:lnSpc>
              <a:spcBef>
                <a:spcPts val="0"/>
              </a:spcBef>
              <a:spcAft>
                <a:spcPts val="0"/>
              </a:spcAft>
              <a:buClr>
                <a:schemeClr val="dk2"/>
              </a:buClr>
              <a:buSzPts val="2800"/>
              <a:buFont typeface="Arial" panose="020B0604020202020204" pitchFamily="34" charset="0"/>
              <a:buChar char="•"/>
              <a:tabLst>
                <a:tab pos="268605" algn="l"/>
                <a:tab pos="358140" algn="l"/>
              </a:tabLst>
            </a:pP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To develop a TabNet-based framework for detecting Advanced Persistent Threats by classifying APT kill chain stages from network traffic data.</a:t>
            </a:r>
            <a:endPar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65125" marR="0" lvl="1" indent="-283845" algn="just" defTabSz="0" rtl="0">
              <a:lnSpc>
                <a:spcPct val="100000"/>
              </a:lnSpc>
              <a:spcBef>
                <a:spcPts val="0"/>
              </a:spcBef>
              <a:spcAft>
                <a:spcPts val="0"/>
              </a:spcAft>
              <a:buClr>
                <a:schemeClr val="dk2"/>
              </a:buClr>
              <a:buSzPts val="2800"/>
              <a:buFont typeface="Arial" panose="020B0604020202020204" pitchFamily="34" charset="0"/>
              <a:buChar char="•"/>
              <a:tabLst>
                <a:tab pos="268605" algn="l"/>
                <a:tab pos="358140" algn="l"/>
              </a:tabLst>
            </a:pP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To perform effective data preprocessing, including SMOTE for class imbalance handling and PCA for dimensionality reduction, to enhance feature representation.</a:t>
            </a:r>
            <a:endPar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65125" marR="0" lvl="1" indent="-283845" algn="just" defTabSz="0" rtl="0">
              <a:lnSpc>
                <a:spcPct val="100000"/>
              </a:lnSpc>
              <a:spcBef>
                <a:spcPts val="0"/>
              </a:spcBef>
              <a:spcAft>
                <a:spcPts val="0"/>
              </a:spcAft>
              <a:buClr>
                <a:schemeClr val="dk2"/>
              </a:buClr>
              <a:buSzPts val="2800"/>
              <a:buFont typeface="Arial" panose="020B0604020202020204" pitchFamily="34" charset="0"/>
              <a:buChar char="•"/>
              <a:tabLst>
                <a:tab pos="268605" algn="l"/>
                <a:tab pos="358140" algn="l"/>
              </a:tabLst>
            </a:pP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To implement a baseline TabNet model and an optimized TabNet model using hyperparameter tuning and improved training strategies.</a:t>
            </a:r>
            <a:endPar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65125" marR="0" lvl="1" indent="-283845" algn="just" defTabSz="0" rtl="0">
              <a:lnSpc>
                <a:spcPct val="100000"/>
              </a:lnSpc>
              <a:spcBef>
                <a:spcPts val="0"/>
              </a:spcBef>
              <a:spcAft>
                <a:spcPts val="0"/>
              </a:spcAft>
              <a:buClr>
                <a:schemeClr val="dk2"/>
              </a:buClr>
              <a:buSzPts val="2800"/>
              <a:buFont typeface="Arial" panose="020B0604020202020204" pitchFamily="34" charset="0"/>
              <a:buChar char="•"/>
              <a:tabLst>
                <a:tab pos="268605" algn="l"/>
                <a:tab pos="358140" algn="l"/>
              </a:tabLst>
            </a:pP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To evaluate and compare the performance of baseline and optimized TabNet models in terms of accuracy and stage-wise detection effectiveness.</a:t>
            </a: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38"/>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Software &amp; Hardware Requirements</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4" name="Google Shape;284;p38"/>
          <p:cNvSpPr txBox="1"/>
          <p:nvPr/>
        </p:nvSpPr>
        <p:spPr>
          <a:xfrm>
            <a:off x="226695" y="464185"/>
            <a:ext cx="8691245" cy="2898775"/>
          </a:xfrm>
          <a:prstGeom prst="rect">
            <a:avLst/>
          </a:prstGeom>
          <a:noFill/>
          <a:ln>
            <a:noFill/>
          </a:ln>
        </p:spPr>
        <p:txBody>
          <a:bodyPr spcFirstLastPara="1" wrap="square" lIns="91425" tIns="91425" rIns="91425" bIns="91425" anchor="t" anchorCtr="0">
            <a:noAutofit/>
          </a:bodyPr>
          <a:lstStyle/>
          <a:p>
            <a:pPr marL="25400" marR="0" lvl="0" indent="0" algn="l" rtl="0">
              <a:lnSpc>
                <a:spcPct val="100000"/>
              </a:lnSpc>
              <a:spcBef>
                <a:spcPts val="0"/>
              </a:spcBef>
              <a:spcAft>
                <a:spcPts val="0"/>
              </a:spcAft>
              <a:buClr>
                <a:schemeClr val="dk2"/>
              </a:buClr>
              <a:buSzPts val="2800"/>
              <a:buFont typeface="Arial" panose="020B0604020202020204"/>
              <a:buNone/>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Minimum Software Requirements</a:t>
            </a:r>
            <a:endPar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25500" lvl="0" indent="-342900" algn="l" rtl="0">
              <a:spcBef>
                <a:spcPts val="0"/>
              </a:spcBef>
              <a:spcAft>
                <a:spcPts val="0"/>
              </a:spcAft>
              <a:buFont typeface="Arial" panose="020B0604020202020204" pitchFamily="34" charset="0"/>
              <a:buChar char="•"/>
            </a:pPr>
            <a:r>
              <a:rPr lang="en-US" sz="2200" b="1">
                <a:solidFill>
                  <a:schemeClr val="dk1"/>
                </a:solidFill>
                <a:latin typeface="Times New Roman" panose="02020603050405020304"/>
                <a:ea typeface="Times New Roman" panose="02020603050405020304"/>
                <a:cs typeface="Times New Roman" panose="02020603050405020304"/>
                <a:sym typeface="Times New Roman" panose="02020603050405020304"/>
              </a:rPr>
              <a:t>Operating System:</a:t>
            </a:r>
            <a:r>
              <a:rPr lang="en-US" sz="2200">
                <a:solidFill>
                  <a:schemeClr val="dk1"/>
                </a:solidFill>
                <a:latin typeface="Times New Roman" panose="02020603050405020304"/>
                <a:ea typeface="Times New Roman" panose="02020603050405020304"/>
                <a:cs typeface="Times New Roman" panose="02020603050405020304"/>
                <a:sym typeface="Times New Roman" panose="02020603050405020304"/>
              </a:rPr>
              <a:t> Windows 10</a:t>
            </a:r>
            <a:endParaRPr sz="2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25500" lvl="0" indent="-342900" algn="l" rtl="0">
              <a:spcBef>
                <a:spcPts val="0"/>
              </a:spcBef>
              <a:spcAft>
                <a:spcPts val="0"/>
              </a:spcAft>
              <a:buFont typeface="Arial" panose="020B0604020202020204" pitchFamily="34" charset="0"/>
              <a:buChar char="•"/>
            </a:pPr>
            <a:r>
              <a:rPr lang="en-US" sz="2200" b="1">
                <a:solidFill>
                  <a:schemeClr val="dk1"/>
                </a:solidFill>
                <a:latin typeface="Times New Roman" panose="02020603050405020304"/>
                <a:ea typeface="Times New Roman" panose="02020603050405020304"/>
                <a:cs typeface="Times New Roman" panose="02020603050405020304"/>
                <a:sym typeface="Times New Roman" panose="02020603050405020304"/>
              </a:rPr>
              <a:t>Programming Language:</a:t>
            </a:r>
            <a:r>
              <a:rPr lang="en-US" sz="2200">
                <a:solidFill>
                  <a:schemeClr val="dk1"/>
                </a:solidFill>
                <a:latin typeface="Times New Roman" panose="02020603050405020304"/>
                <a:ea typeface="Times New Roman" panose="02020603050405020304"/>
                <a:cs typeface="Times New Roman" panose="02020603050405020304"/>
                <a:sym typeface="Times New Roman" panose="02020603050405020304"/>
              </a:rPr>
              <a:t> Python</a:t>
            </a:r>
            <a:endParaRPr lang="en-US" sz="2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25500" lvl="0" indent="-342900" algn="l" rtl="0">
              <a:spcBef>
                <a:spcPts val="0"/>
              </a:spcBef>
              <a:spcAft>
                <a:spcPts val="0"/>
              </a:spcAft>
              <a:buFont typeface="Arial" panose="020B0604020202020204" pitchFamily="34" charset="0"/>
              <a:buChar char="•"/>
            </a:pPr>
            <a:r>
              <a:rPr lang="en-US" sz="2200" b="1">
                <a:solidFill>
                  <a:schemeClr val="dk1"/>
                </a:solidFill>
                <a:latin typeface="Times New Roman" panose="02020603050405020304"/>
                <a:ea typeface="Times New Roman" panose="02020603050405020304"/>
                <a:cs typeface="Times New Roman" panose="02020603050405020304"/>
                <a:sym typeface="Times New Roman" panose="02020603050405020304"/>
              </a:rPr>
              <a:t>Development Environment:</a:t>
            </a:r>
            <a:r>
              <a:rPr lang="en-US" sz="22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2200">
                <a:solidFill>
                  <a:schemeClr val="dk1"/>
                </a:solidFill>
                <a:latin typeface="Times New Roman" panose="02020603050405020304"/>
                <a:ea typeface="Times New Roman" panose="02020603050405020304"/>
                <a:cs typeface="Times New Roman" panose="02020603050405020304"/>
                <a:sym typeface="Times New Roman" panose="02020603050405020304"/>
              </a:rPr>
              <a:t>Jupyter Notebook / PyCharm</a:t>
            </a:r>
            <a:endParaRPr sz="2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25500" lvl="0" indent="-342900" algn="l" rtl="0">
              <a:spcBef>
                <a:spcPts val="0"/>
              </a:spcBef>
              <a:spcAft>
                <a:spcPts val="0"/>
              </a:spcAft>
              <a:buFont typeface="Arial" panose="020B0604020202020204" pitchFamily="34" charset="0"/>
              <a:buChar char="•"/>
            </a:pPr>
            <a:r>
              <a:rPr lang="en-US" sz="2200" b="1">
                <a:solidFill>
                  <a:schemeClr val="dk1"/>
                </a:solidFill>
                <a:latin typeface="Times New Roman" panose="02020603050405020304"/>
                <a:ea typeface="Times New Roman" panose="02020603050405020304"/>
                <a:cs typeface="Times New Roman" panose="02020603050405020304"/>
                <a:sym typeface="Times New Roman" panose="02020603050405020304"/>
              </a:rPr>
              <a:t>Machine Learning Framework:</a:t>
            </a:r>
            <a:r>
              <a:rPr lang="en-US" sz="2200">
                <a:solidFill>
                  <a:schemeClr val="dk1"/>
                </a:solidFill>
                <a:latin typeface="Times New Roman" panose="02020603050405020304"/>
                <a:ea typeface="Times New Roman" panose="02020603050405020304"/>
                <a:cs typeface="Times New Roman" panose="02020603050405020304"/>
                <a:sym typeface="Times New Roman" panose="02020603050405020304"/>
              </a:rPr>
              <a:t> PyTorch (for TabNet implementation)</a:t>
            </a:r>
            <a:endParaRPr lang="en-US" sz="2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25500" lvl="0" indent="-342900" algn="l" rtl="0">
              <a:spcBef>
                <a:spcPts val="0"/>
              </a:spcBef>
              <a:spcAft>
                <a:spcPts val="0"/>
              </a:spcAft>
              <a:buFont typeface="Arial" panose="020B0604020202020204" pitchFamily="34" charset="0"/>
              <a:buChar char="•"/>
            </a:pPr>
            <a:r>
              <a:rPr lang="en-US" altLang="en-US" sz="2200" b="1">
                <a:solidFill>
                  <a:schemeClr val="dk1"/>
                </a:solidFill>
                <a:latin typeface="Times New Roman" panose="02020603050405020304"/>
                <a:ea typeface="Times New Roman" panose="02020603050405020304"/>
                <a:cs typeface="Times New Roman" panose="02020603050405020304"/>
                <a:sym typeface="Times New Roman" panose="02020603050405020304"/>
              </a:rPr>
              <a:t>Libraries:</a:t>
            </a:r>
            <a:r>
              <a:rPr lang="en-US" altLang="en-US" sz="2200">
                <a:solidFill>
                  <a:schemeClr val="dk1"/>
                </a:solidFill>
                <a:latin typeface="Times New Roman" panose="02020603050405020304"/>
                <a:ea typeface="Times New Roman" panose="02020603050405020304"/>
                <a:cs typeface="Times New Roman" panose="02020603050405020304"/>
                <a:sym typeface="Times New Roman" panose="02020603050405020304"/>
              </a:rPr>
              <a:t> NumPy, Pandas, Scikit-learn, Matplotlib, Seaborn</a:t>
            </a:r>
            <a:endParaRPr lang="en-US" altLang="en-US" sz="2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25500" lvl="0" indent="-342900" algn="l" rtl="0">
              <a:spcBef>
                <a:spcPts val="0"/>
              </a:spcBef>
              <a:spcAft>
                <a:spcPts val="0"/>
              </a:spcAft>
              <a:buFont typeface="Arial" panose="020B0604020202020204" pitchFamily="34" charset="0"/>
              <a:buChar char="•"/>
            </a:pPr>
            <a:r>
              <a:rPr lang="en-US" sz="2200" b="1">
                <a:solidFill>
                  <a:schemeClr val="dk1"/>
                </a:solidFill>
                <a:latin typeface="Times New Roman" panose="02020603050405020304"/>
                <a:ea typeface="Times New Roman" panose="02020603050405020304"/>
                <a:cs typeface="Times New Roman" panose="02020603050405020304"/>
                <a:sym typeface="Times New Roman" panose="02020603050405020304"/>
              </a:rPr>
              <a:t>Dataset Sources:</a:t>
            </a:r>
            <a:r>
              <a:rPr lang="en-US" sz="2200">
                <a:solidFill>
                  <a:schemeClr val="dk1"/>
                </a:solidFill>
                <a:latin typeface="Times New Roman" panose="02020603050405020304"/>
                <a:ea typeface="Times New Roman" panose="02020603050405020304"/>
                <a:cs typeface="Times New Roman" panose="02020603050405020304"/>
                <a:sym typeface="Times New Roman" panose="02020603050405020304"/>
              </a:rPr>
              <a:t> DAPT2020, Unraveled 2023</a:t>
            </a:r>
            <a:endParaRPr lang="en-US" sz="2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25500" lvl="0" indent="-342900" algn="l" rtl="0">
              <a:spcBef>
                <a:spcPts val="0"/>
              </a:spcBef>
              <a:spcAft>
                <a:spcPts val="0"/>
              </a:spcAft>
              <a:buFont typeface="Arial" panose="020B0604020202020204" pitchFamily="34" charset="0"/>
              <a:buChar char="•"/>
            </a:pPr>
            <a:endParaRPr lang="en-US" altLang="en-US" sz="2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25500" lvl="0" indent="-342900" algn="l" rtl="0">
              <a:spcBef>
                <a:spcPts val="0"/>
              </a:spcBef>
              <a:spcAft>
                <a:spcPts val="0"/>
              </a:spcAft>
              <a:buFont typeface="Arial" panose="020B0604020202020204" pitchFamily="34" charset="0"/>
              <a:buChar char="•"/>
            </a:pPr>
            <a:endParaRPr lang="en-US" sz="2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25500" lvl="0" indent="-342900" algn="l" rtl="0">
              <a:spcBef>
                <a:spcPts val="0"/>
              </a:spcBef>
              <a:spcAft>
                <a:spcPts val="0"/>
              </a:spcAft>
              <a:buFont typeface="Arial" panose="020B0604020202020204" pitchFamily="34" charset="0"/>
              <a:buChar char="•"/>
            </a:pPr>
            <a:endParaRPr sz="2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25500" marR="0" lvl="1" indent="-139700" algn="l" rtl="0">
              <a:lnSpc>
                <a:spcPct val="100000"/>
              </a:lnSpc>
              <a:spcBef>
                <a:spcPts val="0"/>
              </a:spcBef>
              <a:spcAft>
                <a:spcPts val="0"/>
              </a:spcAft>
              <a:buClr>
                <a:schemeClr val="dk2"/>
              </a:buClr>
              <a:buSzPts val="2800"/>
              <a:buFont typeface="Arial" panose="020B0604020202020204"/>
              <a:buNone/>
            </a:pP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257300" marR="0" lvl="2" indent="-139700" algn="l" rtl="0">
              <a:lnSpc>
                <a:spcPct val="100000"/>
              </a:lnSpc>
              <a:spcBef>
                <a:spcPts val="0"/>
              </a:spcBef>
              <a:spcAft>
                <a:spcPts val="0"/>
              </a:spcAft>
              <a:buClr>
                <a:schemeClr val="dk2"/>
              </a:buClr>
              <a:buSzPts val="2800"/>
              <a:buFont typeface="Arial" panose="020B0604020202020204"/>
              <a:buNone/>
            </a:pP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Text Box 2"/>
          <p:cNvSpPr txBox="1"/>
          <p:nvPr/>
        </p:nvSpPr>
        <p:spPr>
          <a:xfrm>
            <a:off x="-213360" y="3211195"/>
            <a:ext cx="9029700" cy="1576070"/>
          </a:xfrm>
          <a:prstGeom prst="rect">
            <a:avLst/>
          </a:prstGeom>
          <a:noFill/>
        </p:spPr>
        <p:txBody>
          <a:bodyPr wrap="square" rtlCol="0">
            <a:noAutofit/>
          </a:bodyPr>
          <a:p>
            <a:pPr marL="482600" lvl="0" indent="0" algn="l" rtl="0">
              <a:spcBef>
                <a:spcPts val="0"/>
              </a:spcBef>
              <a:spcAft>
                <a:spcPts val="0"/>
              </a:spcAft>
              <a:buFont typeface="Arial" panose="020B0604020202020204" pitchFamily="34" charset="0"/>
              <a:buNone/>
            </a:pPr>
            <a:r>
              <a:rPr lang="en-IN" altLang="en-US" sz="2200" b="1">
                <a:solidFill>
                  <a:schemeClr val="dk1"/>
                </a:solidFill>
                <a:latin typeface="Times New Roman" panose="02020603050405020304"/>
                <a:ea typeface="Times New Roman" panose="02020603050405020304"/>
                <a:cs typeface="Times New Roman" panose="02020603050405020304"/>
                <a:sym typeface="Times New Roman" panose="02020603050405020304"/>
              </a:rPr>
              <a:t>Minimum Hardware Requirements</a:t>
            </a:r>
            <a:endParaRPr lang="en-IN" altLang="en-US" sz="22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292860" lvl="0" indent="-342900" algn="l" rtl="0">
              <a:spcBef>
                <a:spcPts val="0"/>
              </a:spcBef>
              <a:spcAft>
                <a:spcPts val="0"/>
              </a:spcAft>
              <a:buFont typeface="Arial" panose="020B0604020202020204" pitchFamily="34" charset="0"/>
              <a:buChar char="•"/>
            </a:pPr>
            <a:r>
              <a:rPr lang="en-US" altLang="en-US" sz="2200" b="1">
                <a:solidFill>
                  <a:schemeClr val="dk1"/>
                </a:solidFill>
                <a:latin typeface="Times New Roman" panose="02020603050405020304"/>
                <a:ea typeface="Times New Roman" panose="02020603050405020304"/>
                <a:cs typeface="Times New Roman" panose="02020603050405020304"/>
                <a:sym typeface="Times New Roman" panose="02020603050405020304"/>
              </a:rPr>
              <a:t>Processor: </a:t>
            </a:r>
            <a:r>
              <a:rPr lang="en-US" altLang="en-US" sz="2200">
                <a:solidFill>
                  <a:schemeClr val="dk1"/>
                </a:solidFill>
                <a:latin typeface="Times New Roman" panose="02020603050405020304"/>
                <a:ea typeface="Times New Roman" panose="02020603050405020304"/>
                <a:cs typeface="Times New Roman" panose="02020603050405020304"/>
                <a:sym typeface="Times New Roman" panose="02020603050405020304"/>
              </a:rPr>
              <a:t>Intel i5 or above</a:t>
            </a:r>
            <a:endParaRPr lang="en-US" altLang="en-US" sz="22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292860" lvl="0" indent="-342900" algn="l" rtl="0">
              <a:spcBef>
                <a:spcPts val="0"/>
              </a:spcBef>
              <a:spcAft>
                <a:spcPts val="0"/>
              </a:spcAft>
              <a:buFont typeface="Arial" panose="020B0604020202020204" pitchFamily="34" charset="0"/>
              <a:buChar char="•"/>
            </a:pPr>
            <a:r>
              <a:rPr lang="en-US" altLang="en-US" sz="2200" b="1">
                <a:solidFill>
                  <a:schemeClr val="dk1"/>
                </a:solidFill>
                <a:latin typeface="Times New Roman" panose="02020603050405020304"/>
                <a:ea typeface="Times New Roman" panose="02020603050405020304"/>
                <a:cs typeface="Times New Roman" panose="02020603050405020304"/>
                <a:sym typeface="Times New Roman" panose="02020603050405020304"/>
              </a:rPr>
              <a:t>RAM: </a:t>
            </a:r>
            <a:r>
              <a:rPr lang="en-US" altLang="en-US" sz="2200">
                <a:solidFill>
                  <a:schemeClr val="dk1"/>
                </a:solidFill>
                <a:latin typeface="Times New Roman" panose="02020603050405020304"/>
                <a:ea typeface="Times New Roman" panose="02020603050405020304"/>
                <a:cs typeface="Times New Roman" panose="02020603050405020304"/>
                <a:sym typeface="Times New Roman" panose="02020603050405020304"/>
              </a:rPr>
              <a:t>Minimum 8 GB (16 GB recommended)</a:t>
            </a:r>
            <a:endParaRPr lang="en-US" altLang="en-US" sz="22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292860" lvl="0" indent="-342900" algn="l" rtl="0">
              <a:spcBef>
                <a:spcPts val="0"/>
              </a:spcBef>
              <a:spcAft>
                <a:spcPts val="0"/>
              </a:spcAft>
              <a:buFont typeface="Arial" panose="020B0604020202020204" pitchFamily="34" charset="0"/>
              <a:buChar char="•"/>
            </a:pPr>
            <a:r>
              <a:rPr lang="en-US" altLang="en-US" sz="2200" b="1">
                <a:solidFill>
                  <a:schemeClr val="dk1"/>
                </a:solidFill>
                <a:latin typeface="Times New Roman" panose="02020603050405020304"/>
                <a:ea typeface="Times New Roman" panose="02020603050405020304"/>
                <a:cs typeface="Times New Roman" panose="02020603050405020304"/>
                <a:sym typeface="Times New Roman" panose="02020603050405020304"/>
              </a:rPr>
              <a:t>Storage: </a:t>
            </a:r>
            <a:r>
              <a:rPr lang="en-US" altLang="en-US" sz="2200">
                <a:solidFill>
                  <a:schemeClr val="dk1"/>
                </a:solidFill>
                <a:latin typeface="Times New Roman" panose="02020603050405020304"/>
                <a:ea typeface="Times New Roman" panose="02020603050405020304"/>
                <a:cs typeface="Times New Roman" panose="02020603050405020304"/>
                <a:sym typeface="Times New Roman" panose="02020603050405020304"/>
              </a:rPr>
              <a:t>Minimum 20 GB free space</a:t>
            </a:r>
            <a:endParaRPr lang="en-US" altLang="en-US" sz="22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292860" lvl="0" indent="-342900" algn="l" rtl="0">
              <a:spcBef>
                <a:spcPts val="0"/>
              </a:spcBef>
              <a:spcAft>
                <a:spcPts val="0"/>
              </a:spcAft>
              <a:buFont typeface="Arial" panose="020B0604020202020204" pitchFamily="34" charset="0"/>
              <a:buChar char="•"/>
            </a:pPr>
            <a:r>
              <a:rPr lang="en-US" altLang="en-US" sz="2200" b="1">
                <a:solidFill>
                  <a:schemeClr val="dk1"/>
                </a:solidFill>
                <a:latin typeface="Times New Roman" panose="02020603050405020304"/>
                <a:ea typeface="Times New Roman" panose="02020603050405020304"/>
                <a:cs typeface="Times New Roman" panose="02020603050405020304"/>
                <a:sym typeface="Times New Roman" panose="02020603050405020304"/>
              </a:rPr>
              <a:t>GPU (Optional): </a:t>
            </a:r>
            <a:r>
              <a:rPr lang="en-US" altLang="en-US" sz="2200">
                <a:solidFill>
                  <a:schemeClr val="dk1"/>
                </a:solidFill>
                <a:latin typeface="Times New Roman" panose="02020603050405020304"/>
                <a:ea typeface="Times New Roman" panose="02020603050405020304"/>
                <a:cs typeface="Times New Roman" panose="02020603050405020304"/>
                <a:sym typeface="Times New Roman" panose="02020603050405020304"/>
              </a:rPr>
              <a:t>NVIDIA GPU for faster model training</a:t>
            </a:r>
            <a:endParaRPr lang="en-US" altLang="en-US" sz="2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292860" lvl="1" indent="0" algn="l" rtl="0">
              <a:lnSpc>
                <a:spcPct val="115000"/>
              </a:lnSpc>
              <a:spcBef>
                <a:spcPts val="0"/>
              </a:spcBef>
              <a:spcAft>
                <a:spcPts val="0"/>
              </a:spcAft>
              <a:buSzPts val="1400"/>
              <a:buFont typeface="Arial" panose="020B0604020202020204" pitchFamily="34" charset="0"/>
              <a:buNone/>
            </a:pPr>
            <a:r>
              <a:rPr lang="en-IN" altLang="en-US" sz="2200" b="1">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2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40"/>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Proposed Method: Architecture Diagram</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6" name="Google Shape;296;p40"/>
          <p:cNvSpPr txBox="1"/>
          <p:nvPr/>
        </p:nvSpPr>
        <p:spPr>
          <a:xfrm>
            <a:off x="226380" y="781921"/>
            <a:ext cx="8691239" cy="3727935"/>
          </a:xfrm>
          <a:prstGeom prst="rect">
            <a:avLst/>
          </a:prstGeom>
          <a:noFill/>
          <a:ln>
            <a:noFill/>
          </a:ln>
        </p:spPr>
        <p:txBody>
          <a:bodyPr spcFirstLastPara="1" wrap="square" lIns="91425" tIns="91425" rIns="91425" bIns="91425" anchor="t" anchorCtr="0">
            <a:noAutofit/>
          </a:bodyPr>
          <a:lstStyle/>
          <a:p>
            <a:pPr marL="368300" marR="0" lvl="0" indent="-165100" algn="l" rtl="0">
              <a:lnSpc>
                <a:spcPct val="100000"/>
              </a:lnSpc>
              <a:spcBef>
                <a:spcPts val="0"/>
              </a:spcBef>
              <a:spcAft>
                <a:spcPts val="0"/>
              </a:spcAft>
              <a:buClr>
                <a:schemeClr val="dk2"/>
              </a:buClr>
              <a:buSzPts val="2800"/>
              <a:buFont typeface="Arial" panose="020B0604020202020204"/>
              <a:buNone/>
            </a:pP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00100" marR="0" lvl="1" indent="-139700" algn="l" rtl="0">
              <a:lnSpc>
                <a:spcPct val="100000"/>
              </a:lnSpc>
              <a:spcBef>
                <a:spcPts val="0"/>
              </a:spcBef>
              <a:spcAft>
                <a:spcPts val="0"/>
              </a:spcAft>
              <a:buClr>
                <a:schemeClr val="dk2"/>
              </a:buClr>
              <a:buSzPts val="2800"/>
              <a:buFont typeface="Arial" panose="020B0604020202020204"/>
              <a:buNone/>
            </a:pP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00100" marR="0" lvl="1" indent="-139700" algn="l" rtl="0">
              <a:lnSpc>
                <a:spcPct val="100000"/>
              </a:lnSpc>
              <a:spcBef>
                <a:spcPts val="0"/>
              </a:spcBef>
              <a:spcAft>
                <a:spcPts val="0"/>
              </a:spcAft>
              <a:buClr>
                <a:schemeClr val="dk2"/>
              </a:buClr>
              <a:buSzPts val="2800"/>
              <a:buFont typeface="Arial" panose="020B0604020202020204"/>
              <a:buNone/>
            </a:pP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7" name="Google Shape;297;p40"/>
          <p:cNvSpPr txBox="1"/>
          <p:nvPr/>
        </p:nvSpPr>
        <p:spPr>
          <a:xfrm>
            <a:off x="-13849662" y="-2038488"/>
            <a:ext cx="36736739" cy="12260229"/>
          </a:xfrm>
          <a:prstGeom prst="rect">
            <a:avLst/>
          </a:prstGeom>
          <a:noFill/>
          <a:ln w="9525" cap="flat" cmpd="sng">
            <a:solidFill>
              <a:srgbClr val="0C5ADB"/>
            </a:solidFill>
            <a:prstDash val="solid"/>
            <a:round/>
            <a:headEnd type="none" w="sm" len="sm"/>
            <a:tailEnd type="none" w="sm" len="sm"/>
          </a:ln>
        </p:spPr>
        <p:txBody>
          <a:bodyPr spcFirstLastPara="1" wrap="square" lIns="91425" tIns="91425" rIns="91425" bIns="91425" anchor="t" anchorCtr="0">
            <a:noAutofit/>
          </a:bodyPr>
          <a:lstStyle/>
          <a:p>
            <a:pPr marL="25400" marR="0" lvl="0" indent="0" algn="just" rtl="0">
              <a:lnSpc>
                <a:spcPct val="100000"/>
              </a:lnSpc>
              <a:spcBef>
                <a:spcPts val="0"/>
              </a:spcBef>
              <a:spcAft>
                <a:spcPts val="0"/>
              </a:spcAft>
              <a:buClr>
                <a:schemeClr val="dk2"/>
              </a:buClr>
              <a:buSzPts val="2800"/>
              <a:buFont typeface="Arial" panose="020B0604020202020204"/>
              <a:buNone/>
            </a:pP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00100" marR="0" lvl="1" indent="-139700" algn="just" rtl="0">
              <a:lnSpc>
                <a:spcPct val="100000"/>
              </a:lnSpc>
              <a:spcBef>
                <a:spcPts val="0"/>
              </a:spcBef>
              <a:spcAft>
                <a:spcPts val="0"/>
              </a:spcAft>
              <a:buClr>
                <a:schemeClr val="dk2"/>
              </a:buClr>
              <a:buSzPts val="2800"/>
              <a:buFont typeface="Arial" panose="020B0604020202020204"/>
              <a:buNone/>
            </a:pP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00100" marR="0" lvl="1" indent="-139700" algn="just" rtl="0">
              <a:lnSpc>
                <a:spcPct val="100000"/>
              </a:lnSpc>
              <a:spcBef>
                <a:spcPts val="0"/>
              </a:spcBef>
              <a:spcAft>
                <a:spcPts val="0"/>
              </a:spcAft>
              <a:buClr>
                <a:schemeClr val="dk2"/>
              </a:buClr>
              <a:buSzPts val="2800"/>
              <a:buFont typeface="Arial" panose="020B0604020202020204"/>
              <a:buNone/>
            </a:pP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 name="Picture 1"/>
          <p:cNvPicPr>
            <a:picLocks noChangeAspect="1"/>
          </p:cNvPicPr>
          <p:nvPr/>
        </p:nvPicPr>
        <p:blipFill>
          <a:blip r:embed="rId1"/>
          <a:stretch>
            <a:fillRect/>
          </a:stretch>
        </p:blipFill>
        <p:spPr>
          <a:xfrm>
            <a:off x="0" y="539750"/>
            <a:ext cx="9143365" cy="424370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41"/>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Proposed Method: Architecture Diagram</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4" name="Google Shape;304;p41"/>
          <p:cNvSpPr txBox="1"/>
          <p:nvPr/>
        </p:nvSpPr>
        <p:spPr>
          <a:xfrm>
            <a:off x="226380" y="781921"/>
            <a:ext cx="8691239" cy="3727935"/>
          </a:xfrm>
          <a:prstGeom prst="rect">
            <a:avLst/>
          </a:prstGeom>
          <a:noFill/>
          <a:ln>
            <a:noFill/>
          </a:ln>
        </p:spPr>
        <p:txBody>
          <a:bodyPr spcFirstLastPara="1" wrap="square" lIns="91425" tIns="91425" rIns="91425" bIns="91425" anchor="t" anchorCtr="0">
            <a:noAutofit/>
          </a:bodyPr>
          <a:lstStyle/>
          <a:p>
            <a:pPr marL="368300" marR="0" lvl="0" indent="-165100" algn="l" rtl="0">
              <a:lnSpc>
                <a:spcPct val="100000"/>
              </a:lnSpc>
              <a:spcBef>
                <a:spcPts val="0"/>
              </a:spcBef>
              <a:spcAft>
                <a:spcPts val="0"/>
              </a:spcAft>
              <a:buClr>
                <a:schemeClr val="dk2"/>
              </a:buClr>
              <a:buSzPts val="2800"/>
              <a:buFont typeface="Arial" panose="020B0604020202020204"/>
              <a:buNone/>
            </a:pP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00100" marR="0" lvl="1" indent="-139700" algn="l" rtl="0">
              <a:lnSpc>
                <a:spcPct val="100000"/>
              </a:lnSpc>
              <a:spcBef>
                <a:spcPts val="0"/>
              </a:spcBef>
              <a:spcAft>
                <a:spcPts val="0"/>
              </a:spcAft>
              <a:buClr>
                <a:schemeClr val="dk2"/>
              </a:buClr>
              <a:buSzPts val="2800"/>
              <a:buFont typeface="Arial" panose="020B0604020202020204"/>
              <a:buNone/>
            </a:pP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00100" marR="0" lvl="1" indent="-139700" algn="l" rtl="0">
              <a:lnSpc>
                <a:spcPct val="100000"/>
              </a:lnSpc>
              <a:spcBef>
                <a:spcPts val="0"/>
              </a:spcBef>
              <a:spcAft>
                <a:spcPts val="0"/>
              </a:spcAft>
              <a:buClr>
                <a:schemeClr val="dk2"/>
              </a:buClr>
              <a:buSzPts val="2800"/>
              <a:buFont typeface="Arial" panose="020B0604020202020204"/>
              <a:buNone/>
            </a:pP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5" name="Google Shape;305;p41"/>
          <p:cNvSpPr txBox="1"/>
          <p:nvPr/>
        </p:nvSpPr>
        <p:spPr>
          <a:xfrm>
            <a:off x="226695" y="691515"/>
            <a:ext cx="8482330" cy="3970655"/>
          </a:xfrm>
          <a:prstGeom prst="rect">
            <a:avLst/>
          </a:prstGeom>
          <a:noFill/>
          <a:ln>
            <a:noFill/>
          </a:ln>
        </p:spPr>
        <p:txBody>
          <a:bodyPr spcFirstLastPara="1" wrap="square" lIns="91425" tIns="91425" rIns="91425" bIns="91425" anchor="t" anchorCtr="0">
            <a:noAutofit/>
          </a:bodyPr>
          <a:lstStyle/>
          <a:p>
            <a:pPr marL="457200" marR="0" lvl="0" indent="-342900" algn="just" rtl="0">
              <a:lnSpc>
                <a:spcPct val="100000"/>
              </a:lnSpc>
              <a:spcBef>
                <a:spcPts val="0"/>
              </a:spcBef>
              <a:spcAft>
                <a:spcPts val="0"/>
              </a:spcAft>
              <a:buClr>
                <a:schemeClr val="dk2"/>
              </a:buClr>
              <a:buSzPts val="2800"/>
              <a:buFont typeface="Arial" panose="020B0604020202020204" pitchFamily="34" charset="0"/>
              <a:buChar char="•"/>
            </a:pPr>
            <a:r>
              <a:rPr lang="en-US" alt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Data Collection – </a:t>
            </a:r>
            <a:r>
              <a:rPr lang="en-US" altLang="en-US"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Uses DAPT2020 and Unraveled 2023 datasets for APT detection and kill-chain classification.</a:t>
            </a:r>
            <a:endParaRPr lang="en-US" alt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342900" algn="just" rtl="0">
              <a:lnSpc>
                <a:spcPct val="100000"/>
              </a:lnSpc>
              <a:spcBef>
                <a:spcPts val="0"/>
              </a:spcBef>
              <a:spcAft>
                <a:spcPts val="0"/>
              </a:spcAft>
              <a:buClr>
                <a:schemeClr val="dk2"/>
              </a:buClr>
              <a:buSzPts val="2800"/>
              <a:buFont typeface="Arial" panose="020B0604020202020204" pitchFamily="34" charset="0"/>
              <a:buChar char="•"/>
            </a:pPr>
            <a:r>
              <a:rPr lang="en-US" alt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Data Preprocessing – </a:t>
            </a:r>
            <a:r>
              <a:rPr lang="en-US" altLang="en-US"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Handles missing values, normalizes features, and encodes labels into numeric format.</a:t>
            </a:r>
            <a:endParaRPr lang="en-US" alt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342900" algn="just" rtl="0">
              <a:lnSpc>
                <a:spcPct val="100000"/>
              </a:lnSpc>
              <a:spcBef>
                <a:spcPts val="0"/>
              </a:spcBef>
              <a:spcAft>
                <a:spcPts val="0"/>
              </a:spcAft>
              <a:buClr>
                <a:schemeClr val="dk2"/>
              </a:buClr>
              <a:buSzPts val="2800"/>
              <a:buFont typeface="Arial" panose="020B0604020202020204" pitchFamily="34" charset="0"/>
              <a:buChar char="•"/>
            </a:pPr>
            <a:r>
              <a:rPr lang="en-US" alt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Class Imbalance Handling (SMOTE) – </a:t>
            </a:r>
            <a:r>
              <a:rPr lang="en-US" altLang="en-US"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Balances the dataset by generating synthetic samples for minority classes.</a:t>
            </a:r>
            <a:endParaRPr lang="en-US" alt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342900" algn="just" rtl="0">
              <a:lnSpc>
                <a:spcPct val="100000"/>
              </a:lnSpc>
              <a:spcBef>
                <a:spcPts val="0"/>
              </a:spcBef>
              <a:spcAft>
                <a:spcPts val="0"/>
              </a:spcAft>
              <a:buClr>
                <a:schemeClr val="dk2"/>
              </a:buClr>
              <a:buSzPts val="2800"/>
              <a:buFont typeface="Arial" panose="020B0604020202020204" pitchFamily="34" charset="0"/>
              <a:buChar char="•"/>
            </a:pPr>
            <a:r>
              <a:rPr lang="en-US" alt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Dimensionality Reduction (PCA) – </a:t>
            </a:r>
            <a:r>
              <a:rPr lang="en-US" altLang="en-US"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Reduces redundant/noisy features while preserving maximum useful information.</a:t>
            </a:r>
            <a:endParaRPr lang="en-US" altLang="en-US"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00100" marR="0" lvl="1" indent="-139700" algn="dist" rtl="0">
              <a:lnSpc>
                <a:spcPct val="100000"/>
              </a:lnSpc>
              <a:spcBef>
                <a:spcPts val="0"/>
              </a:spcBef>
              <a:spcAft>
                <a:spcPts val="0"/>
              </a:spcAft>
              <a:buClr>
                <a:schemeClr val="dk2"/>
              </a:buClr>
              <a:buSzPts val="2800"/>
              <a:buFont typeface="Arial" panose="020B0604020202020204"/>
              <a:buNone/>
            </a:pP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00100" marR="0" lvl="1" indent="-139700" algn="just" rtl="0">
              <a:lnSpc>
                <a:spcPct val="100000"/>
              </a:lnSpc>
              <a:spcBef>
                <a:spcPts val="0"/>
              </a:spcBef>
              <a:spcAft>
                <a:spcPts val="0"/>
              </a:spcAft>
              <a:buClr>
                <a:schemeClr val="dk2"/>
              </a:buClr>
              <a:buSzPts val="2800"/>
              <a:buFont typeface="Arial" panose="020B0604020202020204"/>
              <a:buNone/>
            </a:pP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42"/>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Proposed Method: Architecture Diagram</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1" name="Google Shape;311;p42"/>
          <p:cNvSpPr txBox="1"/>
          <p:nvPr/>
        </p:nvSpPr>
        <p:spPr>
          <a:xfrm>
            <a:off x="226380" y="781921"/>
            <a:ext cx="8691239" cy="3727935"/>
          </a:xfrm>
          <a:prstGeom prst="rect">
            <a:avLst/>
          </a:prstGeom>
          <a:noFill/>
          <a:ln>
            <a:noFill/>
          </a:ln>
        </p:spPr>
        <p:txBody>
          <a:bodyPr spcFirstLastPara="1" wrap="square" lIns="91425" tIns="91425" rIns="91425" bIns="91425" anchor="t" anchorCtr="0">
            <a:noAutofit/>
          </a:bodyPr>
          <a:lstStyle/>
          <a:p>
            <a:pPr marL="368300" marR="0" lvl="0" indent="-165100" algn="l" rtl="0">
              <a:lnSpc>
                <a:spcPct val="100000"/>
              </a:lnSpc>
              <a:spcBef>
                <a:spcPts val="0"/>
              </a:spcBef>
              <a:spcAft>
                <a:spcPts val="0"/>
              </a:spcAft>
              <a:buClr>
                <a:schemeClr val="dk2"/>
              </a:buClr>
              <a:buSzPts val="2800"/>
              <a:buFont typeface="Arial" panose="020B0604020202020204"/>
              <a:buNone/>
            </a:pP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00100" marR="0" lvl="1" indent="-139700" algn="l" rtl="0">
              <a:lnSpc>
                <a:spcPct val="100000"/>
              </a:lnSpc>
              <a:spcBef>
                <a:spcPts val="0"/>
              </a:spcBef>
              <a:spcAft>
                <a:spcPts val="0"/>
              </a:spcAft>
              <a:buClr>
                <a:schemeClr val="dk2"/>
              </a:buClr>
              <a:buSzPts val="2800"/>
              <a:buFont typeface="Arial" panose="020B0604020202020204"/>
              <a:buNone/>
            </a:pP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00100" marR="0" lvl="1" indent="-139700" algn="l" rtl="0">
              <a:lnSpc>
                <a:spcPct val="100000"/>
              </a:lnSpc>
              <a:spcBef>
                <a:spcPts val="0"/>
              </a:spcBef>
              <a:spcAft>
                <a:spcPts val="0"/>
              </a:spcAft>
              <a:buClr>
                <a:schemeClr val="dk2"/>
              </a:buClr>
              <a:buSzPts val="2800"/>
              <a:buFont typeface="Arial" panose="020B0604020202020204"/>
              <a:buNone/>
            </a:pP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2" name="Google Shape;312;p42"/>
          <p:cNvSpPr txBox="1"/>
          <p:nvPr/>
        </p:nvSpPr>
        <p:spPr>
          <a:xfrm>
            <a:off x="226695" y="699770"/>
            <a:ext cx="8632825" cy="3962400"/>
          </a:xfrm>
          <a:prstGeom prst="rect">
            <a:avLst/>
          </a:prstGeom>
          <a:noFill/>
          <a:ln>
            <a:noFill/>
          </a:ln>
        </p:spPr>
        <p:txBody>
          <a:bodyPr spcFirstLastPara="1" wrap="square" lIns="91425" tIns="91425" rIns="91425" bIns="91425" anchor="t" anchorCtr="0">
            <a:noAutofit/>
          </a:bodyPr>
          <a:lstStyle/>
          <a:p>
            <a:pPr marL="457200" marR="0" lvl="0" indent="-342900" algn="just" rtl="0">
              <a:lnSpc>
                <a:spcPct val="100000"/>
              </a:lnSpc>
              <a:spcBef>
                <a:spcPts val="0"/>
              </a:spcBef>
              <a:spcAft>
                <a:spcPts val="0"/>
              </a:spcAft>
              <a:buClr>
                <a:schemeClr val="dk2"/>
              </a:buClr>
              <a:buSzPts val="2800"/>
              <a:buFont typeface="Arial" panose="020B0604020202020204" pitchFamily="34" charset="0"/>
              <a:buChar char="•"/>
            </a:pPr>
            <a:r>
              <a:rPr lang="en-US" alt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Baseline TabNet Model –</a:t>
            </a: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Trains TabNet with default parameters for multi-class classification.</a:t>
            </a:r>
            <a:endParaRPr lang="en-US" altLang="en-US"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342900" algn="just" rtl="0">
              <a:lnSpc>
                <a:spcPct val="100000"/>
              </a:lnSpc>
              <a:spcBef>
                <a:spcPts val="0"/>
              </a:spcBef>
              <a:spcAft>
                <a:spcPts val="0"/>
              </a:spcAft>
              <a:buClr>
                <a:schemeClr val="dk2"/>
              </a:buClr>
              <a:buSzPts val="2800"/>
              <a:buFont typeface="Arial" panose="020B0604020202020204" pitchFamily="34" charset="0"/>
              <a:buChar char="•"/>
            </a:pPr>
            <a:r>
              <a:rPr lang="en-US" alt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Optimized TabNet Model – </a:t>
            </a:r>
            <a:r>
              <a:rPr lang="en-US" altLang="en-US"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Improves TabNet using hyperparameter tuning and a better training strategy.</a:t>
            </a:r>
            <a:endParaRPr lang="en-US" alt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342900" algn="just" rtl="0">
              <a:lnSpc>
                <a:spcPct val="100000"/>
              </a:lnSpc>
              <a:spcBef>
                <a:spcPts val="0"/>
              </a:spcBef>
              <a:spcAft>
                <a:spcPts val="0"/>
              </a:spcAft>
              <a:buClr>
                <a:schemeClr val="dk2"/>
              </a:buClr>
              <a:buSzPts val="2800"/>
              <a:buFont typeface="Arial" panose="020B0604020202020204" pitchFamily="34" charset="0"/>
              <a:buChar char="•"/>
            </a:pPr>
            <a:r>
              <a:rPr lang="en-US" alt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Kill Chain Stage Prediction – </a:t>
            </a:r>
            <a:r>
              <a:rPr lang="en-US" altLang="en-US"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Predicts stages: Reconnaissance, Initial Access, Command &amp; Control, Data Exfiltration, Benign.</a:t>
            </a:r>
            <a:endParaRPr lang="en-US" alt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342900" algn="just" rtl="0">
              <a:lnSpc>
                <a:spcPct val="100000"/>
              </a:lnSpc>
              <a:spcBef>
                <a:spcPts val="0"/>
              </a:spcBef>
              <a:spcAft>
                <a:spcPts val="0"/>
              </a:spcAft>
              <a:buClr>
                <a:schemeClr val="dk2"/>
              </a:buClr>
              <a:buSzPts val="2800"/>
              <a:buFont typeface="Arial" panose="020B0604020202020204" pitchFamily="34" charset="0"/>
              <a:buChar char="•"/>
            </a:pPr>
            <a:r>
              <a:rPr lang="en-US" alt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Evaluation Model – </a:t>
            </a:r>
            <a:r>
              <a:rPr lang="en-US" altLang="en-US"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Measures performance using Accuracy, Precision, Recall, F1-score, and Confusion Matrix.</a:t>
            </a:r>
            <a:endParaRPr lang="en-US" altLang="en-US"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00100" marR="0" lvl="1" indent="-139700" algn="just" rtl="0">
              <a:lnSpc>
                <a:spcPct val="100000"/>
              </a:lnSpc>
              <a:spcBef>
                <a:spcPts val="0"/>
              </a:spcBef>
              <a:spcAft>
                <a:spcPts val="0"/>
              </a:spcAft>
              <a:buClr>
                <a:schemeClr val="dk2"/>
              </a:buClr>
              <a:buSzPts val="2800"/>
              <a:buFont typeface="Arial" panose="020B0604020202020204"/>
              <a:buNone/>
            </a:pPr>
            <a:endParaRPr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00100" marR="0" lvl="1" indent="-139700" algn="just" rtl="0">
              <a:lnSpc>
                <a:spcPct val="100000"/>
              </a:lnSpc>
              <a:spcBef>
                <a:spcPts val="0"/>
              </a:spcBef>
              <a:spcAft>
                <a:spcPts val="0"/>
              </a:spcAft>
              <a:buClr>
                <a:schemeClr val="dk2"/>
              </a:buClr>
              <a:buSzPts val="2800"/>
              <a:buFont typeface="Arial" panose="020B0604020202020204"/>
              <a:buNone/>
            </a:pPr>
            <a:endParaRPr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43"/>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Proposed Method: Module Connectivity Diagram</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8" name="Google Shape;318;p43"/>
          <p:cNvSpPr txBox="1"/>
          <p:nvPr/>
        </p:nvSpPr>
        <p:spPr>
          <a:xfrm>
            <a:off x="226380" y="781921"/>
            <a:ext cx="8691239" cy="3727935"/>
          </a:xfrm>
          <a:prstGeom prst="rect">
            <a:avLst/>
          </a:prstGeom>
          <a:noFill/>
          <a:ln>
            <a:noFill/>
          </a:ln>
        </p:spPr>
        <p:txBody>
          <a:bodyPr spcFirstLastPara="1" wrap="square" lIns="91425" tIns="91425" rIns="91425" bIns="91425" anchor="t" anchorCtr="0">
            <a:noAutofit/>
          </a:bodyPr>
          <a:lstStyle/>
          <a:p>
            <a:pPr marL="368300" marR="0" lvl="0" indent="-165100" algn="l" rtl="0">
              <a:lnSpc>
                <a:spcPct val="100000"/>
              </a:lnSpc>
              <a:spcBef>
                <a:spcPts val="0"/>
              </a:spcBef>
              <a:spcAft>
                <a:spcPts val="0"/>
              </a:spcAft>
              <a:buClr>
                <a:schemeClr val="dk2"/>
              </a:buClr>
              <a:buSzPts val="2800"/>
              <a:buFont typeface="Arial" panose="020B0604020202020204"/>
              <a:buNone/>
            </a:pP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00100" marR="0" lvl="1" indent="-139700" algn="l" rtl="0">
              <a:lnSpc>
                <a:spcPct val="100000"/>
              </a:lnSpc>
              <a:spcBef>
                <a:spcPts val="0"/>
              </a:spcBef>
              <a:spcAft>
                <a:spcPts val="0"/>
              </a:spcAft>
              <a:buClr>
                <a:schemeClr val="dk2"/>
              </a:buClr>
              <a:buSzPts val="2800"/>
              <a:buFont typeface="Arial" panose="020B0604020202020204"/>
              <a:buNone/>
            </a:pP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00100" marR="0" lvl="1" indent="-139700" algn="l" rtl="0">
              <a:lnSpc>
                <a:spcPct val="100000"/>
              </a:lnSpc>
              <a:spcBef>
                <a:spcPts val="0"/>
              </a:spcBef>
              <a:spcAft>
                <a:spcPts val="0"/>
              </a:spcAft>
              <a:buClr>
                <a:schemeClr val="dk2"/>
              </a:buClr>
              <a:buSzPts val="2800"/>
              <a:buFont typeface="Arial" panose="020B0604020202020204"/>
              <a:buNone/>
            </a:pP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9" name="Google Shape;319;p43"/>
          <p:cNvSpPr txBox="1"/>
          <p:nvPr/>
        </p:nvSpPr>
        <p:spPr>
          <a:xfrm>
            <a:off x="-8283053" y="-3077406"/>
            <a:ext cx="25133673" cy="12659930"/>
          </a:xfrm>
          <a:prstGeom prst="rect">
            <a:avLst/>
          </a:prstGeom>
          <a:noFill/>
          <a:ln>
            <a:noFill/>
          </a:ln>
        </p:spPr>
        <p:txBody>
          <a:bodyPr spcFirstLastPara="1" wrap="square" lIns="91425" tIns="91425" rIns="91425" bIns="91425" anchor="t" anchorCtr="0">
            <a:noAutofit/>
          </a:bodyPr>
          <a:lstStyle/>
          <a:p>
            <a:pPr marL="368300" marR="0" lvl="0" indent="-165100" algn="just" rtl="0">
              <a:lnSpc>
                <a:spcPct val="100000"/>
              </a:lnSpc>
              <a:spcBef>
                <a:spcPts val="0"/>
              </a:spcBef>
              <a:spcAft>
                <a:spcPts val="0"/>
              </a:spcAft>
              <a:buClr>
                <a:schemeClr val="dk2"/>
              </a:buClr>
              <a:buSzPts val="2800"/>
              <a:buFont typeface="Arial" panose="020B0604020202020204"/>
              <a:buNone/>
            </a:pP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00100" marR="0" lvl="1" indent="-139700" algn="just" rtl="0">
              <a:lnSpc>
                <a:spcPct val="100000"/>
              </a:lnSpc>
              <a:spcBef>
                <a:spcPts val="0"/>
              </a:spcBef>
              <a:spcAft>
                <a:spcPts val="0"/>
              </a:spcAft>
              <a:buClr>
                <a:schemeClr val="dk2"/>
              </a:buClr>
              <a:buSzPts val="2800"/>
              <a:buFont typeface="Arial" panose="020B0604020202020204"/>
              <a:buNone/>
            </a:pP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00100" marR="0" lvl="1" indent="-139700" algn="just" rtl="0">
              <a:lnSpc>
                <a:spcPct val="100000"/>
              </a:lnSpc>
              <a:spcBef>
                <a:spcPts val="0"/>
              </a:spcBef>
              <a:spcAft>
                <a:spcPts val="0"/>
              </a:spcAft>
              <a:buClr>
                <a:schemeClr val="dk2"/>
              </a:buClr>
              <a:buSzPts val="2800"/>
              <a:buFont typeface="Arial" panose="020B0604020202020204"/>
              <a:buNone/>
            </a:pP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 name="Picture 1"/>
          <p:cNvPicPr>
            <a:picLocks noChangeAspect="1"/>
          </p:cNvPicPr>
          <p:nvPr/>
        </p:nvPicPr>
        <p:blipFill>
          <a:blip r:embed="rId1"/>
          <a:stretch>
            <a:fillRect/>
          </a:stretch>
        </p:blipFill>
        <p:spPr>
          <a:xfrm>
            <a:off x="226695" y="693420"/>
            <a:ext cx="8838565" cy="403987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44"/>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Proposed Method: Module Connectivity Diagram</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26" name="Google Shape;326;p44"/>
          <p:cNvSpPr txBox="1"/>
          <p:nvPr/>
        </p:nvSpPr>
        <p:spPr>
          <a:xfrm>
            <a:off x="226380" y="781921"/>
            <a:ext cx="8691239" cy="3727935"/>
          </a:xfrm>
          <a:prstGeom prst="rect">
            <a:avLst/>
          </a:prstGeom>
          <a:noFill/>
          <a:ln>
            <a:noFill/>
          </a:ln>
        </p:spPr>
        <p:txBody>
          <a:bodyPr spcFirstLastPara="1" wrap="square" lIns="91425" tIns="91425" rIns="91425" bIns="91425" anchor="t" anchorCtr="0">
            <a:noAutofit/>
          </a:bodyPr>
          <a:lstStyle/>
          <a:p>
            <a:pPr marL="25400" marR="0" lvl="0" indent="0" algn="l" rtl="0">
              <a:lnSpc>
                <a:spcPct val="100000"/>
              </a:lnSpc>
              <a:spcBef>
                <a:spcPts val="0"/>
              </a:spcBef>
              <a:spcAft>
                <a:spcPts val="0"/>
              </a:spcAft>
              <a:buClr>
                <a:schemeClr val="dk2"/>
              </a:buClr>
              <a:buSzPts val="2800"/>
              <a:buFont typeface="Arial" panose="020B0604020202020204"/>
              <a:buNone/>
            </a:pP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00100" marR="0" lvl="1" indent="-139700" algn="l" rtl="0">
              <a:lnSpc>
                <a:spcPct val="100000"/>
              </a:lnSpc>
              <a:spcBef>
                <a:spcPts val="0"/>
              </a:spcBef>
              <a:spcAft>
                <a:spcPts val="0"/>
              </a:spcAft>
              <a:buClr>
                <a:schemeClr val="dk2"/>
              </a:buClr>
              <a:buSzPts val="2800"/>
              <a:buFont typeface="Arial" panose="020B0604020202020204"/>
              <a:buNone/>
            </a:pP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27" name="Google Shape;327;p44"/>
          <p:cNvSpPr txBox="1"/>
          <p:nvPr/>
        </p:nvSpPr>
        <p:spPr>
          <a:xfrm>
            <a:off x="-276225" y="717550"/>
            <a:ext cx="8909685" cy="3868420"/>
          </a:xfrm>
          <a:prstGeom prst="rect">
            <a:avLst/>
          </a:prstGeom>
          <a:noFill/>
          <a:ln>
            <a:noFill/>
          </a:ln>
        </p:spPr>
        <p:txBody>
          <a:bodyPr spcFirstLastPara="1" wrap="square" lIns="91425" tIns="91425" rIns="91425" bIns="91425" anchor="t" anchorCtr="0">
            <a:noAutofit/>
          </a:bodyPr>
          <a:lstStyle/>
          <a:p>
            <a:pPr marL="1003300" marR="0" lvl="1" indent="-342900" algn="just" rtl="0">
              <a:lnSpc>
                <a:spcPct val="100000"/>
              </a:lnSpc>
              <a:spcBef>
                <a:spcPts val="0"/>
              </a:spcBef>
              <a:spcAft>
                <a:spcPts val="0"/>
              </a:spcAft>
              <a:buClr>
                <a:schemeClr val="dk2"/>
              </a:buClr>
              <a:buSzPts val="2800"/>
              <a:buFont typeface="Arial" panose="020B0604020202020204" pitchFamily="34" charset="0"/>
              <a:buChar char="•"/>
            </a:pPr>
            <a:r>
              <a:rPr lang="en-US" alt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Data Ingestion: </a:t>
            </a:r>
            <a:r>
              <a:rPr lang="en-US" altLang="en-US"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This module loads raw network traffic data from benchmark datasets such as DAPT2020 and Unraveled 2023 for analysis.</a:t>
            </a:r>
            <a:endParaRPr lang="en-US" alt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003300" marR="0" lvl="1" indent="-342900" algn="just" rtl="0">
              <a:lnSpc>
                <a:spcPct val="100000"/>
              </a:lnSpc>
              <a:spcBef>
                <a:spcPts val="0"/>
              </a:spcBef>
              <a:spcAft>
                <a:spcPts val="0"/>
              </a:spcAft>
              <a:buClr>
                <a:schemeClr val="dk2"/>
              </a:buClr>
              <a:buSzPts val="2800"/>
              <a:buFont typeface="Arial" panose="020B0604020202020204" pitchFamily="34" charset="0"/>
              <a:buChar char="•"/>
            </a:pPr>
            <a:r>
              <a:rPr lang="en-US" alt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Data Preprocessing Module: </a:t>
            </a:r>
            <a:r>
              <a:rPr lang="en-US" altLang="en-US"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This module cleans and prepares the data by handling missing values, normalizing features, and performing label encoding.</a:t>
            </a:r>
            <a:endParaRPr lang="en-US" alt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003300" marR="0" lvl="1" indent="-342900" algn="just" rtl="0">
              <a:lnSpc>
                <a:spcPct val="100000"/>
              </a:lnSpc>
              <a:spcBef>
                <a:spcPts val="0"/>
              </a:spcBef>
              <a:spcAft>
                <a:spcPts val="0"/>
              </a:spcAft>
              <a:buClr>
                <a:schemeClr val="dk2"/>
              </a:buClr>
              <a:buSzPts val="2800"/>
              <a:buFont typeface="Arial" panose="020B0604020202020204" pitchFamily="34" charset="0"/>
              <a:buChar char="•"/>
            </a:pPr>
            <a:r>
              <a:rPr lang="en-US" alt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Data Balancing &amp; Reduction: </a:t>
            </a:r>
            <a:r>
              <a:rPr lang="en-US" altLang="en-US" sz="240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This module applies SMOTE to address class imbalance and PCA to reduce dimensionality and remove redundant features.</a:t>
            </a:r>
            <a:r>
              <a:rPr lang="en-US" alt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alt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660400" marR="0" lvl="1" indent="0" algn="just" rtl="0">
              <a:lnSpc>
                <a:spcPct val="100000"/>
              </a:lnSpc>
              <a:spcBef>
                <a:spcPts val="0"/>
              </a:spcBef>
              <a:spcAft>
                <a:spcPts val="0"/>
              </a:spcAft>
              <a:buClr>
                <a:schemeClr val="dk2"/>
              </a:buClr>
              <a:buSzPts val="2800"/>
              <a:buFont typeface="Arial" panose="020B0604020202020204" pitchFamily="34" charset="0"/>
              <a:buNone/>
            </a:pPr>
            <a:endParaRPr lang="en-US" alt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45"/>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Proposed Method: Module Connectivity Diagram</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33" name="Google Shape;333;p45"/>
          <p:cNvSpPr txBox="1"/>
          <p:nvPr/>
        </p:nvSpPr>
        <p:spPr>
          <a:xfrm>
            <a:off x="226380" y="781921"/>
            <a:ext cx="8691239" cy="3727935"/>
          </a:xfrm>
          <a:prstGeom prst="rect">
            <a:avLst/>
          </a:prstGeom>
          <a:noFill/>
          <a:ln>
            <a:noFill/>
          </a:ln>
        </p:spPr>
        <p:txBody>
          <a:bodyPr spcFirstLastPara="1" wrap="square" lIns="91425" tIns="91425" rIns="91425" bIns="91425" anchor="t" anchorCtr="0">
            <a:noAutofit/>
          </a:bodyPr>
          <a:lstStyle/>
          <a:p>
            <a:pPr marL="25400" marR="0" lvl="0" indent="0" algn="l" rtl="0">
              <a:lnSpc>
                <a:spcPct val="100000"/>
              </a:lnSpc>
              <a:spcBef>
                <a:spcPts val="0"/>
              </a:spcBef>
              <a:spcAft>
                <a:spcPts val="0"/>
              </a:spcAft>
              <a:buClr>
                <a:schemeClr val="dk2"/>
              </a:buClr>
              <a:buSzPts val="2800"/>
              <a:buFont typeface="Arial" panose="020B0604020202020204"/>
              <a:buNone/>
            </a:pP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00100" marR="0" lvl="1" indent="-139700" algn="l" rtl="0">
              <a:lnSpc>
                <a:spcPct val="100000"/>
              </a:lnSpc>
              <a:spcBef>
                <a:spcPts val="0"/>
              </a:spcBef>
              <a:spcAft>
                <a:spcPts val="0"/>
              </a:spcAft>
              <a:buClr>
                <a:schemeClr val="dk2"/>
              </a:buClr>
              <a:buSzPts val="2800"/>
              <a:buFont typeface="Arial" panose="020B0604020202020204"/>
              <a:buNone/>
            </a:pP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34" name="Google Shape;334;p45"/>
          <p:cNvSpPr txBox="1"/>
          <p:nvPr/>
        </p:nvSpPr>
        <p:spPr>
          <a:xfrm>
            <a:off x="226695" y="466725"/>
            <a:ext cx="8482330" cy="4195445"/>
          </a:xfrm>
          <a:prstGeom prst="rect">
            <a:avLst/>
          </a:prstGeom>
          <a:noFill/>
          <a:ln>
            <a:noFill/>
          </a:ln>
        </p:spPr>
        <p:txBody>
          <a:bodyPr spcFirstLastPara="1" wrap="square" lIns="91425" tIns="91425" rIns="91425" bIns="91425" anchor="t" anchorCtr="0">
            <a:noAutofit/>
          </a:bodyPr>
          <a:lstStyle/>
          <a:p>
            <a:pPr marL="0" marR="0" lvl="1" indent="0" algn="l" rtl="0">
              <a:lnSpc>
                <a:spcPct val="100000"/>
              </a:lnSpc>
              <a:spcBef>
                <a:spcPts val="0"/>
              </a:spcBef>
              <a:spcAft>
                <a:spcPts val="0"/>
              </a:spcAft>
              <a:buClr>
                <a:schemeClr val="dk2"/>
              </a:buClr>
              <a:buSzPts val="2800"/>
              <a:buFont typeface="Arial" panose="020B0604020202020204" pitchFamily="34" charset="0"/>
              <a:buNone/>
            </a:pPr>
            <a:r>
              <a:rPr lang="en-IN" alt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400" i="0" u="none" strike="noStrike" cap="none">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342900" algn="just" rtl="0">
              <a:lnSpc>
                <a:spcPct val="100000"/>
              </a:lnSpc>
              <a:spcBef>
                <a:spcPts val="0"/>
              </a:spcBef>
              <a:spcAft>
                <a:spcPts val="0"/>
              </a:spcAft>
              <a:buClr>
                <a:schemeClr val="dk2"/>
              </a:buClr>
              <a:buSzPts val="2800"/>
              <a:buFont typeface="Arial" panose="020B0604020202020204" pitchFamily="34" charset="0"/>
              <a:buChar char="•"/>
            </a:pPr>
            <a:r>
              <a:rPr lang="en-US" alt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TabNet Model Layer: </a:t>
            </a: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This layer performs multi-class kill chain stage classification using baseline and optimized TabNet models.</a:t>
            </a:r>
            <a:endPar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342900" algn="just" rtl="0">
              <a:lnSpc>
                <a:spcPct val="100000"/>
              </a:lnSpc>
              <a:spcBef>
                <a:spcPts val="0"/>
              </a:spcBef>
              <a:spcAft>
                <a:spcPts val="0"/>
              </a:spcAft>
              <a:buClr>
                <a:schemeClr val="dk2"/>
              </a:buClr>
              <a:buSzPts val="2800"/>
              <a:buFont typeface="Arial" panose="020B0604020202020204" pitchFamily="34" charset="0"/>
              <a:buChar char="•"/>
            </a:pPr>
            <a:r>
              <a:rPr lang="en-IN" altLang="en-US" sz="2400" b="1" i="0" u="none" strike="noStrike" cap="none">
                <a:solidFill>
                  <a:schemeClr val="tx1"/>
                </a:solidFill>
                <a:latin typeface="Times New Roman" panose="02020603050405020304"/>
                <a:ea typeface="Times New Roman" panose="02020603050405020304"/>
                <a:cs typeface="Times New Roman" panose="02020603050405020304"/>
                <a:sym typeface="Times New Roman" panose="02020603050405020304"/>
              </a:rPr>
              <a:t>E</a:t>
            </a:r>
            <a:r>
              <a:rPr lang="en-US" alt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valuation Module:</a:t>
            </a:r>
            <a:r>
              <a:rPr lang="en-US" alt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This module evaluates the trained model using Accuracy, Precision, Recall, F1-score, and Confusion Matrix.</a:t>
            </a:r>
            <a:endParaRPr lang="en-US" alt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342900" algn="just" rtl="0">
              <a:lnSpc>
                <a:spcPct val="100000"/>
              </a:lnSpc>
              <a:spcBef>
                <a:spcPts val="0"/>
              </a:spcBef>
              <a:spcAft>
                <a:spcPts val="0"/>
              </a:spcAft>
              <a:buClr>
                <a:schemeClr val="dk2"/>
              </a:buClr>
              <a:buSzPts val="2800"/>
              <a:buFont typeface="Arial" panose="020B0604020202020204" pitchFamily="34" charset="0"/>
              <a:buChar char="•"/>
            </a:pPr>
            <a:r>
              <a:rPr lang="en-US" alt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Visualization &amp; Analysis:</a:t>
            </a:r>
            <a:r>
              <a:rPr lang="en-US" alt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This module presents kill chain stage predictions, stage-wise performance analysis, and comparison between baseline and optimized TabNet models.</a:t>
            </a:r>
            <a:endParaRPr lang="en-US" alt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546100" marR="0" lvl="0" indent="-342900" algn="just" rtl="0">
              <a:lnSpc>
                <a:spcPct val="100000"/>
              </a:lnSpc>
              <a:spcBef>
                <a:spcPts val="0"/>
              </a:spcBef>
              <a:spcAft>
                <a:spcPts val="0"/>
              </a:spcAft>
              <a:buClr>
                <a:schemeClr val="dk2"/>
              </a:buClr>
              <a:buSzPts val="2800"/>
              <a:buFont typeface="Arial" panose="020B0604020202020204" pitchFamily="34" charset="0"/>
              <a:buChar char="•"/>
            </a:pP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003300" marR="0" lvl="1" indent="-342900" algn="just" rtl="0">
              <a:lnSpc>
                <a:spcPct val="100000"/>
              </a:lnSpc>
              <a:spcBef>
                <a:spcPts val="0"/>
              </a:spcBef>
              <a:spcAft>
                <a:spcPts val="0"/>
              </a:spcAft>
              <a:buClr>
                <a:schemeClr val="dk2"/>
              </a:buClr>
              <a:buSzPts val="2800"/>
              <a:buFont typeface="Arial" panose="020B0604020202020204" pitchFamily="34" charset="0"/>
              <a:buChar char="•"/>
            </a:pP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003300" marR="0" lvl="1" indent="-342900" algn="just" rtl="0">
              <a:lnSpc>
                <a:spcPct val="100000"/>
              </a:lnSpc>
              <a:spcBef>
                <a:spcPts val="0"/>
              </a:spcBef>
              <a:spcAft>
                <a:spcPts val="0"/>
              </a:spcAft>
              <a:buClr>
                <a:schemeClr val="dk2"/>
              </a:buClr>
              <a:buSzPts val="2800"/>
              <a:buFont typeface="Arial" panose="020B0604020202020204" pitchFamily="34" charset="0"/>
              <a:buChar char="•"/>
            </a:pP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46"/>
          <p:cNvSpPr txBox="1">
            <a:spLocks noGrp="1"/>
          </p:cNvSpPr>
          <p:nvPr>
            <p:ph type="title"/>
          </p:nvPr>
        </p:nvSpPr>
        <p:spPr>
          <a:xfrm>
            <a:off x="311700" y="1"/>
            <a:ext cx="8520600" cy="679914"/>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a:t>Class Diagram</a:t>
            </a:r>
            <a:endParaRPr lang="en-US"/>
          </a:p>
        </p:txBody>
      </p:sp>
      <p:sp>
        <p:nvSpPr>
          <p:cNvPr id="340" name="Google Shape;340;p4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228600" algn="l" rtl="0">
              <a:lnSpc>
                <a:spcPct val="115000"/>
              </a:lnSpc>
              <a:spcBef>
                <a:spcPts val="0"/>
              </a:spcBef>
              <a:spcAft>
                <a:spcPts val="0"/>
              </a:spcAft>
              <a:buSzPts val="1800"/>
              <a:buNone/>
            </a:pPr>
          </a:p>
        </p:txBody>
      </p:sp>
      <p:pic>
        <p:nvPicPr>
          <p:cNvPr id="2" name="Picture 1"/>
          <p:cNvPicPr>
            <a:picLocks noChangeAspect="1"/>
          </p:cNvPicPr>
          <p:nvPr/>
        </p:nvPicPr>
        <p:blipFill>
          <a:blip r:embed="rId1"/>
          <a:stretch>
            <a:fillRect/>
          </a:stretch>
        </p:blipFill>
        <p:spPr>
          <a:xfrm>
            <a:off x="0" y="588645"/>
            <a:ext cx="9144000" cy="446786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47"/>
          <p:cNvSpPr txBox="1">
            <a:spLocks noGrp="1"/>
          </p:cNvSpPr>
          <p:nvPr>
            <p:ph type="body" idx="1"/>
          </p:nvPr>
        </p:nvSpPr>
        <p:spPr>
          <a:xfrm>
            <a:off x="311700" y="340659"/>
            <a:ext cx="8520600" cy="4228216"/>
          </a:xfrm>
          <a:prstGeom prst="rect">
            <a:avLst/>
          </a:prstGeom>
          <a:noFill/>
          <a:ln>
            <a:noFill/>
          </a:ln>
        </p:spPr>
        <p:txBody>
          <a:bodyPr spcFirstLastPara="1" wrap="square" lIns="91425" tIns="91425" rIns="91425" bIns="91425" anchor="t" anchorCtr="0">
            <a:noAutofit/>
          </a:bodyPr>
          <a:lstStyle/>
          <a:p>
            <a:pPr marL="457200" lvl="0" indent="-342900" algn="just" rtl="0">
              <a:lnSpc>
                <a:spcPct val="115000"/>
              </a:lnSpc>
              <a:spcBef>
                <a:spcPts val="0"/>
              </a:spcBef>
              <a:spcAft>
                <a:spcPts val="0"/>
              </a:spcAft>
              <a:buSzPts val="1800"/>
              <a:buChar char="●"/>
            </a:pPr>
            <a:r>
              <a:rPr lang="en-US" altLang="en-US">
                <a:solidFill>
                  <a:schemeClr val="dk1"/>
                </a:solidFill>
              </a:rPr>
              <a:t>The system collects raw network traffic data from benchmark datasets, preprocesses it by cleaning, normalizing, balancing classes, and reducing feature dimensions to prepare high-quality input.</a:t>
            </a:r>
            <a:endParaRPr lang="en-US" altLang="en-US">
              <a:solidFill>
                <a:schemeClr val="dk1"/>
              </a:solidFill>
            </a:endParaRPr>
          </a:p>
          <a:p>
            <a:pPr marL="457200" lvl="0" indent="-342900" algn="just" rtl="0">
              <a:lnSpc>
                <a:spcPct val="115000"/>
              </a:lnSpc>
              <a:spcBef>
                <a:spcPts val="0"/>
              </a:spcBef>
              <a:spcAft>
                <a:spcPts val="0"/>
              </a:spcAft>
              <a:buSzPts val="1800"/>
              <a:buChar char="●"/>
            </a:pPr>
            <a:r>
              <a:rPr lang="en-US" altLang="en-US">
                <a:solidFill>
                  <a:schemeClr val="dk1"/>
                </a:solidFill>
              </a:rPr>
              <a:t>The processed data is fed into the TabNet model, which learns important feature relationships and predicts APT attack stages </a:t>
            </a:r>
            <a:endParaRPr lang="en-US" altLang="en-US">
              <a:solidFill>
                <a:schemeClr val="dk1"/>
              </a:solidFill>
            </a:endParaRPr>
          </a:p>
          <a:p>
            <a:pPr marL="457200" lvl="0" indent="-342900" algn="just" rtl="0">
              <a:lnSpc>
                <a:spcPct val="115000"/>
              </a:lnSpc>
              <a:spcBef>
                <a:spcPts val="0"/>
              </a:spcBef>
              <a:spcAft>
                <a:spcPts val="0"/>
              </a:spcAft>
              <a:buSzPts val="1800"/>
              <a:buChar char="●"/>
            </a:pPr>
            <a:r>
              <a:rPr lang="en-US" altLang="en-US">
                <a:solidFill>
                  <a:schemeClr val="dk1"/>
                </a:solidFill>
              </a:rPr>
              <a:t>The predicted results are evaluated using standard performance metrics and visualized clearly to help the user understand detected threats and system behavior.</a:t>
            </a:r>
            <a:endParaRPr lang="en-US" altLang="en-US">
              <a:solidFill>
                <a:schemeClr val="dk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2" name="Google Shape;352;p48"/>
          <p:cNvSpPr txBox="1"/>
          <p:nvPr/>
        </p:nvSpPr>
        <p:spPr>
          <a:xfrm>
            <a:off x="409575" y="0"/>
            <a:ext cx="8248650" cy="582295"/>
          </a:xfrm>
          <a:prstGeom prst="rect">
            <a:avLst/>
          </a:prstGeom>
          <a:noFill/>
          <a:ln>
            <a:noFill/>
          </a:ln>
        </p:spPr>
        <p:txBody>
          <a:bodyPr spcFirstLastPara="1" wrap="square" lIns="91425" tIns="45700" rIns="91425" bIns="45700" anchor="t" anchorCtr="0">
            <a:spAutoFit/>
          </a:bodyPr>
          <a:lstStyle/>
          <a:p>
            <a:pPr algn="ctr"/>
            <a:r>
              <a:rPr lang="en-IN" sz="3200" b="1" dirty="0">
                <a:latin typeface="Times New Roman" panose="02020603050405020304" charset="0"/>
                <a:cs typeface="Times New Roman" panose="02020603050405020304" charset="0"/>
                <a:sym typeface="+mn-ea"/>
              </a:rPr>
              <a:t>Sequence Diagram</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 name="Picture 1"/>
          <p:cNvPicPr>
            <a:picLocks noChangeAspect="1"/>
          </p:cNvPicPr>
          <p:nvPr/>
        </p:nvPicPr>
        <p:blipFill>
          <a:blip r:embed="rId1"/>
          <a:srcRect l="681" t="1726" r="743" b="2951"/>
          <a:stretch>
            <a:fillRect/>
          </a:stretch>
        </p:blipFill>
        <p:spPr>
          <a:xfrm>
            <a:off x="62230" y="582930"/>
            <a:ext cx="9013825" cy="442595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356870" y="192405"/>
            <a:ext cx="8516620" cy="4749165"/>
          </a:xfrm>
          <a:prstGeom prst="rect">
            <a:avLst/>
          </a:prstGeom>
          <a:noFill/>
        </p:spPr>
        <p:txBody>
          <a:bodyPr wrap="square" rtlCol="0">
            <a:noAutofit/>
          </a:bodyPr>
          <a:p>
            <a:pPr marL="342900" indent="-342900" algn="just">
              <a:buFont typeface="Arial" panose="020B0604020202020204" pitchFamily="34" charset="0"/>
              <a:buChar char="•"/>
            </a:pPr>
            <a:r>
              <a:rPr lang="en-US" altLang="en-US" sz="2400" b="1">
                <a:latin typeface="Times New Roman" panose="02020603050405020304" charset="0"/>
                <a:cs typeface="Times New Roman" panose="02020603050405020304" charset="0"/>
              </a:rPr>
              <a:t>Data collection:</a:t>
            </a:r>
            <a:r>
              <a:rPr lang="en-US" altLang="en-US" sz="2400">
                <a:latin typeface="Times New Roman" panose="02020603050405020304" charset="0"/>
                <a:cs typeface="Times New Roman" panose="02020603050405020304" charset="0"/>
              </a:rPr>
              <a:t> User requests APT analysis, and the APT Detection System loads network traffic data from DAPT2020 &amp; Unraveled 2023 datasets.</a:t>
            </a:r>
            <a:endParaRPr lang="en-US" altLang="en-US" sz="240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US" sz="2400" b="1">
                <a:latin typeface="Times New Roman" panose="02020603050405020304" charset="0"/>
                <a:cs typeface="Times New Roman" panose="02020603050405020304" charset="0"/>
              </a:rPr>
              <a:t>Preprocessing &amp; balancing: </a:t>
            </a:r>
            <a:r>
              <a:rPr lang="en-US" altLang="en-US" sz="2400">
                <a:latin typeface="Times New Roman" panose="02020603050405020304" charset="0"/>
                <a:cs typeface="Times New Roman" panose="02020603050405020304" charset="0"/>
              </a:rPr>
              <a:t>Raw traffic is cleaned, normalized, labels encoded, and class imbalance is handled using SMOTE, followed by feature reduction using PCA.</a:t>
            </a:r>
            <a:endParaRPr lang="en-US" altLang="en-US" sz="240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US" sz="2400" b="1">
                <a:latin typeface="Times New Roman" panose="02020603050405020304" charset="0"/>
                <a:cs typeface="Times New Roman" panose="02020603050405020304" charset="0"/>
              </a:rPr>
              <a:t>Prediction: </a:t>
            </a:r>
            <a:r>
              <a:rPr lang="en-US" altLang="en-US" sz="2400">
                <a:latin typeface="Times New Roman" panose="02020603050405020304" charset="0"/>
                <a:cs typeface="Times New Roman" panose="02020603050405020304" charset="0"/>
              </a:rPr>
              <a:t>The processed feature vectors are fed into the TabNet (Baseline &amp; Optimized) model to train and predict APT Kill Chain stages.</a:t>
            </a:r>
            <a:endParaRPr lang="en-US" altLang="en-US" sz="240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US" sz="2400" b="1">
                <a:latin typeface="Times New Roman" panose="02020603050405020304" charset="0"/>
                <a:cs typeface="Times New Roman" panose="02020603050405020304" charset="0"/>
              </a:rPr>
              <a:t>Evaluation &amp; output:</a:t>
            </a:r>
            <a:r>
              <a:rPr lang="en-US" altLang="en-US" sz="2400">
                <a:latin typeface="Times New Roman" panose="02020603050405020304" charset="0"/>
                <a:cs typeface="Times New Roman" panose="02020603050405020304" charset="0"/>
              </a:rPr>
              <a:t> Predictions are evaluated using metrics (Accuracy, Precision, Recall, F1, Confusion Matrix) and final kill chain stages + performance results are displayed to the user.</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21970" y="186055"/>
            <a:ext cx="8100060" cy="623570"/>
          </a:xfrm>
        </p:spPr>
        <p:txBody>
          <a:bodyPr/>
          <a:p>
            <a:pPr algn="ctr"/>
            <a:r>
              <a:rPr lang="en-IN" sz="3200" dirty="0" err="1">
                <a:latin typeface="Times New Roman" panose="02020603050405020304" charset="0"/>
                <a:cs typeface="Times New Roman" panose="02020603050405020304" charset="0"/>
                <a:sym typeface="+mn-ea"/>
              </a:rPr>
              <a:t>Usecase</a:t>
            </a:r>
            <a:r>
              <a:rPr lang="en-IN" sz="3200" dirty="0">
                <a:latin typeface="Times New Roman" panose="02020603050405020304" charset="0"/>
                <a:cs typeface="Times New Roman" panose="02020603050405020304" charset="0"/>
                <a:sym typeface="+mn-ea"/>
              </a:rPr>
              <a:t> Diagram</a:t>
            </a:r>
            <a:endParaRPr lang="en-US" sz="3200"/>
          </a:p>
        </p:txBody>
      </p:sp>
      <p:pic>
        <p:nvPicPr>
          <p:cNvPr id="3" name="Picture 2"/>
          <p:cNvPicPr>
            <a:picLocks noChangeAspect="1"/>
          </p:cNvPicPr>
          <p:nvPr/>
        </p:nvPicPr>
        <p:blipFill>
          <a:blip r:embed="rId1"/>
          <a:srcRect t="752"/>
          <a:stretch>
            <a:fillRect/>
          </a:stretch>
        </p:blipFill>
        <p:spPr>
          <a:xfrm>
            <a:off x="1167130" y="661035"/>
            <a:ext cx="6809105" cy="435673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345440" y="250825"/>
            <a:ext cx="8585835" cy="3784600"/>
          </a:xfrm>
          <a:prstGeom prst="rect">
            <a:avLst/>
          </a:prstGeom>
          <a:noFill/>
        </p:spPr>
        <p:txBody>
          <a:bodyPr wrap="square" rtlCol="0">
            <a:spAutoFit/>
          </a:bodyPr>
          <a:p>
            <a:pPr marL="342900" indent="-342900" algn="just">
              <a:buFont typeface="Arial" panose="020B0604020202020204" pitchFamily="34" charset="0"/>
              <a:buChar char="•"/>
            </a:pPr>
            <a:r>
              <a:rPr lang="en-US" altLang="en-US" sz="2400" b="1">
                <a:latin typeface="Times New Roman" panose="02020603050405020304" charset="0"/>
                <a:cs typeface="Times New Roman" panose="02020603050405020304" charset="0"/>
              </a:rPr>
              <a:t>User interaction:</a:t>
            </a:r>
            <a:r>
              <a:rPr lang="en-US" altLang="en-US" sz="2400">
                <a:latin typeface="Times New Roman" panose="02020603050405020304" charset="0"/>
                <a:cs typeface="Times New Roman" panose="02020603050405020304" charset="0"/>
              </a:rPr>
              <a:t> The user initiates APT analysis, triggering the system to start processing network traffic for APT behavior and kill-chain detection.</a:t>
            </a:r>
            <a:endParaRPr lang="en-US" altLang="en-US" sz="240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US" sz="2400" b="1">
                <a:latin typeface="Times New Roman" panose="02020603050405020304" charset="0"/>
                <a:cs typeface="Times New Roman" panose="02020603050405020304" charset="0"/>
              </a:rPr>
              <a:t>System processing: </a:t>
            </a:r>
            <a:r>
              <a:rPr lang="en-US" altLang="en-US" sz="2400">
                <a:latin typeface="Times New Roman" panose="02020603050405020304" charset="0"/>
                <a:cs typeface="Times New Roman" panose="02020603050405020304" charset="0"/>
              </a:rPr>
              <a:t>Network traffic data (DAPT2020 &amp; Unraveled 2023) is ingested, preprocessed, balanced using SMOTE, reduced using PCA, and used to train baseline and optimized TabNet models.</a:t>
            </a:r>
            <a:endParaRPr lang="en-US" altLang="en-US" sz="240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US" sz="2400" b="1">
                <a:latin typeface="Times New Roman" panose="02020603050405020304" charset="0"/>
                <a:cs typeface="Times New Roman" panose="02020603050405020304" charset="0"/>
              </a:rPr>
              <a:t>Detection &amp; output:</a:t>
            </a:r>
            <a:r>
              <a:rPr lang="en-US" altLang="en-US" sz="2400">
                <a:latin typeface="Times New Roman" panose="02020603050405020304" charset="0"/>
                <a:cs typeface="Times New Roman" panose="02020603050405020304" charset="0"/>
              </a:rPr>
              <a:t> The system predicts APT kill-chain stages, evaluates performance using standard metrics, and visualizes results for user interpretation.</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21970" y="211455"/>
            <a:ext cx="8100060" cy="598170"/>
          </a:xfrm>
        </p:spPr>
        <p:txBody>
          <a:bodyPr/>
          <a:p>
            <a:pPr algn="ctr"/>
            <a:r>
              <a:rPr lang="en-IN" sz="3200" dirty="0">
                <a:latin typeface="Times New Roman" panose="02020603050405020304" charset="0"/>
                <a:cs typeface="Times New Roman" panose="02020603050405020304" charset="0"/>
                <a:sym typeface="+mn-ea"/>
              </a:rPr>
              <a:t>Activity Diagram</a:t>
            </a:r>
            <a:endParaRPr lang="en-US" sz="3200"/>
          </a:p>
        </p:txBody>
      </p:sp>
      <p:pic>
        <p:nvPicPr>
          <p:cNvPr id="3" name="Picture 2"/>
          <p:cNvPicPr>
            <a:picLocks noChangeAspect="1"/>
          </p:cNvPicPr>
          <p:nvPr/>
        </p:nvPicPr>
        <p:blipFill>
          <a:blip r:embed="rId1"/>
          <a:stretch>
            <a:fillRect/>
          </a:stretch>
        </p:blipFill>
        <p:spPr>
          <a:xfrm>
            <a:off x="11430" y="677545"/>
            <a:ext cx="9121140" cy="433260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269875" y="325120"/>
            <a:ext cx="8653145" cy="3315335"/>
          </a:xfrm>
          <a:prstGeom prst="rect">
            <a:avLst/>
          </a:prstGeom>
          <a:noFill/>
        </p:spPr>
        <p:txBody>
          <a:bodyPr wrap="square" rtlCol="0">
            <a:noAutofit/>
          </a:bodyPr>
          <a:p>
            <a:pPr marL="342900" indent="-342900" algn="just">
              <a:buFont typeface="Arial" panose="020B0604020202020204" pitchFamily="34" charset="0"/>
              <a:buChar char="•"/>
            </a:pPr>
            <a:r>
              <a:rPr lang="en-US" altLang="en-US" sz="2400" b="1">
                <a:latin typeface="Times New Roman" panose="02020603050405020304" charset="0"/>
                <a:cs typeface="Times New Roman" panose="02020603050405020304" charset="0"/>
              </a:rPr>
              <a:t>User interaction &amp; initiation:</a:t>
            </a:r>
            <a:r>
              <a:rPr lang="en-US" altLang="en-US" sz="2400">
                <a:latin typeface="Times New Roman" panose="02020603050405020304" charset="0"/>
                <a:cs typeface="Times New Roman" panose="02020603050405020304" charset="0"/>
              </a:rPr>
              <a:t> The user requests APT/API analysis, triggering the system workflow for attack detection.</a:t>
            </a:r>
            <a:endParaRPr lang="en-US" altLang="en-US" sz="240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US" sz="2400" b="1">
                <a:latin typeface="Times New Roman" panose="02020603050405020304" charset="0"/>
                <a:cs typeface="Times New Roman" panose="02020603050405020304" charset="0"/>
              </a:rPr>
              <a:t>System processing &amp; prediction:</a:t>
            </a:r>
            <a:r>
              <a:rPr lang="en-US" altLang="en-US" sz="2400">
                <a:latin typeface="Times New Roman" panose="02020603050405020304" charset="0"/>
                <a:cs typeface="Times New Roman" panose="02020603050405020304" charset="0"/>
              </a:rPr>
              <a:t> The system loads DAPT2020 and Unraveled 2023 data, performs preprocessing, applies SMOTE and PCA, and trains Baseline and Optimized TabNet models to predict APT kill-chain stages.</a:t>
            </a:r>
            <a:endParaRPr lang="en-US" altLang="en-US" sz="240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US" sz="2400" b="1">
                <a:latin typeface="Times New Roman" panose="02020603050405020304" charset="0"/>
                <a:cs typeface="Times New Roman" panose="02020603050405020304" charset="0"/>
              </a:rPr>
              <a:t>Output &amp; visualization: </a:t>
            </a:r>
            <a:r>
              <a:rPr lang="en-US" altLang="en-US" sz="2400">
                <a:latin typeface="Times New Roman" panose="02020603050405020304" charset="0"/>
                <a:cs typeface="Times New Roman" panose="02020603050405020304" charset="0"/>
              </a:rPr>
              <a:t>The system evaluates predictions using standard metrics and a confusion matrix, then displays detected kill-chain stages and model performance to the user.</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sz="3200" dirty="0">
                <a:latin typeface="Times New Roman" panose="02020603050405020304" charset="0"/>
                <a:cs typeface="Times New Roman" panose="02020603050405020304" charset="0"/>
                <a:sym typeface="+mn-ea"/>
              </a:rPr>
              <a:t>Status of Project’s Execution</a:t>
            </a:r>
            <a:endParaRPr lang="en-US" sz="3200"/>
          </a:p>
        </p:txBody>
      </p:sp>
      <p:sp>
        <p:nvSpPr>
          <p:cNvPr id="3" name="Text Box 2"/>
          <p:cNvSpPr txBox="1"/>
          <p:nvPr/>
        </p:nvSpPr>
        <p:spPr>
          <a:xfrm>
            <a:off x="614045" y="988060"/>
            <a:ext cx="8284845" cy="2306955"/>
          </a:xfrm>
          <a:prstGeom prst="rect">
            <a:avLst/>
          </a:prstGeom>
          <a:noFill/>
        </p:spPr>
        <p:txBody>
          <a:bodyPr wrap="square" rtlCol="0">
            <a:spAutoFit/>
          </a:bodyPr>
          <a:p>
            <a:pPr marL="342900" indent="-342900" algn="just">
              <a:buFont typeface="Arial" panose="020B0604020202020204" pitchFamily="34" charset="0"/>
              <a:buChar char="•"/>
            </a:pPr>
            <a:r>
              <a:rPr lang="en-US" altLang="en-US" sz="2400">
                <a:latin typeface="Times New Roman" panose="02020603050405020304" charset="0"/>
                <a:cs typeface="Times New Roman" panose="02020603050405020304" charset="0"/>
              </a:rPr>
              <a:t>APT-related network traffic datasets (DAPT2020 and Unraveled 2023) have been collected and studied.</a:t>
            </a:r>
            <a:endParaRPr lang="en-US" altLang="en-US" sz="240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US" sz="2400">
                <a:latin typeface="Times New Roman" panose="02020603050405020304" charset="0"/>
                <a:cs typeface="Times New Roman" panose="02020603050405020304" charset="0"/>
              </a:rPr>
              <a:t>Collected network traffic data has been organized and stored for efficient access and further processing.</a:t>
            </a:r>
            <a:endParaRPr lang="en-US" altLang="en-US" sz="240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US" sz="2400">
                <a:latin typeface="Times New Roman" panose="02020603050405020304" charset="0"/>
                <a:cs typeface="Times New Roman" panose="02020603050405020304" charset="0"/>
              </a:rPr>
              <a:t>Performed data preprocessing (cleaning, handling missing values, normalization, and label encoding)</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49"/>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References</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58" name="Google Shape;358;p49"/>
          <p:cNvSpPr txBox="1"/>
          <p:nvPr/>
        </p:nvSpPr>
        <p:spPr>
          <a:xfrm>
            <a:off x="64135" y="643890"/>
            <a:ext cx="8795385" cy="4201795"/>
          </a:xfrm>
          <a:prstGeom prst="rect">
            <a:avLst/>
          </a:prstGeom>
          <a:noFill/>
          <a:ln>
            <a:noFill/>
          </a:ln>
        </p:spPr>
        <p:txBody>
          <a:bodyPr spcFirstLastPara="1" wrap="square" lIns="91425" tIns="45700" rIns="91425" bIns="45700" anchor="t" anchorCtr="0">
            <a:noAutofit/>
          </a:bodyPr>
          <a:lstStyle/>
          <a:p>
            <a:pPr marL="355600" marR="0" lvl="0" indent="0" algn="just" rtl="0">
              <a:lnSpc>
                <a:spcPct val="107000"/>
              </a:lnSpc>
              <a:spcBef>
                <a:spcPts val="0"/>
              </a:spcBef>
              <a:spcAft>
                <a:spcPts val="0"/>
              </a:spcAft>
              <a:buNone/>
            </a:pPr>
            <a:r>
              <a:rPr lang="en-US" sz="1900" b="1" i="0"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[1] </a:t>
            </a:r>
            <a:r>
              <a:rPr lang="en-US" sz="1900" i="0"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M. Qiao, Y. Feng, X. Zhou, and Z. Li, “RAPID: Robust APT detection and investigation using context-aware deep learning,” Computer Networks, vol. 245, Article 111744, 2025.</a:t>
            </a:r>
            <a:r>
              <a:rPr lang="en-US" sz="1900" i="0" u="sng" strike="noStrike" cap="none">
                <a:solidFill>
                  <a:schemeClr val="hlink"/>
                </a:solidFill>
                <a:latin typeface="Times New Roman" panose="02020603050405020304" charset="0"/>
                <a:ea typeface="Times New Roman" panose="02020603050405020304"/>
                <a:cs typeface="Times New Roman" panose="02020603050405020304" charset="0"/>
                <a:sym typeface="Times New Roman" panose="02020603050405020304"/>
                <a:hlinkClick r:id="rId1"/>
              </a:rPr>
              <a:t>https://doi.org/10.1016/j.comnet.2025.111744</a:t>
            </a:r>
            <a:endParaRPr sz="1900" b="0" i="0" u="none" strike="noStrike" cap="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55600" marR="0" lvl="0" indent="0" algn="just" rtl="0">
              <a:lnSpc>
                <a:spcPct val="107000"/>
              </a:lnSpc>
              <a:spcBef>
                <a:spcPts val="0"/>
              </a:spcBef>
              <a:spcAft>
                <a:spcPts val="0"/>
              </a:spcAft>
              <a:buNone/>
            </a:pPr>
            <a:r>
              <a:rPr lang="en-US" sz="1900" b="1" i="0"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[2]</a:t>
            </a:r>
            <a:r>
              <a:rPr lang="en-US" sz="1900" b="1">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 </a:t>
            </a:r>
            <a:r>
              <a:rPr lang="en-US" sz="190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A. Benabderrahmane, M. A. Ferrag, L. Maglaras, and H. Janicke, “Hack me if you can: Aggregating autoencoders for countering persistent access threats,” Future Generation Computer Systems, vol. 150, pp. 140–155, 2024.</a:t>
            </a:r>
            <a:endParaRPr sz="190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355600" marR="0" lvl="0" indent="0" algn="just" rtl="0">
              <a:lnSpc>
                <a:spcPct val="107000"/>
              </a:lnSpc>
              <a:spcBef>
                <a:spcPts val="0"/>
              </a:spcBef>
              <a:spcAft>
                <a:spcPts val="0"/>
              </a:spcAft>
              <a:buNone/>
            </a:pPr>
            <a:r>
              <a:rPr lang="en-US" sz="1900" u="sng">
                <a:solidFill>
                  <a:schemeClr val="hlink"/>
                </a:solidFill>
                <a:latin typeface="Times New Roman" panose="02020603050405020304" charset="0"/>
                <a:ea typeface="Times New Roman" panose="02020603050405020304"/>
                <a:cs typeface="Times New Roman" panose="02020603050405020304" charset="0"/>
                <a:sym typeface="Times New Roman" panose="02020603050405020304"/>
                <a:hlinkClick r:id="rId2"/>
              </a:rPr>
              <a:t>https://doi.org/10.1016/j.future.2023.11.032</a:t>
            </a:r>
            <a:endParaRPr lang="en-US" sz="1900" u="sng">
              <a:solidFill>
                <a:schemeClr val="hlink"/>
              </a:solidFill>
              <a:latin typeface="Times New Roman" panose="02020603050405020304" charset="0"/>
              <a:ea typeface="Times New Roman" panose="02020603050405020304"/>
              <a:cs typeface="Times New Roman" panose="02020603050405020304" charset="0"/>
              <a:sym typeface="Times New Roman" panose="02020603050405020304"/>
              <a:hlinkClick r:id="rId2"/>
            </a:endParaRPr>
          </a:p>
          <a:p>
            <a:pPr marL="355600" marR="0" lvl="0" indent="0" algn="just" rtl="0">
              <a:lnSpc>
                <a:spcPct val="107000"/>
              </a:lnSpc>
              <a:spcBef>
                <a:spcPts val="0"/>
              </a:spcBef>
              <a:spcAft>
                <a:spcPts val="0"/>
              </a:spcAft>
              <a:buNone/>
            </a:pPr>
            <a:r>
              <a:rPr lang="en-US" sz="1900" b="1" i="0"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[3]  </a:t>
            </a:r>
            <a:r>
              <a:rPr lang="en-US" sz="1900" i="0"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Y. Mei, X. Liu, J. Zhang, and L. Wang, “A novel network forensic framework for advanced persistent threat attribution through deep learning,” IEEE Transactions on Intelligent Transportation Systems, vol. 25, no. 6, pp. 5678–5691, 2024.</a:t>
            </a:r>
            <a:endParaRPr sz="1900" i="0"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355600" marR="0" lvl="0" indent="0" algn="just" rtl="0">
              <a:lnSpc>
                <a:spcPct val="107000"/>
              </a:lnSpc>
              <a:spcBef>
                <a:spcPts val="0"/>
              </a:spcBef>
              <a:spcAft>
                <a:spcPts val="0"/>
              </a:spcAft>
              <a:buNone/>
            </a:pPr>
            <a:r>
              <a:rPr lang="en-US" sz="1900" i="0" u="sng" strike="noStrike" cap="none">
                <a:solidFill>
                  <a:schemeClr val="hlink"/>
                </a:solidFill>
                <a:latin typeface="Times New Roman" panose="02020603050405020304" charset="0"/>
                <a:ea typeface="Times New Roman" panose="02020603050405020304"/>
                <a:cs typeface="Times New Roman" panose="02020603050405020304" charset="0"/>
                <a:sym typeface="Times New Roman" panose="02020603050405020304"/>
                <a:hlinkClick r:id="rId3"/>
              </a:rPr>
              <a:t>https://doi.org/10.1109/TITS.2024.3354921</a:t>
            </a:r>
            <a:endParaRPr sz="1900" i="0"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355600" marR="0" lvl="0" indent="0" algn="just" rtl="0">
              <a:lnSpc>
                <a:spcPct val="107000"/>
              </a:lnSpc>
              <a:spcBef>
                <a:spcPts val="0"/>
              </a:spcBef>
              <a:spcAft>
                <a:spcPts val="0"/>
              </a:spcAft>
              <a:buNone/>
            </a:pPr>
            <a:r>
              <a:rPr lang="en-US" sz="1900" b="1" i="0"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[4]  </a:t>
            </a:r>
            <a:r>
              <a:rPr lang="en-US" sz="1900" b="0" i="0" u="none" strike="noStrike" cap="none">
                <a:solidFill>
                  <a:srgbClr val="000000"/>
                </a:solidFill>
                <a:latin typeface="Times New Roman" panose="02020603050405020304" charset="0"/>
                <a:ea typeface="Times New Roman" panose="02020603050405020304"/>
                <a:cs typeface="Times New Roman" panose="02020603050405020304" charset="0"/>
                <a:sym typeface="Times New Roman" panose="02020603050405020304"/>
              </a:rPr>
              <a:t>A</a:t>
            </a:r>
            <a:r>
              <a:rPr lang="en-US" sz="1900">
                <a:latin typeface="Times New Roman" panose="02020603050405020304" charset="0"/>
                <a:ea typeface="Times New Roman" panose="02020603050405020304"/>
                <a:cs typeface="Times New Roman" panose="02020603050405020304" charset="0"/>
                <a:sym typeface="Times New Roman" panose="02020603050405020304"/>
              </a:rPr>
              <a:t>. Presekal, A. Stefanov, V. S. Rajkumar, I. Semertzis, and P. Palensky, “Advanced persistent threat kill chain for cyber-physical power systems,” IEEE Access, vol. 12, pp. 1–15, 2024.</a:t>
            </a:r>
            <a:r>
              <a:rPr lang="en-US" sz="1900" u="sng">
                <a:solidFill>
                  <a:schemeClr val="hlink"/>
                </a:solidFill>
                <a:latin typeface="Times New Roman" panose="02020603050405020304" charset="0"/>
                <a:ea typeface="Times New Roman" panose="02020603050405020304"/>
                <a:cs typeface="Times New Roman" panose="02020603050405020304" charset="0"/>
                <a:sym typeface="Times New Roman" panose="02020603050405020304"/>
                <a:hlinkClick r:id="rId4"/>
              </a:rPr>
              <a:t>https://doi.org/10.1109/ACCESS.2024.3507386</a:t>
            </a:r>
            <a:endParaRPr sz="1900">
              <a:latin typeface="Times New Roman" panose="02020603050405020304" charset="0"/>
              <a:ea typeface="Times New Roman" panose="02020603050405020304"/>
              <a:cs typeface="Times New Roman" panose="02020603050405020304" charset="0"/>
              <a:sym typeface="Times New Roman" panose="02020603050405020304"/>
            </a:endParaRPr>
          </a:p>
          <a:p>
            <a:pPr marL="355600" marR="0" lvl="0" indent="0" algn="just" rtl="0">
              <a:lnSpc>
                <a:spcPct val="107000"/>
              </a:lnSpc>
              <a:spcBef>
                <a:spcPts val="0"/>
              </a:spcBef>
              <a:spcAft>
                <a:spcPts val="0"/>
              </a:spcAft>
              <a:buNone/>
            </a:pPr>
            <a:endParaRPr sz="1600">
              <a:latin typeface="Times New Roman" panose="02020603050405020304"/>
              <a:ea typeface="Times New Roman" panose="02020603050405020304"/>
              <a:cs typeface="Times New Roman" panose="02020603050405020304"/>
              <a:sym typeface="Times New Roman" panose="02020603050405020304"/>
            </a:endParaRPr>
          </a:p>
          <a:p>
            <a:pPr marL="355600" marR="0" lvl="0" indent="0" algn="just" rtl="0">
              <a:lnSpc>
                <a:spcPct val="107000"/>
              </a:lnSpc>
              <a:spcBef>
                <a:spcPts val="0"/>
              </a:spcBef>
              <a:spcAft>
                <a:spcPts val="0"/>
              </a:spcAft>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55600" marR="0" lvl="0" indent="0" algn="just" rtl="0">
              <a:lnSpc>
                <a:spcPct val="107000"/>
              </a:lnSpc>
              <a:spcBef>
                <a:spcPts val="0"/>
              </a:spcBef>
              <a:spcAft>
                <a:spcPts val="0"/>
              </a:spcAft>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50"/>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References</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64" name="Google Shape;364;p50"/>
          <p:cNvSpPr txBox="1"/>
          <p:nvPr/>
        </p:nvSpPr>
        <p:spPr>
          <a:xfrm>
            <a:off x="231140" y="525780"/>
            <a:ext cx="8470265" cy="4319905"/>
          </a:xfrm>
          <a:prstGeom prst="rect">
            <a:avLst/>
          </a:prstGeom>
          <a:noFill/>
          <a:ln>
            <a:noFill/>
          </a:ln>
        </p:spPr>
        <p:txBody>
          <a:bodyPr spcFirstLastPara="1" wrap="square" lIns="91425" tIns="45700" rIns="91425" bIns="45700" anchor="t" anchorCtr="0">
            <a:noAutofit/>
          </a:bodyPr>
          <a:lstStyle/>
          <a:p>
            <a:pPr marL="355600" marR="0" lvl="0" indent="0" algn="just" rtl="0">
              <a:lnSpc>
                <a:spcPct val="107000"/>
              </a:lnSpc>
              <a:spcBef>
                <a:spcPts val="0"/>
              </a:spcBef>
              <a:spcAft>
                <a:spcPts val="0"/>
              </a:spcAft>
              <a:buNone/>
            </a:pPr>
            <a:r>
              <a:rPr lang="en-US" sz="19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[5] </a:t>
            </a:r>
            <a:r>
              <a:rPr lang="en-US" sz="1900">
                <a:solidFill>
                  <a:schemeClr val="dk1"/>
                </a:solidFill>
                <a:latin typeface="Times New Roman" panose="02020603050405020304"/>
                <a:ea typeface="Times New Roman" panose="02020603050405020304"/>
                <a:cs typeface="Times New Roman" panose="02020603050405020304"/>
                <a:sym typeface="Times New Roman" panose="02020603050405020304"/>
              </a:rPr>
              <a:t>S. Li, Y. Chen, and Z. Wang, “A hybrid machine learning framework for detecting stealthy cyber attacks,” IEEE Access, vol. 12, pp. 45678–45690, 2024.</a:t>
            </a:r>
            <a:endParaRPr sz="19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55600" marR="0" lvl="0" indent="0" algn="just" rtl="0">
              <a:lnSpc>
                <a:spcPct val="107000"/>
              </a:lnSpc>
              <a:spcBef>
                <a:spcPts val="0"/>
              </a:spcBef>
              <a:spcAft>
                <a:spcPts val="0"/>
              </a:spcAft>
              <a:buNone/>
            </a:pPr>
            <a:r>
              <a:rPr lang="en-US" sz="1900" u="sng">
                <a:solidFill>
                  <a:schemeClr val="hlink"/>
                </a:solidFill>
                <a:latin typeface="Times New Roman" panose="02020603050405020304"/>
                <a:ea typeface="Times New Roman" panose="02020603050405020304"/>
                <a:cs typeface="Times New Roman" panose="02020603050405020304"/>
                <a:sym typeface="Times New Roman" panose="02020603050405020304"/>
                <a:hlinkClick r:id="rId1"/>
              </a:rPr>
              <a:t>https://ieeexplore.ieee.org/document/10411892</a:t>
            </a:r>
            <a:endParaRPr sz="19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55600" marR="0" lvl="0" indent="0" algn="just" rtl="0">
              <a:lnSpc>
                <a:spcPct val="107000"/>
              </a:lnSpc>
              <a:spcBef>
                <a:spcPts val="0"/>
              </a:spcBef>
              <a:spcAft>
                <a:spcPts val="0"/>
              </a:spcAft>
              <a:buNone/>
            </a:pPr>
            <a:r>
              <a:rPr lang="en-US" sz="19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[6] </a:t>
            </a:r>
            <a:r>
              <a:rPr lang="en-US" sz="1900">
                <a:solidFill>
                  <a:schemeClr val="dk1"/>
                </a:solidFill>
                <a:latin typeface="Times New Roman" panose="02020603050405020304"/>
                <a:ea typeface="Times New Roman" panose="02020603050405020304"/>
                <a:cs typeface="Times New Roman" panose="02020603050405020304"/>
                <a:sym typeface="Times New Roman" panose="02020603050405020304"/>
              </a:rPr>
              <a:t>H. Zhang, Y. Liu, and X. Zhou, “Attack chain reconstruction using log correlation and temporal analysis,” IEEE Access, vol. 12, pp. 23411–23425, 2024.</a:t>
            </a:r>
            <a:endParaRPr sz="19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55600" marR="0" lvl="0" indent="0" algn="just" rtl="0">
              <a:lnSpc>
                <a:spcPct val="107000"/>
              </a:lnSpc>
              <a:spcBef>
                <a:spcPts val="0"/>
              </a:spcBef>
              <a:spcAft>
                <a:spcPts val="0"/>
              </a:spcAft>
              <a:buNone/>
            </a:pPr>
            <a:r>
              <a:rPr lang="en-US" sz="1900" u="sng">
                <a:solidFill>
                  <a:schemeClr val="hlink"/>
                </a:solidFill>
                <a:latin typeface="Times New Roman" panose="02020603050405020304"/>
                <a:ea typeface="Times New Roman" panose="02020603050405020304"/>
                <a:cs typeface="Times New Roman" panose="02020603050405020304"/>
                <a:sym typeface="Times New Roman" panose="02020603050405020304"/>
                <a:hlinkClick r:id="rId2"/>
              </a:rPr>
              <a:t>https://ieeexplore.ieee.org/document/10355621</a:t>
            </a:r>
            <a:endParaRPr sz="19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55600" marR="0" lvl="0" indent="0" algn="just" rtl="0">
              <a:lnSpc>
                <a:spcPct val="107000"/>
              </a:lnSpc>
              <a:spcBef>
                <a:spcPts val="0"/>
              </a:spcBef>
              <a:spcAft>
                <a:spcPts val="0"/>
              </a:spcAft>
              <a:buNone/>
            </a:pPr>
            <a:r>
              <a:rPr lang="en-US" sz="19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[7]</a:t>
            </a:r>
            <a:r>
              <a:rPr lang="en-US" sz="19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1900">
                <a:solidFill>
                  <a:schemeClr val="dk1"/>
                </a:solidFill>
                <a:latin typeface="Times New Roman" panose="02020603050405020304"/>
                <a:ea typeface="Times New Roman" panose="02020603050405020304"/>
                <a:cs typeface="Times New Roman" panose="02020603050405020304"/>
                <a:sym typeface="Times New Roman" panose="02020603050405020304"/>
              </a:rPr>
              <a:t> R. Chen, Q. Li, and M. Zhao, “Machine learning-based detection of advanced cyber attacks using system logs,” IEEE Access, vol. 12, pp. 67891–67905, 2024.</a:t>
            </a:r>
            <a:endParaRPr sz="19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55600" marR="0" lvl="0" indent="0" algn="just" rtl="0">
              <a:lnSpc>
                <a:spcPct val="107000"/>
              </a:lnSpc>
              <a:spcBef>
                <a:spcPts val="0"/>
              </a:spcBef>
              <a:spcAft>
                <a:spcPts val="0"/>
              </a:spcAft>
              <a:buNone/>
            </a:pPr>
            <a:r>
              <a:rPr lang="en-US" sz="1900" u="sng">
                <a:solidFill>
                  <a:schemeClr val="hlink"/>
                </a:solidFill>
                <a:latin typeface="Times New Roman" panose="02020603050405020304"/>
                <a:ea typeface="Times New Roman" panose="02020603050405020304"/>
                <a:cs typeface="Times New Roman" panose="02020603050405020304"/>
                <a:sym typeface="Times New Roman" panose="02020603050405020304"/>
                <a:hlinkClick r:id="rId3"/>
              </a:rPr>
              <a:t>https://ieeexplore.ieee.org/document/10428766</a:t>
            </a:r>
            <a:endParaRPr sz="19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55600" marR="0" lvl="0" indent="0" algn="just" rtl="0">
              <a:lnSpc>
                <a:spcPct val="107000"/>
              </a:lnSpc>
              <a:spcBef>
                <a:spcPts val="0"/>
              </a:spcBef>
              <a:spcAft>
                <a:spcPts val="0"/>
              </a:spcAft>
              <a:buNone/>
            </a:pPr>
            <a:r>
              <a:rPr lang="en-US" sz="19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[8]  </a:t>
            </a:r>
            <a:r>
              <a:rPr lang="en-US" sz="1900">
                <a:latin typeface="Times New Roman" panose="02020603050405020304"/>
                <a:ea typeface="Times New Roman" panose="02020603050405020304"/>
                <a:cs typeface="Times New Roman" panose="02020603050405020304"/>
                <a:sym typeface="Times New Roman" panose="02020603050405020304"/>
              </a:rPr>
              <a:t>T. Nguyen, P. Tran, and H. Kim, “Detecting lateral movement in enterprise networks using machine learning,” IEEE Access, vol. 11, pp. 88921–88935, 2023.</a:t>
            </a:r>
            <a:endParaRPr sz="1900">
              <a:latin typeface="Times New Roman" panose="02020603050405020304"/>
              <a:ea typeface="Times New Roman" panose="02020603050405020304"/>
              <a:cs typeface="Times New Roman" panose="02020603050405020304"/>
              <a:sym typeface="Times New Roman" panose="02020603050405020304"/>
            </a:endParaRPr>
          </a:p>
          <a:p>
            <a:pPr marL="355600" marR="0" lvl="0" indent="0" algn="just" rtl="0">
              <a:lnSpc>
                <a:spcPct val="107000"/>
              </a:lnSpc>
              <a:spcBef>
                <a:spcPts val="0"/>
              </a:spcBef>
              <a:spcAft>
                <a:spcPts val="0"/>
              </a:spcAft>
              <a:buNone/>
            </a:pPr>
            <a:r>
              <a:rPr lang="en-US" sz="1900" u="sng">
                <a:solidFill>
                  <a:schemeClr val="hlink"/>
                </a:solidFill>
                <a:latin typeface="Times New Roman" panose="02020603050405020304"/>
                <a:ea typeface="Times New Roman" panose="02020603050405020304"/>
                <a:cs typeface="Times New Roman" panose="02020603050405020304"/>
                <a:sym typeface="Times New Roman" panose="02020603050405020304"/>
                <a:hlinkClick r:id="rId4"/>
              </a:rPr>
              <a:t>https://ieeexplore.ieee.org/document/10100218</a:t>
            </a:r>
            <a:endParaRPr sz="1900">
              <a:latin typeface="Times New Roman" panose="02020603050405020304"/>
              <a:ea typeface="Times New Roman" panose="02020603050405020304"/>
              <a:cs typeface="Times New Roman" panose="02020603050405020304"/>
              <a:sym typeface="Times New Roman" panose="02020603050405020304"/>
            </a:endParaRPr>
          </a:p>
          <a:p>
            <a:pPr marL="355600" marR="0" lvl="0" indent="0" algn="just" rtl="0">
              <a:lnSpc>
                <a:spcPct val="107000"/>
              </a:lnSpc>
              <a:spcBef>
                <a:spcPts val="0"/>
              </a:spcBef>
              <a:spcAft>
                <a:spcPts val="0"/>
              </a:spcAft>
              <a:buNone/>
            </a:pPr>
            <a:endParaRPr sz="1600">
              <a:latin typeface="Times New Roman" panose="02020603050405020304"/>
              <a:ea typeface="Times New Roman" panose="02020603050405020304"/>
              <a:cs typeface="Times New Roman" panose="02020603050405020304"/>
              <a:sym typeface="Times New Roman" panose="02020603050405020304"/>
            </a:endParaRPr>
          </a:p>
          <a:p>
            <a:pPr marL="355600" marR="0" lvl="0" indent="0" algn="just" rtl="0">
              <a:lnSpc>
                <a:spcPct val="107000"/>
              </a:lnSpc>
              <a:spcBef>
                <a:spcPts val="0"/>
              </a:spcBef>
              <a:spcAft>
                <a:spcPts val="0"/>
              </a:spcAft>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51"/>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References</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70" name="Google Shape;370;p51"/>
          <p:cNvSpPr txBox="1"/>
          <p:nvPr/>
        </p:nvSpPr>
        <p:spPr>
          <a:xfrm>
            <a:off x="-132715" y="643890"/>
            <a:ext cx="9009380" cy="4201795"/>
          </a:xfrm>
          <a:prstGeom prst="rect">
            <a:avLst/>
          </a:prstGeom>
          <a:noFill/>
          <a:ln>
            <a:noFill/>
          </a:ln>
        </p:spPr>
        <p:txBody>
          <a:bodyPr spcFirstLastPara="1" wrap="square" lIns="91425" tIns="45700" rIns="91425" bIns="45700" anchor="t" anchorCtr="0">
            <a:noAutofit/>
          </a:bodyPr>
          <a:lstStyle/>
          <a:p>
            <a:pPr marL="355600" marR="0" lvl="0" indent="0" algn="just" rtl="0">
              <a:lnSpc>
                <a:spcPct val="107000"/>
              </a:lnSpc>
              <a:spcBef>
                <a:spcPts val="0"/>
              </a:spcBef>
              <a:spcAft>
                <a:spcPts val="0"/>
              </a:spcAft>
              <a:buNone/>
            </a:pPr>
            <a:r>
              <a:rPr lang="en-US" sz="19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[9] </a:t>
            </a:r>
            <a:r>
              <a:rPr lang="en-US" sz="1900">
                <a:solidFill>
                  <a:schemeClr val="dk1"/>
                </a:solidFill>
                <a:latin typeface="Times New Roman" panose="02020603050405020304"/>
                <a:ea typeface="Times New Roman" panose="02020603050405020304"/>
                <a:cs typeface="Times New Roman" panose="02020603050405020304"/>
                <a:sym typeface="Times New Roman" panose="02020603050405020304"/>
              </a:rPr>
              <a:t>M. Alshamrani, A. Gumaei, and M. M. Hassan, “An ensemble machine learning approach for detecting persistent cyber attacks,” IEEE Access, vol. 11, pp. 30145–30159, 2023.</a:t>
            </a:r>
            <a:r>
              <a:rPr lang="en-US" sz="1900" u="sng">
                <a:solidFill>
                  <a:schemeClr val="hlink"/>
                </a:solidFill>
                <a:latin typeface="Times New Roman" panose="02020603050405020304"/>
                <a:ea typeface="Times New Roman" panose="02020603050405020304"/>
                <a:cs typeface="Times New Roman" panose="02020603050405020304"/>
                <a:sym typeface="Times New Roman" panose="02020603050405020304"/>
                <a:hlinkClick r:id="rId1"/>
              </a:rPr>
              <a:t>https://ieeexplore.ieee.org/document/10061478</a:t>
            </a:r>
            <a:endParaRPr sz="19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55600" marR="0" lvl="0" indent="0" algn="just" rtl="0">
              <a:lnSpc>
                <a:spcPct val="107000"/>
              </a:lnSpc>
              <a:spcBef>
                <a:spcPts val="0"/>
              </a:spcBef>
              <a:spcAft>
                <a:spcPts val="0"/>
              </a:spcAft>
              <a:buNone/>
            </a:pPr>
            <a:r>
              <a:rPr lang="en-US" sz="19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[10] </a:t>
            </a:r>
            <a:r>
              <a:rPr lang="en-US" sz="1900">
                <a:solidFill>
                  <a:schemeClr val="dk1"/>
                </a:solidFill>
                <a:latin typeface="Times New Roman" panose="02020603050405020304"/>
                <a:ea typeface="Times New Roman" panose="02020603050405020304"/>
                <a:cs typeface="Times New Roman" panose="02020603050405020304"/>
                <a:sym typeface="Times New Roman" panose="02020603050405020304"/>
              </a:rPr>
              <a:t>S. Myneni, K. Griffin, and A. Doupé, “Unraveled: A semi-synthetic dataset for multi-stage advanced persistent threat detection,” Computer Networks, vol. 230, Article 109668, 2023.</a:t>
            </a:r>
            <a:r>
              <a:rPr lang="en-US" sz="1900" u="sng">
                <a:solidFill>
                  <a:schemeClr val="hlink"/>
                </a:solidFill>
                <a:latin typeface="Times New Roman" panose="02020603050405020304"/>
                <a:ea typeface="Times New Roman" panose="02020603050405020304"/>
                <a:cs typeface="Times New Roman" panose="02020603050405020304"/>
                <a:sym typeface="Times New Roman" panose="02020603050405020304"/>
                <a:hlinkClick r:id="rId2"/>
              </a:rPr>
              <a:t>https://doi.org/10.1016/j.comnet.2023.109668</a:t>
            </a:r>
            <a:endParaRPr sz="19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55600" marR="0" lvl="0" indent="0" algn="l" rtl="0">
              <a:lnSpc>
                <a:spcPct val="107000"/>
              </a:lnSpc>
              <a:spcBef>
                <a:spcPts val="0"/>
              </a:spcBef>
              <a:spcAft>
                <a:spcPts val="0"/>
              </a:spcAft>
              <a:buNone/>
            </a:pPr>
            <a:r>
              <a:rPr lang="en-US" sz="19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[11]</a:t>
            </a:r>
            <a:r>
              <a:rPr lang="en-US" sz="19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1900">
                <a:solidFill>
                  <a:schemeClr val="dk1"/>
                </a:solidFill>
                <a:latin typeface="Times New Roman" panose="02020603050405020304"/>
                <a:ea typeface="Times New Roman" panose="02020603050405020304"/>
                <a:cs typeface="Times New Roman" panose="02020603050405020304"/>
                <a:sym typeface="Times New Roman" panose="02020603050405020304"/>
              </a:rPr>
              <a:t>M. Al-Hawawreh, E. Sitnikova, and N. Aboutorab, “A deep learning framework for detecting advanced persistent threats in industrial IoT,” IEEE Internet of Things Journal, vol. 10, no. 15, pp. 13492–13505, 2023.</a:t>
            </a:r>
            <a:r>
              <a:rPr lang="en-US" sz="1900" u="sng">
                <a:solidFill>
                  <a:schemeClr val="hlink"/>
                </a:solidFill>
                <a:latin typeface="Times New Roman" panose="02020603050405020304"/>
                <a:ea typeface="Times New Roman" panose="02020603050405020304"/>
                <a:cs typeface="Times New Roman" panose="02020603050405020304"/>
                <a:sym typeface="Times New Roman" panose="02020603050405020304"/>
                <a:hlinkClick r:id="rId3"/>
              </a:rPr>
              <a:t>https://ieeexplore.ieee.org/document/10211859</a:t>
            </a:r>
            <a:endParaRPr sz="19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55600" marR="0" lvl="0" indent="0" algn="just" rtl="0">
              <a:lnSpc>
                <a:spcPct val="107000"/>
              </a:lnSpc>
              <a:spcBef>
                <a:spcPts val="0"/>
              </a:spcBef>
              <a:spcAft>
                <a:spcPts val="0"/>
              </a:spcAft>
              <a:buNone/>
            </a:pPr>
            <a:r>
              <a:rPr lang="en-US" sz="19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[12] </a:t>
            </a:r>
            <a:r>
              <a:rPr lang="en-US" sz="1900">
                <a:solidFill>
                  <a:schemeClr val="dk1"/>
                </a:solidFill>
                <a:latin typeface="Times New Roman" panose="02020603050405020304"/>
                <a:ea typeface="Times New Roman" panose="02020603050405020304"/>
                <a:cs typeface="Times New Roman" panose="02020603050405020304"/>
                <a:sym typeface="Times New Roman" panose="02020603050405020304"/>
              </a:rPr>
              <a:t>K. Imran, A. Ahmed, and S. Khan, “Machine learning-based intrusion detection for advanced persistent threats in industrial networks,” IEEE Access, vol. 11, pp. 51762–51776, 2023.</a:t>
            </a:r>
            <a:r>
              <a:rPr lang="en-US" sz="1900" u="sng">
                <a:solidFill>
                  <a:schemeClr val="hlink"/>
                </a:solidFill>
                <a:latin typeface="Times New Roman" panose="02020603050405020304"/>
                <a:ea typeface="Times New Roman" panose="02020603050405020304"/>
                <a:cs typeface="Times New Roman" panose="02020603050405020304"/>
                <a:sym typeface="Times New Roman" panose="02020603050405020304"/>
                <a:hlinkClick r:id="rId4"/>
              </a:rPr>
              <a:t>https://ieeexplore.ieee.org/document/10198544</a:t>
            </a:r>
            <a:endParaRPr sz="19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55600" marR="0" lvl="0" indent="0" algn="just" rtl="0">
              <a:lnSpc>
                <a:spcPct val="107000"/>
              </a:lnSpc>
              <a:spcBef>
                <a:spcPts val="0"/>
              </a:spcBef>
              <a:spcAft>
                <a:spcPts val="0"/>
              </a:spcAft>
              <a:buNone/>
            </a:pPr>
            <a:endParaRPr sz="19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55600" marR="0" lvl="0" indent="0" algn="just" rtl="0">
              <a:lnSpc>
                <a:spcPct val="107000"/>
              </a:lnSpc>
              <a:spcBef>
                <a:spcPts val="0"/>
              </a:spcBef>
              <a:spcAft>
                <a:spcPts val="0"/>
              </a:spcAft>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55600" marR="0" lvl="0" indent="0" algn="just" rtl="0">
              <a:lnSpc>
                <a:spcPct val="107000"/>
              </a:lnSpc>
              <a:spcBef>
                <a:spcPts val="0"/>
              </a:spcBef>
              <a:spcAft>
                <a:spcPts val="0"/>
              </a:spcAft>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55600" marR="0" lvl="0" indent="0" algn="just" rtl="0">
              <a:lnSpc>
                <a:spcPct val="107000"/>
              </a:lnSpc>
              <a:spcBef>
                <a:spcPts val="0"/>
              </a:spcBef>
              <a:spcAft>
                <a:spcPts val="0"/>
              </a:spcAft>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52"/>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References</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76" name="Google Shape;376;p52"/>
          <p:cNvSpPr txBox="1"/>
          <p:nvPr/>
        </p:nvSpPr>
        <p:spPr>
          <a:xfrm>
            <a:off x="231140" y="643890"/>
            <a:ext cx="8470265" cy="4201795"/>
          </a:xfrm>
          <a:prstGeom prst="rect">
            <a:avLst/>
          </a:prstGeom>
          <a:noFill/>
          <a:ln>
            <a:noFill/>
          </a:ln>
        </p:spPr>
        <p:txBody>
          <a:bodyPr spcFirstLastPara="1" wrap="square" lIns="91425" tIns="45700" rIns="91425" bIns="45700" anchor="t" anchorCtr="0">
            <a:noAutofit/>
          </a:bodyPr>
          <a:lstStyle/>
          <a:p>
            <a:pPr marL="355600" marR="0" lvl="0" indent="0" algn="l" rtl="0">
              <a:lnSpc>
                <a:spcPct val="107000"/>
              </a:lnSpc>
              <a:spcBef>
                <a:spcPts val="0"/>
              </a:spcBef>
              <a:spcAft>
                <a:spcPts val="0"/>
              </a:spcAft>
              <a:buNone/>
            </a:pPr>
            <a:r>
              <a:rPr lang="en-US" sz="1900" b="1" i="0"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[13] </a:t>
            </a:r>
            <a:r>
              <a:rPr lang="en-US" sz="190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M. Mohamed, A. Alenezi, and R. Alabdulatif, “Leveraging CPU utilization metrics and zero-trust architecture for advanced persistent threat detection,” in Proc. IEEE AESPC, 2023, pp.1–6.</a:t>
            </a:r>
            <a:r>
              <a:rPr lang="en-US" sz="1900" u="sng">
                <a:solidFill>
                  <a:schemeClr val="hlink"/>
                </a:solidFill>
                <a:latin typeface="Times New Roman" panose="02020603050405020304" charset="0"/>
                <a:ea typeface="Times New Roman" panose="02020603050405020304"/>
                <a:cs typeface="Times New Roman" panose="02020603050405020304" charset="0"/>
                <a:sym typeface="Times New Roman" panose="02020603050405020304"/>
                <a:hlinkClick r:id="rId1"/>
              </a:rPr>
              <a:t>https://ieeexplore.ieee.org/document/10111241</a:t>
            </a:r>
            <a:endParaRPr sz="1900" b="0" i="0" u="none" strike="noStrike" cap="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55600" marR="0" lvl="0" indent="0" algn="l" rtl="0">
              <a:lnSpc>
                <a:spcPct val="107000"/>
              </a:lnSpc>
              <a:spcBef>
                <a:spcPts val="0"/>
              </a:spcBef>
              <a:spcAft>
                <a:spcPts val="0"/>
              </a:spcAft>
              <a:buNone/>
            </a:pPr>
            <a:r>
              <a:rPr lang="en-US" sz="1900" b="1" i="0"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[14] </a:t>
            </a:r>
            <a:r>
              <a:rPr lang="en-US" sz="190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L. Wang, J. Xu, and K. Li, “Machine learning-driven intrusion detection for persistent threats in industrial control systems,” IEEE Access, vol. 12, pp. 78910–78924, 2024.</a:t>
            </a:r>
            <a:r>
              <a:rPr lang="en-US" sz="1900" u="sng">
                <a:solidFill>
                  <a:schemeClr val="hlink"/>
                </a:solidFill>
                <a:latin typeface="Times New Roman" panose="02020603050405020304" charset="0"/>
                <a:ea typeface="Times New Roman" panose="02020603050405020304"/>
                <a:cs typeface="Times New Roman" panose="02020603050405020304" charset="0"/>
                <a:sym typeface="Times New Roman" panose="02020603050405020304"/>
                <a:hlinkClick r:id="rId2"/>
              </a:rPr>
              <a:t>https://ieeexplore.ieee.org/document/10503291</a:t>
            </a:r>
            <a:endParaRPr sz="190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355600" marR="0" lvl="0" indent="0" algn="l" rtl="0">
              <a:lnSpc>
                <a:spcPct val="107000"/>
              </a:lnSpc>
              <a:spcBef>
                <a:spcPts val="0"/>
              </a:spcBef>
              <a:spcAft>
                <a:spcPts val="0"/>
              </a:spcAft>
              <a:buNone/>
            </a:pPr>
            <a:r>
              <a:rPr lang="en-US" sz="1900" b="1" i="0"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[15] </a:t>
            </a:r>
            <a:r>
              <a:rPr lang="en-US" sz="190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A. Shameli-Sendi, M. Cheriet, and M. Dagenais, “Anomaly-based intrusion detection for persistent attacks in enterprise networks,” IEEE Transactions on Network and Service Management, vol. 20, no. 3, pp. 2671–2684, 2023.</a:t>
            </a:r>
            <a:endParaRPr sz="190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355600" marR="0" lvl="0" indent="0" algn="l" rtl="0">
              <a:lnSpc>
                <a:spcPct val="107000"/>
              </a:lnSpc>
              <a:spcBef>
                <a:spcPts val="0"/>
              </a:spcBef>
              <a:spcAft>
                <a:spcPts val="0"/>
              </a:spcAft>
              <a:buNone/>
            </a:pPr>
            <a:r>
              <a:rPr lang="en-US" sz="1900" u="sng">
                <a:solidFill>
                  <a:schemeClr val="hlink"/>
                </a:solidFill>
                <a:latin typeface="Times New Roman" panose="02020603050405020304" charset="0"/>
                <a:ea typeface="Times New Roman" panose="02020603050405020304"/>
                <a:cs typeface="Times New Roman" panose="02020603050405020304" charset="0"/>
                <a:sym typeface="Times New Roman" panose="02020603050405020304"/>
                <a:hlinkClick r:id="rId3"/>
              </a:rPr>
              <a:t>https://ieeexplore.ieee.org/document/10123384</a:t>
            </a:r>
            <a:endParaRPr sz="1900" b="1" i="0"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355600" marR="0" lvl="0" indent="0" algn="l" rtl="0">
              <a:lnSpc>
                <a:spcPct val="107000"/>
              </a:lnSpc>
              <a:spcBef>
                <a:spcPts val="0"/>
              </a:spcBef>
              <a:spcAft>
                <a:spcPts val="0"/>
              </a:spcAft>
              <a:buNone/>
            </a:pPr>
            <a:r>
              <a:rPr lang="en-US" sz="1900" b="1" i="0"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[16] </a:t>
            </a:r>
            <a:r>
              <a:rPr lang="en-US" sz="1900">
                <a:latin typeface="Times New Roman" panose="02020603050405020304" charset="0"/>
                <a:ea typeface="Times New Roman" panose="02020603050405020304"/>
                <a:cs typeface="Times New Roman" panose="02020603050405020304" charset="0"/>
                <a:sym typeface="Times New Roman" panose="02020603050405020304"/>
              </a:rPr>
              <a:t>S. Khan, A. Rehman, and M. A. Alzain, “Detection of advanced persistent threats using machine learning-based behavioral analysis,” IEEE Access, vol. 11, pp. 73421–73436, 2023.</a:t>
            </a:r>
            <a:r>
              <a:rPr lang="en-US" sz="1900" u="sng">
                <a:solidFill>
                  <a:schemeClr val="hlink"/>
                </a:solidFill>
                <a:latin typeface="Times New Roman" panose="02020603050405020304" charset="0"/>
                <a:ea typeface="Times New Roman" panose="02020603050405020304"/>
                <a:cs typeface="Times New Roman" panose="02020603050405020304" charset="0"/>
                <a:sym typeface="Times New Roman" panose="02020603050405020304"/>
                <a:hlinkClick r:id="rId4"/>
              </a:rPr>
              <a:t>https://ieeexplore.ieee.org/document/10145627</a:t>
            </a:r>
            <a:endParaRPr sz="1900">
              <a:latin typeface="Times New Roman" panose="02020603050405020304" charset="0"/>
              <a:ea typeface="Times New Roman" panose="02020603050405020304"/>
              <a:cs typeface="Times New Roman" panose="02020603050405020304" charset="0"/>
              <a:sym typeface="Times New Roman" panose="02020603050405020304"/>
            </a:endParaRPr>
          </a:p>
          <a:p>
            <a:pPr marL="355600" marR="0" lvl="0" indent="0" algn="l" rtl="0">
              <a:lnSpc>
                <a:spcPct val="107000"/>
              </a:lnSpc>
              <a:spcBef>
                <a:spcPts val="0"/>
              </a:spcBef>
              <a:spcAft>
                <a:spcPts val="0"/>
              </a:spcAft>
              <a:buNone/>
            </a:pPr>
            <a:endParaRPr sz="1900">
              <a:latin typeface="Times New Roman" panose="02020603050405020304" charset="0"/>
              <a:ea typeface="Times New Roman" panose="02020603050405020304"/>
              <a:cs typeface="Times New Roman" panose="02020603050405020304" charset="0"/>
              <a:sym typeface="Times New Roman" panose="02020603050405020304"/>
            </a:endParaRPr>
          </a:p>
          <a:p>
            <a:pPr marL="355600" marR="0" lvl="0" indent="0" algn="l" rtl="0">
              <a:lnSpc>
                <a:spcPct val="107000"/>
              </a:lnSpc>
              <a:spcBef>
                <a:spcPts val="0"/>
              </a:spcBef>
              <a:spcAft>
                <a:spcPts val="0"/>
              </a:spcAft>
              <a:buNone/>
            </a:pPr>
            <a:endParaRPr sz="1900" b="0" i="0" u="none" strike="noStrike" cap="none">
              <a:solidFill>
                <a:srgbClr val="000000"/>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355600" marR="0" lvl="0" indent="0" algn="l" rtl="0">
              <a:lnSpc>
                <a:spcPct val="107000"/>
              </a:lnSpc>
              <a:spcBef>
                <a:spcPts val="0"/>
              </a:spcBef>
              <a:spcAft>
                <a:spcPts val="0"/>
              </a:spcAft>
              <a:buNone/>
            </a:pPr>
            <a:endParaRPr sz="1900" b="0" i="0" u="none" strike="noStrike" cap="none">
              <a:solidFill>
                <a:srgbClr val="000000"/>
              </a:solidFill>
              <a:latin typeface="Times New Roman" panose="02020603050405020304" charset="0"/>
              <a:ea typeface="Times New Roman" panose="02020603050405020304"/>
              <a:cs typeface="Times New Roman" panose="02020603050405020304" charset="0"/>
              <a:sym typeface="Times New Roman" panose="02020603050405020304"/>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53"/>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References</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82" name="Google Shape;382;p53"/>
          <p:cNvSpPr txBox="1"/>
          <p:nvPr/>
        </p:nvSpPr>
        <p:spPr>
          <a:xfrm>
            <a:off x="231140" y="643890"/>
            <a:ext cx="8470265" cy="4201795"/>
          </a:xfrm>
          <a:prstGeom prst="rect">
            <a:avLst/>
          </a:prstGeom>
          <a:noFill/>
          <a:ln>
            <a:noFill/>
          </a:ln>
        </p:spPr>
        <p:txBody>
          <a:bodyPr spcFirstLastPara="1" wrap="square" lIns="91425" tIns="45700" rIns="91425" bIns="45700" anchor="t" anchorCtr="0">
            <a:noAutofit/>
          </a:bodyPr>
          <a:lstStyle/>
          <a:p>
            <a:pPr marL="355600" marR="0" lvl="0" indent="0" algn="just" rtl="0">
              <a:lnSpc>
                <a:spcPct val="107000"/>
              </a:lnSpc>
              <a:spcBef>
                <a:spcPts val="0"/>
              </a:spcBef>
              <a:spcAft>
                <a:spcPts val="0"/>
              </a:spcAft>
              <a:buNone/>
            </a:pPr>
            <a:r>
              <a:rPr lang="en-US" sz="1900" b="1" i="0"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[17]</a:t>
            </a:r>
            <a:r>
              <a:rPr lang="en-US" sz="1900">
                <a:solidFill>
                  <a:schemeClr val="dk1"/>
                </a:solidFill>
                <a:latin typeface="Times New Roman" panose="02020603050405020304" charset="0"/>
                <a:cs typeface="Times New Roman" panose="02020603050405020304" charset="0"/>
              </a:rPr>
              <a:t> </a:t>
            </a:r>
            <a:r>
              <a:rPr lang="en-US" sz="190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H. Liu, J. Wang, and Z. Chen, “Attack chain reconstruction for persistent cyber threats using system logs,” IEEE Access, vol. 12, pp. 112340–112355, 2024.</a:t>
            </a:r>
            <a:r>
              <a:rPr lang="en-US" sz="1900" u="sng">
                <a:solidFill>
                  <a:schemeClr val="hlink"/>
                </a:solidFill>
                <a:latin typeface="Times New Roman" panose="02020603050405020304" charset="0"/>
                <a:ea typeface="Times New Roman" panose="02020603050405020304"/>
                <a:cs typeface="Times New Roman" panose="02020603050405020304" charset="0"/>
                <a:sym typeface="Times New Roman" panose="02020603050405020304"/>
                <a:hlinkClick r:id="rId1"/>
              </a:rPr>
              <a:t>https://ieeexplore.ieee.org/document/10374218</a:t>
            </a:r>
            <a:endParaRPr sz="1900" b="0" i="0" u="none" strike="noStrike" cap="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55600" marR="0" lvl="0" indent="0" algn="just" rtl="0">
              <a:lnSpc>
                <a:spcPct val="107000"/>
              </a:lnSpc>
              <a:spcBef>
                <a:spcPts val="0"/>
              </a:spcBef>
              <a:spcAft>
                <a:spcPts val="0"/>
              </a:spcAft>
              <a:buNone/>
            </a:pPr>
            <a:r>
              <a:rPr lang="en-US" sz="1900" b="1" i="0"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[18]  </a:t>
            </a:r>
            <a:r>
              <a:rPr lang="en-US" sz="1900" i="0"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W. Cheng, A. Bates, and D. Tian, “Provenance-based intrusion detection and multi-step attack reasoning,” in Proc. IEEE Security and Privacy Workshops, 2023, pp. 45–52.</a:t>
            </a:r>
            <a:r>
              <a:rPr lang="en-US" sz="1900" i="0" u="sng" strike="noStrike" cap="none">
                <a:solidFill>
                  <a:schemeClr val="hlink"/>
                </a:solidFill>
                <a:latin typeface="Times New Roman" panose="02020603050405020304" charset="0"/>
                <a:ea typeface="Times New Roman" panose="02020603050405020304"/>
                <a:cs typeface="Times New Roman" panose="02020603050405020304" charset="0"/>
                <a:sym typeface="Times New Roman" panose="02020603050405020304"/>
                <a:hlinkClick r:id="rId2"/>
              </a:rPr>
              <a:t>https://ieeexplore.ieee.org/document/10188761</a:t>
            </a:r>
            <a:endParaRPr sz="1900" b="0" i="0" u="none" strike="noStrike" cap="none">
              <a:solidFill>
                <a:schemeClr val="accent5"/>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355600" marR="0" lvl="0" indent="0" algn="l" rtl="0">
              <a:lnSpc>
                <a:spcPct val="107000"/>
              </a:lnSpc>
              <a:spcBef>
                <a:spcPts val="0"/>
              </a:spcBef>
              <a:spcAft>
                <a:spcPts val="0"/>
              </a:spcAft>
              <a:buNone/>
            </a:pPr>
            <a:r>
              <a:rPr lang="en-US" sz="1900" b="1" i="0"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[19]  </a:t>
            </a:r>
            <a:r>
              <a:rPr lang="en-US" sz="1900" b="0" i="0"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 </a:t>
            </a:r>
            <a:r>
              <a:rPr lang="en-US" sz="190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A. Al-Qahtani, M. Alshamrani, and S. Nazir, “A survey of advanced persistent threat detection techniques,” IEEE Communications Surveys &amp; Tutorials, vol. 25, no. 3, pp. 1894–1922, 2023.</a:t>
            </a:r>
            <a:r>
              <a:rPr lang="en-US" sz="1900" u="sng">
                <a:solidFill>
                  <a:schemeClr val="hlink"/>
                </a:solidFill>
                <a:latin typeface="Times New Roman" panose="02020603050405020304" charset="0"/>
                <a:ea typeface="Times New Roman" panose="02020603050405020304"/>
                <a:cs typeface="Times New Roman" panose="02020603050405020304" charset="0"/>
                <a:sym typeface="Times New Roman" panose="02020603050405020304"/>
                <a:hlinkClick r:id="rId3"/>
              </a:rPr>
              <a:t>https://ieeexplore.ieee.org/document/10045198</a:t>
            </a:r>
            <a:endParaRPr sz="1900" b="1" i="0"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355600" marR="0" lvl="0" indent="0" algn="just" rtl="0">
              <a:lnSpc>
                <a:spcPct val="107000"/>
              </a:lnSpc>
              <a:spcBef>
                <a:spcPts val="0"/>
              </a:spcBef>
              <a:spcAft>
                <a:spcPts val="0"/>
              </a:spcAft>
              <a:buNone/>
            </a:pPr>
            <a:r>
              <a:rPr lang="en-US" sz="1900" b="1" i="0"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[20] </a:t>
            </a:r>
            <a:r>
              <a:rPr lang="en-US" sz="1900">
                <a:latin typeface="Times New Roman" panose="02020603050405020304" charset="0"/>
                <a:ea typeface="Times New Roman" panose="02020603050405020304"/>
                <a:cs typeface="Times New Roman" panose="02020603050405020304" charset="0"/>
                <a:sym typeface="Times New Roman" panose="02020603050405020304"/>
              </a:rPr>
              <a:t>A. Gumaei, M. M. Hassan, and G. Fortino, “A survey on machine learning techniques for advanced persistent threat detection,” IEEE Access, vol. 11, pp. 42015–42035, 2023.</a:t>
            </a:r>
            <a:r>
              <a:rPr lang="en-US" sz="1900" u="sng">
                <a:solidFill>
                  <a:schemeClr val="hlink"/>
                </a:solidFill>
                <a:latin typeface="Times New Roman" panose="02020603050405020304" charset="0"/>
                <a:ea typeface="Times New Roman" panose="02020603050405020304"/>
                <a:cs typeface="Times New Roman" panose="02020603050405020304" charset="0"/>
                <a:sym typeface="Times New Roman" panose="02020603050405020304"/>
                <a:hlinkClick r:id="rId4"/>
              </a:rPr>
              <a:t>https://ieeexplore.ieee.org/document/10078192</a:t>
            </a:r>
            <a:endParaRPr sz="1900">
              <a:latin typeface="Times New Roman" panose="02020603050405020304" charset="0"/>
              <a:ea typeface="Times New Roman" panose="02020603050405020304"/>
              <a:cs typeface="Times New Roman" panose="02020603050405020304" charset="0"/>
              <a:sym typeface="Times New Roman" panose="02020603050405020304"/>
            </a:endParaRPr>
          </a:p>
          <a:p>
            <a:pPr marL="355600" marR="0" lvl="0" indent="0" algn="just" rtl="0">
              <a:lnSpc>
                <a:spcPct val="107000"/>
              </a:lnSpc>
              <a:spcBef>
                <a:spcPts val="0"/>
              </a:spcBef>
              <a:spcAft>
                <a:spcPts val="0"/>
              </a:spcAft>
              <a:buNone/>
            </a:pPr>
            <a:endParaRPr sz="1600">
              <a:latin typeface="Times New Roman" panose="02020603050405020304"/>
              <a:ea typeface="Times New Roman" panose="02020603050405020304"/>
              <a:cs typeface="Times New Roman" panose="02020603050405020304"/>
              <a:sym typeface="Times New Roman" panose="02020603050405020304"/>
            </a:endParaRPr>
          </a:p>
          <a:p>
            <a:pPr marL="355600" marR="0" lvl="0" indent="0" algn="just" rtl="0">
              <a:lnSpc>
                <a:spcPct val="107000"/>
              </a:lnSpc>
              <a:spcBef>
                <a:spcPts val="0"/>
              </a:spcBef>
              <a:spcAft>
                <a:spcPts val="0"/>
              </a:spcAft>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55600" marR="0" lvl="0" indent="0" algn="just" rtl="0">
              <a:lnSpc>
                <a:spcPct val="107000"/>
              </a:lnSpc>
              <a:spcBef>
                <a:spcPts val="0"/>
              </a:spcBef>
              <a:spcAft>
                <a:spcPts val="0"/>
              </a:spcAft>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55600" marR="0" lvl="0" indent="0" algn="just" rtl="0">
              <a:lnSpc>
                <a:spcPct val="107000"/>
              </a:lnSpc>
              <a:spcBef>
                <a:spcPts val="0"/>
              </a:spcBef>
              <a:spcAft>
                <a:spcPts val="0"/>
              </a:spcAft>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g3bac417089d_0_20"/>
          <p:cNvSpPr txBox="1"/>
          <p:nvPr/>
        </p:nvSpPr>
        <p:spPr>
          <a:xfrm>
            <a:off x="0" y="-10679"/>
            <a:ext cx="9144000" cy="79260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References</a:t>
            </a:r>
            <a:endParaRPr lang="en-US" sz="32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88" name="Google Shape;388;g3bac417089d_0_20"/>
          <p:cNvSpPr txBox="1"/>
          <p:nvPr/>
        </p:nvSpPr>
        <p:spPr>
          <a:xfrm>
            <a:off x="231140" y="643890"/>
            <a:ext cx="8470200" cy="4201800"/>
          </a:xfrm>
          <a:prstGeom prst="rect">
            <a:avLst/>
          </a:prstGeom>
          <a:noFill/>
          <a:ln>
            <a:noFill/>
          </a:ln>
        </p:spPr>
        <p:txBody>
          <a:bodyPr spcFirstLastPara="1" wrap="square" lIns="91425" tIns="45700" rIns="91425" bIns="45700" anchor="t" anchorCtr="0">
            <a:noAutofit/>
          </a:bodyPr>
          <a:lstStyle/>
          <a:p>
            <a:pPr marL="355600" marR="0" lvl="0" indent="0" algn="just" rtl="0">
              <a:lnSpc>
                <a:spcPct val="107000"/>
              </a:lnSpc>
              <a:spcBef>
                <a:spcPts val="0"/>
              </a:spcBef>
              <a:spcAft>
                <a:spcPts val="0"/>
              </a:spcAft>
              <a:buNone/>
            </a:pPr>
            <a:r>
              <a:rPr lang="en-US" sz="1900" b="1" i="0"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a:t>
            </a:r>
            <a:r>
              <a:rPr lang="en-US" sz="1900" b="1">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21</a:t>
            </a:r>
            <a:r>
              <a:rPr lang="en-US" sz="1900" b="1" i="0"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a:t>
            </a:r>
            <a:r>
              <a:rPr lang="en-US" sz="1900">
                <a:solidFill>
                  <a:schemeClr val="dk1"/>
                </a:solidFill>
                <a:latin typeface="Times New Roman" panose="02020603050405020304" charset="0"/>
                <a:cs typeface="Times New Roman" panose="02020603050405020304" charset="0"/>
              </a:rPr>
              <a:t> </a:t>
            </a:r>
            <a:r>
              <a:rPr lang="en-US" sz="190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M. Qiao, Y. Feng, and X. Zhou, “RAPID: Robust APT detection and investigation using context-aware deep learning,” Computer Networks, vol. 245, Article 111744, 2025.</a:t>
            </a:r>
            <a:r>
              <a:rPr lang="en-US" sz="1900" u="sng">
                <a:solidFill>
                  <a:schemeClr val="hlink"/>
                </a:solidFill>
                <a:latin typeface="Times New Roman" panose="02020603050405020304" charset="0"/>
                <a:ea typeface="Times New Roman" panose="02020603050405020304"/>
                <a:cs typeface="Times New Roman" panose="02020603050405020304" charset="0"/>
                <a:sym typeface="Times New Roman" panose="02020603050405020304"/>
                <a:hlinkClick r:id="rId1"/>
              </a:rPr>
              <a:t>https://doi.org/10.1016/j.comnet.2025.111744</a:t>
            </a:r>
            <a:endParaRPr sz="190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355600" marR="0" lvl="0" indent="0" algn="just" rtl="0">
              <a:lnSpc>
                <a:spcPct val="107000"/>
              </a:lnSpc>
              <a:spcBef>
                <a:spcPts val="0"/>
              </a:spcBef>
              <a:spcAft>
                <a:spcPts val="0"/>
              </a:spcAft>
              <a:buNone/>
            </a:pPr>
            <a:r>
              <a:rPr lang="en-US" sz="1900" b="1" i="0"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a:t>
            </a:r>
            <a:r>
              <a:rPr lang="en-US" sz="1900" b="1">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22</a:t>
            </a:r>
            <a:r>
              <a:rPr lang="en-US" sz="1900" b="1" i="0"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  </a:t>
            </a:r>
            <a:r>
              <a:rPr lang="en-US" sz="1900" i="0"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F. Nelles, A. Yazdinejad, and T. Jamal, “A federated learning approach for multi-stage threat analysis in advanced persistent threat campaigns,” arXiv preprint, arXiv:2406.05362, 2024.</a:t>
            </a:r>
            <a:r>
              <a:rPr lang="en-US" sz="1900" i="0" u="sng" strike="noStrike" cap="none">
                <a:solidFill>
                  <a:schemeClr val="hlink"/>
                </a:solidFill>
                <a:latin typeface="Times New Roman" panose="02020603050405020304" charset="0"/>
                <a:ea typeface="Times New Roman" panose="02020603050405020304"/>
                <a:cs typeface="Times New Roman" panose="02020603050405020304" charset="0"/>
                <a:sym typeface="Times New Roman" panose="02020603050405020304"/>
                <a:hlinkClick r:id="rId2"/>
              </a:rPr>
              <a:t>https://arxiv.org/abs/2406.05362</a:t>
            </a:r>
            <a:endParaRPr sz="1900" b="0" i="0" u="none" strike="noStrike" cap="none">
              <a:solidFill>
                <a:schemeClr val="accent5"/>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355600" marR="0" lvl="0" indent="0" algn="just" rtl="0">
              <a:lnSpc>
                <a:spcPct val="107000"/>
              </a:lnSpc>
              <a:spcBef>
                <a:spcPts val="0"/>
              </a:spcBef>
              <a:spcAft>
                <a:spcPts val="0"/>
              </a:spcAft>
              <a:buNone/>
            </a:pPr>
            <a:r>
              <a:rPr lang="en-US" sz="1900" b="1" i="0"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a:t>
            </a:r>
            <a:r>
              <a:rPr lang="en-US" sz="1900" b="1">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23</a:t>
            </a:r>
            <a:r>
              <a:rPr lang="en-US" sz="1900" b="1" i="0"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  </a:t>
            </a:r>
            <a:r>
              <a:rPr lang="en-US" sz="1900" b="0" i="0" u="none" strike="noStrike" cap="none">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 </a:t>
            </a:r>
            <a:r>
              <a:rPr lang="en-US" sz="190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rPr>
              <a:t>Y. Nazari, A. Yazdinejad, and M. Dehghantanha, “P3GNN: A privacy-preserving provenance graph-based model for advanced persistent threat detection,” IEEE Access, vol. 12, pp. 56210–56225, 2024.</a:t>
            </a:r>
            <a:endParaRPr sz="190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355600" marR="0" lvl="0" indent="0" algn="just" rtl="0">
              <a:lnSpc>
                <a:spcPct val="107000"/>
              </a:lnSpc>
              <a:spcBef>
                <a:spcPts val="0"/>
              </a:spcBef>
              <a:spcAft>
                <a:spcPts val="0"/>
              </a:spcAft>
              <a:buNone/>
            </a:pPr>
            <a:r>
              <a:rPr lang="en-US" sz="1900" u="sng">
                <a:solidFill>
                  <a:schemeClr val="hlink"/>
                </a:solidFill>
                <a:latin typeface="Times New Roman" panose="02020603050405020304" charset="0"/>
                <a:ea typeface="Times New Roman" panose="02020603050405020304"/>
                <a:cs typeface="Times New Roman" panose="02020603050405020304" charset="0"/>
                <a:sym typeface="Times New Roman" panose="02020603050405020304"/>
                <a:hlinkClick r:id="rId3"/>
              </a:rPr>
              <a:t>https://ieeexplore.ieee.org/document/10428766</a:t>
            </a:r>
            <a:endParaRPr sz="1900">
              <a:solidFill>
                <a:schemeClr val="dk1"/>
              </a:solidFill>
              <a:latin typeface="Times New Roman" panose="02020603050405020304" charset="0"/>
              <a:ea typeface="Times New Roman" panose="02020603050405020304"/>
              <a:cs typeface="Times New Roman" panose="02020603050405020304" charset="0"/>
              <a:sym typeface="Times New Roman" panose="02020603050405020304"/>
            </a:endParaRPr>
          </a:p>
          <a:p>
            <a:pPr marL="0" marR="0" lvl="0" indent="0" algn="just" rtl="0">
              <a:lnSpc>
                <a:spcPct val="107000"/>
              </a:lnSpc>
              <a:spcBef>
                <a:spcPts val="0"/>
              </a:spcBef>
              <a:spcAft>
                <a:spcPts val="0"/>
              </a:spcAft>
              <a:buNone/>
            </a:pPr>
            <a:endParaRPr sz="16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55600" marR="0" lvl="0" indent="0" algn="just" rtl="0">
              <a:lnSpc>
                <a:spcPct val="107000"/>
              </a:lnSpc>
              <a:spcBef>
                <a:spcPts val="0"/>
              </a:spcBef>
              <a:spcAft>
                <a:spcPts val="0"/>
              </a:spcAft>
              <a:buNone/>
            </a:pPr>
            <a:endParaRPr sz="1600">
              <a:latin typeface="Times New Roman" panose="02020603050405020304"/>
              <a:ea typeface="Times New Roman" panose="02020603050405020304"/>
              <a:cs typeface="Times New Roman" panose="02020603050405020304"/>
              <a:sym typeface="Times New Roman" panose="02020603050405020304"/>
            </a:endParaRPr>
          </a:p>
          <a:p>
            <a:pPr marL="355600" marR="0" lvl="0" indent="0" algn="just" rtl="0">
              <a:lnSpc>
                <a:spcPct val="107000"/>
              </a:lnSpc>
              <a:spcBef>
                <a:spcPts val="0"/>
              </a:spcBef>
              <a:spcAft>
                <a:spcPts val="0"/>
              </a:spcAft>
              <a:buNone/>
            </a:pPr>
            <a:endParaRPr sz="1600">
              <a:latin typeface="Times New Roman" panose="02020603050405020304"/>
              <a:ea typeface="Times New Roman" panose="02020603050405020304"/>
              <a:cs typeface="Times New Roman" panose="02020603050405020304"/>
              <a:sym typeface="Times New Roman" panose="02020603050405020304"/>
            </a:endParaRPr>
          </a:p>
          <a:p>
            <a:pPr marL="355600" marR="0" lvl="0" indent="0" algn="just" rtl="0">
              <a:lnSpc>
                <a:spcPct val="107000"/>
              </a:lnSpc>
              <a:spcBef>
                <a:spcPts val="0"/>
              </a:spcBef>
              <a:spcAft>
                <a:spcPts val="0"/>
              </a:spcAft>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55600" marR="0" lvl="0" indent="0" algn="just" rtl="0">
              <a:lnSpc>
                <a:spcPct val="107000"/>
              </a:lnSpc>
              <a:spcBef>
                <a:spcPts val="0"/>
              </a:spcBef>
              <a:spcAft>
                <a:spcPts val="0"/>
              </a:spcAft>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55600" marR="0" lvl="0" indent="0" algn="just" rtl="0">
              <a:lnSpc>
                <a:spcPct val="107000"/>
              </a:lnSpc>
              <a:spcBef>
                <a:spcPts val="0"/>
              </a:spcBef>
              <a:spcAft>
                <a:spcPts val="0"/>
              </a:spcAft>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38705</Words>
  <Application>WPS Presentation</Application>
  <PresentationFormat>On-screen Show (16:9)</PresentationFormat>
  <Paragraphs>443</Paragraphs>
  <Slides>63</Slides>
  <Notes>55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63</vt:i4>
      </vt:variant>
    </vt:vector>
  </HeadingPairs>
  <TitlesOfParts>
    <vt:vector size="72" baseType="lpstr">
      <vt:lpstr>Arial</vt:lpstr>
      <vt:lpstr>SimSun</vt:lpstr>
      <vt:lpstr>Wingdings</vt:lpstr>
      <vt:lpstr>Arial</vt:lpstr>
      <vt:lpstr>Times New Roman</vt:lpstr>
      <vt:lpstr>Microsoft YaHei</vt:lpstr>
      <vt:lpstr>Arial Unicode MS</vt:lpstr>
      <vt:lpstr>Times New Roman</vt:lpstr>
      <vt:lpstr>Simple Light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 Context-Aware Deep Learning Framework for APT Detection</vt:lpstr>
      <vt:lpstr>[2] Ensemble Autoencoder-Based Detection of Persistent Access Threats</vt:lpstr>
      <vt:lpstr>[3] Deep Learning–Based Network Forensic Framework for APT Attribution</vt:lpstr>
      <vt:lpstr>[4] Hybrid Machine Learning Framework for Stealthy Cyber Attack Detection </vt:lpstr>
      <vt:lpstr> [5] Hybrid Machine Learning Framework for Stealthy Attack Detection</vt:lpstr>
      <vt:lpstr>[6] Rule-Based Attack Chain Reconstruction Using Log Correlation</vt:lpstr>
      <vt:lpstr>PowerPoint 演示文稿</vt:lpstr>
      <vt:lpstr>[8] Machine Learning–Based Detection of Advanced Cyber Attacks Using System Logs</vt:lpstr>
      <vt:lpstr>[9] Machine Learning–Based Detection of Lateral Movement in Enterprise Networks</vt:lpstr>
      <vt:lpstr>[10] Ensemble Machine Learning Framework for Persistent Cyber Attack Detection</vt:lpstr>
      <vt:lpstr>[11] Deep Learning–Based APT Detection Framework for Industrial IoT Networks</vt:lpstr>
      <vt:lpstr>[12] Machine Learning–Based Intrusion Detection for APT-Style Attacks in Industrial Networks</vt:lpstr>
      <vt:lpstr>[13] Lightweight APT Detection Using System Performance Metrics</vt:lpstr>
      <vt:lpstr>[14] Semi-Synthetic Dataset Generation Framework for APT Evaluation</vt:lpstr>
      <vt:lpstr>[15] Hybrid Machine Learning–Driven Intrusion Detection for Industrial Control Systems</vt:lpstr>
      <vt:lpstr>[16] Comprehensive Survey on Advanced Persistent Threat Detection Techniques</vt:lpstr>
      <vt:lpstr>[17] Anomaly-Based Intrusion Detection for Persistent Attacks in Enterprise Networks</vt:lpstr>
      <vt:lpstr>[18] Machine Learning–Based Behavioral Analysis for APT Detection</vt:lpstr>
      <vt:lpstr>[19] Rule-Based Attack Chain Reconstruction for Persistent Cyber Threat Analysis</vt:lpstr>
      <vt:lpstr>[20] Provenance-Based Analytical Framework for Multi-Step Attack Reasoning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Class Diagram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dc:creator>
  <cp:lastModifiedBy>Tejaswini Tharala</cp:lastModifiedBy>
  <cp:revision>11</cp:revision>
  <dcterms:created xsi:type="dcterms:W3CDTF">2025-08-05T10:20:00Z</dcterms:created>
  <dcterms:modified xsi:type="dcterms:W3CDTF">2026-01-21T19:58:12Z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D3FA45C1F6B2474A9440B6A566077F16_13</vt:lpwstr>
  </property>
  <property fmtid="{D5CDD505-2E9C-101B-9397-08002B2CF9AE}" pid="3" name="KSOProductBuildVer">
    <vt:lpwstr>1033-12.2.0.23196</vt:lpwstr>
  </property>
</Properties>
</file>